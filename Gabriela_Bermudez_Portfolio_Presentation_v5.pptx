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7" r:id="rId7"/>
    <p:sldId id="261" r:id="rId8"/>
    <p:sldId id="262" r:id="rId9"/>
    <p:sldId id="268" r:id="rId10"/>
    <p:sldId id="263" r:id="rId11"/>
    <p:sldId id="264" r:id="rId12"/>
    <p:sldId id="269" r:id="rId13"/>
    <p:sldId id="265" r:id="rId14"/>
    <p:sldId id="270" r:id="rId21"/>
    <p:sldId id="271" r:id="rId22"/>
    <p:sldId id="266"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7" d="100"/>
          <a:sy n="77" d="100"/>
        </p:scale>
        <p:origin x="68" y="140"/>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7175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st707_corr_matrix.png"/><Relationship Id="rId3" Type="http://schemas.openxmlformats.org/officeDocument/2006/relationships/image" Target="../media/ist707_model_accuracy.png"/></Relationships>
</file>

<file path=ppt/slides/_rels/slide13.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3" Type="http://schemas.openxmlformats.org/officeDocument/2006/relationships/hyperlink" Target="https://yourportfoliosite.com"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933A"/>
          </a:solidFill>
          <a:ln/>
        </p:spPr>
        <p:txBody>
          <a:bodyPr/>
          <a:lstStyle/>
          <a:p>
            <a:endParaRPr lang="en-US"/>
          </a:p>
        </p:txBody>
      </p:sp>
      <p:sp>
        <p:nvSpPr>
          <p:cNvPr id="3" name="Shape 1"/>
          <p:cNvSpPr/>
          <p:nvPr/>
        </p:nvSpPr>
        <p:spPr>
          <a:xfrm>
            <a:off x="7132320" y="-1097280"/>
            <a:ext cx="3657600" cy="3657600"/>
          </a:xfrm>
          <a:prstGeom prst="ellipse">
            <a:avLst/>
          </a:prstGeom>
          <a:solidFill>
            <a:srgbClr val="162844"/>
          </a:solidFill>
          <a:ln w="12700">
            <a:solidFill>
              <a:srgbClr val="162844"/>
            </a:solidFill>
            <a:prstDash val="solid"/>
          </a:ln>
        </p:spPr>
        <p:txBody>
          <a:bodyPr/>
          <a:lstStyle/>
          <a:p>
            <a:endParaRPr lang="en-US"/>
          </a:p>
        </p:txBody>
      </p:sp>
      <p:sp>
        <p:nvSpPr>
          <p:cNvPr id="4" name="Shape 2"/>
          <p:cNvSpPr/>
          <p:nvPr/>
        </p:nvSpPr>
        <p:spPr>
          <a:xfrm>
            <a:off x="7589520" y="-731520"/>
            <a:ext cx="2926080" cy="2926080"/>
          </a:xfrm>
          <a:prstGeom prst="ellipse">
            <a:avLst/>
          </a:prstGeom>
          <a:solidFill>
            <a:srgbClr val="C9933A">
              <a:alpha val="12000"/>
            </a:srgbClr>
          </a:solidFill>
          <a:ln w="12700">
            <a:solidFill>
              <a:srgbClr val="C9933A">
                <a:alpha val="30000"/>
              </a:srgbClr>
            </a:solidFill>
            <a:prstDash val="solid"/>
          </a:ln>
        </p:spPr>
        <p:txBody>
          <a:bodyPr/>
          <a:lstStyle/>
          <a:p>
            <a:endParaRPr lang="en-US"/>
          </a:p>
        </p:txBody>
      </p:sp>
      <p:sp>
        <p:nvSpPr>
          <p:cNvPr id="5" name="Text 3"/>
          <p:cNvSpPr/>
          <p:nvPr/>
        </p:nvSpPr>
        <p:spPr>
          <a:xfrm>
            <a:off x="457200" y="1097280"/>
            <a:ext cx="7772400" cy="274320"/>
          </a:xfrm>
          <a:prstGeom prst="rect">
            <a:avLst/>
          </a:prstGeom>
          <a:noFill/>
          <a:ln/>
        </p:spPr>
        <p:txBody>
          <a:bodyPr wrap="square" rtlCol="0" anchor="ctr"/>
          <a:lstStyle/>
          <a:p>
            <a:pPr marL="0" indent="0">
              <a:buNone/>
            </a:pPr>
            <a:r>
              <a:rPr lang="en-US" sz="900" b="1" kern="0" spc="300" dirty="0">
                <a:solidFill>
                  <a:srgbClr val="C9933A"/>
                </a:solidFill>
                <a:latin typeface="Calibri" pitchFamily="34" charset="0"/>
                <a:ea typeface="Calibri" pitchFamily="34" charset="-122"/>
                <a:cs typeface="Calibri" pitchFamily="34" charset="-120"/>
              </a:rPr>
              <a:t>M.S. APPLIED DATA SCIENCE  ·  SYRACUSE UNIVERSITY  ·  MAY 2026</a:t>
            </a:r>
            <a:endParaRPr lang="en-US" sz="900" dirty="0"/>
          </a:p>
        </p:txBody>
      </p:sp>
      <p:sp>
        <p:nvSpPr>
          <p:cNvPr id="6" name="Text 4"/>
          <p:cNvSpPr/>
          <p:nvPr/>
        </p:nvSpPr>
        <p:spPr>
          <a:xfrm>
            <a:off x="457200" y="1508760"/>
            <a:ext cx="8229600" cy="1371600"/>
          </a:xfrm>
          <a:prstGeom prst="rect">
            <a:avLst/>
          </a:prstGeom>
          <a:noFill/>
          <a:ln/>
        </p:spPr>
        <p:txBody>
          <a:bodyPr wrap="square" rtlCol="0" anchor="ctr"/>
          <a:lstStyle/>
          <a:p>
            <a:pPr marL="0" indent="0">
              <a:buNone/>
            </a:pPr>
            <a:r>
              <a:rPr lang="en-US" sz="5400" dirty="0">
                <a:solidFill>
                  <a:srgbClr val="FFFFFF"/>
                </a:solidFill>
                <a:latin typeface="Georgia" pitchFamily="34" charset="0"/>
                <a:ea typeface="Georgia" pitchFamily="34" charset="-122"/>
                <a:cs typeface="Georgia" pitchFamily="34" charset="-120"/>
              </a:rPr>
              <a:t>Gabriela Bermudez</a:t>
            </a:r>
            <a:endParaRPr lang="en-US" sz="5400" dirty="0"/>
          </a:p>
        </p:txBody>
      </p:sp>
      <p:sp>
        <p:nvSpPr>
          <p:cNvPr id="7" name="Text 5"/>
          <p:cNvSpPr/>
          <p:nvPr/>
        </p:nvSpPr>
        <p:spPr>
          <a:xfrm>
            <a:off x="457200" y="2880360"/>
            <a:ext cx="8229600" cy="457200"/>
          </a:xfrm>
          <a:prstGeom prst="rect">
            <a:avLst/>
          </a:prstGeom>
          <a:noFill/>
          <a:ln/>
        </p:spPr>
        <p:txBody>
          <a:bodyPr wrap="square" rtlCol="0" anchor="ctr"/>
          <a:lstStyle/>
          <a:p>
            <a:pPr marL="0" indent="0">
              <a:buNone/>
            </a:pPr>
            <a:r>
              <a:rPr lang="en-US" sz="1400" i="1" dirty="0">
                <a:solidFill>
                  <a:srgbClr val="F0D9B0"/>
                </a:solidFill>
                <a:latin typeface="Georgia" pitchFamily="34" charset="0"/>
                <a:ea typeface="Georgia" pitchFamily="34" charset="-122"/>
                <a:cs typeface="Georgia" pitchFamily="34" charset="-120"/>
              </a:rPr>
              <a:t>Education Data Scientist</a:t>
            </a:r>
            <a:r>
              <a:rPr lang="en-US" sz="1400" i="1" dirty="0">
                <a:solidFill>
                  <a:srgbClr val="C9933A"/>
                </a:solidFill>
                <a:latin typeface="Georgia" pitchFamily="34" charset="0"/>
                <a:ea typeface="Georgia" pitchFamily="34" charset="-122"/>
                <a:cs typeface="Georgia" pitchFamily="34" charset="-120"/>
              </a:rPr>
              <a:t xml:space="preserve">  ·  </a:t>
            </a:r>
            <a:r>
              <a:rPr lang="en-US" sz="1400" i="1" dirty="0">
                <a:solidFill>
                  <a:srgbClr val="F0D9B0"/>
                </a:solidFill>
                <a:latin typeface="Georgia" pitchFamily="34" charset="0"/>
                <a:ea typeface="Georgia" pitchFamily="34" charset="-122"/>
                <a:cs typeface="Georgia" pitchFamily="34" charset="-120"/>
              </a:rPr>
              <a:t>Strategic Innovator</a:t>
            </a:r>
            <a:r>
              <a:rPr lang="en-US" sz="1400" i="1" dirty="0">
                <a:solidFill>
                  <a:srgbClr val="C9933A"/>
                </a:solidFill>
                <a:latin typeface="Georgia" pitchFamily="34" charset="0"/>
                <a:ea typeface="Georgia" pitchFamily="34" charset="-122"/>
                <a:cs typeface="Georgia" pitchFamily="34" charset="-120"/>
              </a:rPr>
              <a:t xml:space="preserve">  ·  </a:t>
            </a:r>
            <a:r>
              <a:rPr lang="en-US" sz="1400" i="1" dirty="0">
                <a:solidFill>
                  <a:srgbClr val="F0D9B0"/>
                </a:solidFill>
                <a:latin typeface="Georgia" pitchFamily="34" charset="0"/>
                <a:ea typeface="Georgia" pitchFamily="34" charset="-122"/>
                <a:cs typeface="Georgia" pitchFamily="34" charset="-120"/>
              </a:rPr>
              <a:t>Higher Education Leader</a:t>
            </a:r>
            <a:endParaRPr lang="en-US" sz="1400" dirty="0"/>
          </a:p>
        </p:txBody>
      </p:sp>
      <p:sp>
        <p:nvSpPr>
          <p:cNvPr id="8" name="Shape 6"/>
          <p:cNvSpPr/>
          <p:nvPr/>
        </p:nvSpPr>
        <p:spPr>
          <a:xfrm>
            <a:off x="457199" y="3428999"/>
            <a:ext cx="6152827" cy="45719"/>
          </a:xfrm>
          <a:prstGeom prst="rect">
            <a:avLst/>
          </a:prstGeom>
          <a:solidFill>
            <a:srgbClr val="C9933A"/>
          </a:solidFill>
          <a:ln/>
        </p:spPr>
        <p:txBody>
          <a:bodyPr/>
          <a:lstStyle/>
          <a:p>
            <a:endParaRPr lang="en-US"/>
          </a:p>
        </p:txBody>
      </p:sp>
      <p:sp>
        <p:nvSpPr>
          <p:cNvPr id="9" name="Text 7"/>
          <p:cNvSpPr/>
          <p:nvPr/>
        </p:nvSpPr>
        <p:spPr>
          <a:xfrm>
            <a:off x="457200" y="3611880"/>
            <a:ext cx="8229600" cy="274320"/>
          </a:xfrm>
          <a:prstGeom prst="rect">
            <a:avLst/>
          </a:prstGeom>
          <a:noFill/>
          <a:ln/>
        </p:spPr>
        <p:txBody>
          <a:bodyPr wrap="square" rtlCol="0" anchor="ctr"/>
          <a:lstStyle/>
          <a:p>
            <a:r>
              <a:rPr lang="en-US" sz="1000" dirty="0">
                <a:solidFill>
                  <a:srgbClr val="8899AA"/>
                </a:solidFill>
                <a:latin typeface="Calibri" pitchFamily="34" charset="0"/>
                <a:ea typeface="Calibri" pitchFamily="34" charset="-122"/>
                <a:cs typeface="Calibri" pitchFamily="34" charset="-120"/>
              </a:rPr>
              <a:t>gbermude@syr.edu   ·  lhttps://www.linkedin.com/in/gabriela-bermudez-0835a12b/</a:t>
            </a:r>
            <a:endParaRPr lang="en-US" sz="1000" dirty="0"/>
          </a:p>
        </p:txBody>
      </p:sp>
      <p:sp>
        <p:nvSpPr>
          <p:cNvPr id="10" name="Text 8"/>
          <p:cNvSpPr/>
          <p:nvPr/>
        </p:nvSpPr>
        <p:spPr>
          <a:xfrm>
            <a:off x="457200" y="4206240"/>
            <a:ext cx="8229600" cy="457200"/>
          </a:xfrm>
          <a:prstGeom prst="rect">
            <a:avLst/>
          </a:prstGeom>
          <a:noFill/>
          <a:ln/>
        </p:spPr>
        <p:txBody>
          <a:bodyPr wrap="square" rtlCol="0" anchor="ctr"/>
          <a:lstStyle/>
          <a:p>
            <a:pPr marL="0" indent="0">
              <a:buNone/>
            </a:pPr>
            <a:r>
              <a:rPr lang="en-US" sz="1400" i="1" dirty="0">
                <a:solidFill>
                  <a:srgbClr val="C9933A"/>
                </a:solidFill>
                <a:latin typeface="Georgia" pitchFamily="34" charset="0"/>
                <a:ea typeface="Georgia" pitchFamily="34" charset="-122"/>
                <a:cs typeface="Georgia" pitchFamily="34" charset="-120"/>
              </a:rPr>
              <a:t>Every dataset has a story. I make sure it gets told.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91840" cy="5143500"/>
          </a:xfrm>
          <a:prstGeom prst="rect">
            <a:avLst/>
          </a:prstGeom>
          <a:solidFill>
            <a:srgbClr val="0F1F3D"/>
          </a:solidFill>
          <a:ln/>
        </p:spPr>
        <p:txBody>
          <a:bodyPr/>
          <a:lstStyle/>
          <a:p>
            <a:endParaRPr lang="en-US"/>
          </a:p>
        </p:txBody>
      </p:sp>
      <p:sp>
        <p:nvSpPr>
          <p:cNvPr id="3" name="Text 1"/>
          <p:cNvSpPr/>
          <p:nvPr/>
        </p:nvSpPr>
        <p:spPr>
          <a:xfrm>
            <a:off x="274320" y="548640"/>
            <a:ext cx="2743200" cy="1188720"/>
          </a:xfrm>
          <a:prstGeom prst="rect">
            <a:avLst/>
          </a:prstGeom>
          <a:noFill/>
          <a:ln/>
        </p:spPr>
        <p:txBody>
          <a:bodyPr wrap="square" rtlCol="0" anchor="ctr"/>
          <a:lstStyle/>
          <a:p>
            <a:pPr marL="0" indent="0">
              <a:lnSpc>
                <a:spcPct val="110000"/>
              </a:lnSpc>
              <a:buNone/>
            </a:pPr>
            <a:r>
              <a:rPr lang="en-US" sz="3600" dirty="0">
                <a:solidFill>
                  <a:srgbClr val="FFFFFF"/>
                </a:solidFill>
                <a:latin typeface="Georgia" pitchFamily="34" charset="0"/>
                <a:ea typeface="Georgia" pitchFamily="34" charset="-122"/>
                <a:cs typeface="Georgia" pitchFamily="34" charset="-120"/>
              </a:rPr>
              <a:t>WHO</a:t>
            </a:r>
            <a:endParaRPr lang="en-US" sz="3600" dirty="0"/>
          </a:p>
          <a:p>
            <a:pPr marL="0" indent="0">
              <a:lnSpc>
                <a:spcPct val="110000"/>
              </a:lnSpc>
              <a:buNone/>
            </a:pPr>
            <a:r>
              <a:rPr lang="en-US" sz="3600" dirty="0">
                <a:solidFill>
                  <a:srgbClr val="FFFFFF"/>
                </a:solidFill>
                <a:latin typeface="Georgia" pitchFamily="34" charset="0"/>
                <a:ea typeface="Georgia" pitchFamily="34" charset="-122"/>
                <a:cs typeface="Georgia" pitchFamily="34" charset="-120"/>
              </a:rPr>
              <a:t>I AM</a:t>
            </a:r>
            <a:endParaRPr lang="en-US" sz="3600" dirty="0"/>
          </a:p>
        </p:txBody>
      </p:sp>
      <p:sp>
        <p:nvSpPr>
          <p:cNvPr id="4" name="Shape 2"/>
          <p:cNvSpPr/>
          <p:nvPr/>
        </p:nvSpPr>
        <p:spPr>
          <a:xfrm>
            <a:off x="274320" y="1828800"/>
            <a:ext cx="1097280" cy="36576"/>
          </a:xfrm>
          <a:prstGeom prst="rect">
            <a:avLst/>
          </a:prstGeom>
          <a:solidFill>
            <a:srgbClr val="C9933A"/>
          </a:solidFill>
          <a:ln/>
        </p:spPr>
        <p:txBody>
          <a:bodyPr/>
          <a:lstStyle/>
          <a:p>
            <a:endParaRPr lang="en-US"/>
          </a:p>
        </p:txBody>
      </p:sp>
      <p:sp>
        <p:nvSpPr>
          <p:cNvPr id="5" name="Text 3"/>
          <p:cNvSpPr/>
          <p:nvPr/>
        </p:nvSpPr>
        <p:spPr>
          <a:xfrm>
            <a:off x="274320" y="2011680"/>
            <a:ext cx="2743200" cy="411480"/>
          </a:xfrm>
          <a:prstGeom prst="rect">
            <a:avLst/>
          </a:prstGeom>
          <a:noFill/>
          <a:ln/>
        </p:spPr>
        <p:txBody>
          <a:bodyPr wrap="square" rtlCol="0" anchor="ctr"/>
          <a:lstStyle/>
          <a:p>
            <a:pPr marL="0" indent="0">
              <a:buNone/>
            </a:pPr>
            <a:r>
              <a:rPr lang="en-US" sz="2200" dirty="0">
                <a:solidFill>
                  <a:srgbClr val="F0D9B0"/>
                </a:solidFill>
                <a:latin typeface="Georgia" pitchFamily="34" charset="0"/>
                <a:ea typeface="Georgia" pitchFamily="34" charset="-122"/>
                <a:cs typeface="Georgia" pitchFamily="34" charset="-120"/>
              </a:rPr>
              <a:t>20 yrs</a:t>
            </a:r>
            <a:endParaRPr lang="en-US" sz="2200" dirty="0"/>
          </a:p>
        </p:txBody>
      </p:sp>
      <p:sp>
        <p:nvSpPr>
          <p:cNvPr id="6" name="Text 4"/>
          <p:cNvSpPr/>
          <p:nvPr/>
        </p:nvSpPr>
        <p:spPr>
          <a:xfrm>
            <a:off x="274320" y="2395728"/>
            <a:ext cx="2743200" cy="274320"/>
          </a:xfrm>
          <a:prstGeom prst="rect">
            <a:avLst/>
          </a:prstGeom>
          <a:noFill/>
          <a:ln/>
        </p:spPr>
        <p:txBody>
          <a:bodyPr wrap="square" rtlCol="0" anchor="ctr"/>
          <a:lstStyle/>
          <a:p>
            <a:pPr marL="0" indent="0">
              <a:buNone/>
            </a:pPr>
            <a:r>
              <a:rPr lang="en-US" sz="1100" dirty="0">
                <a:solidFill>
                  <a:srgbClr val="8899BB"/>
                </a:solidFill>
                <a:latin typeface="Calibri" pitchFamily="34" charset="0"/>
                <a:ea typeface="Calibri" pitchFamily="34" charset="-122"/>
                <a:cs typeface="Calibri" pitchFamily="34" charset="-120"/>
              </a:rPr>
              <a:t>Higher Education</a:t>
            </a:r>
            <a:endParaRPr lang="en-US" sz="1100" dirty="0"/>
          </a:p>
        </p:txBody>
      </p:sp>
      <p:sp>
        <p:nvSpPr>
          <p:cNvPr id="7" name="Text 5"/>
          <p:cNvSpPr/>
          <p:nvPr/>
        </p:nvSpPr>
        <p:spPr>
          <a:xfrm>
            <a:off x="274320" y="2880360"/>
            <a:ext cx="2743200" cy="411480"/>
          </a:xfrm>
          <a:prstGeom prst="rect">
            <a:avLst/>
          </a:prstGeom>
          <a:noFill/>
          <a:ln/>
        </p:spPr>
        <p:txBody>
          <a:bodyPr wrap="square" rtlCol="0" anchor="ctr"/>
          <a:lstStyle/>
          <a:p>
            <a:pPr marL="0" indent="0">
              <a:buNone/>
            </a:pPr>
            <a:r>
              <a:rPr lang="en-US" sz="2200" dirty="0">
                <a:solidFill>
                  <a:srgbClr val="F0D9B0"/>
                </a:solidFill>
                <a:latin typeface="Georgia" pitchFamily="34" charset="0"/>
                <a:ea typeface="Georgia" pitchFamily="34" charset="-122"/>
                <a:cs typeface="Georgia" pitchFamily="34" charset="-120"/>
              </a:rPr>
              <a:t>3</a:t>
            </a:r>
            <a:endParaRPr lang="en-US" sz="2200" dirty="0"/>
          </a:p>
        </p:txBody>
      </p:sp>
      <p:sp>
        <p:nvSpPr>
          <p:cNvPr id="8" name="Text 6"/>
          <p:cNvSpPr/>
          <p:nvPr/>
        </p:nvSpPr>
        <p:spPr>
          <a:xfrm>
            <a:off x="274320" y="3264408"/>
            <a:ext cx="2743200" cy="274320"/>
          </a:xfrm>
          <a:prstGeom prst="rect">
            <a:avLst/>
          </a:prstGeom>
          <a:noFill/>
          <a:ln/>
        </p:spPr>
        <p:txBody>
          <a:bodyPr wrap="square" rtlCol="0" anchor="ctr"/>
          <a:lstStyle/>
          <a:p>
            <a:pPr marL="0" indent="0">
              <a:buNone/>
            </a:pPr>
            <a:r>
              <a:rPr lang="en-US" sz="1100" dirty="0">
                <a:solidFill>
                  <a:srgbClr val="8899BB"/>
                </a:solidFill>
                <a:latin typeface="Calibri" pitchFamily="34" charset="0"/>
                <a:ea typeface="Calibri" pitchFamily="34" charset="-122"/>
                <a:cs typeface="Calibri" pitchFamily="34" charset="-120"/>
              </a:rPr>
              <a:t>Degrees</a:t>
            </a:r>
            <a:endParaRPr lang="en-US" sz="1100" dirty="0"/>
          </a:p>
        </p:txBody>
      </p:sp>
      <p:sp>
        <p:nvSpPr>
          <p:cNvPr id="9" name="Text 7"/>
          <p:cNvSpPr/>
          <p:nvPr/>
        </p:nvSpPr>
        <p:spPr>
          <a:xfrm>
            <a:off x="274320" y="3749040"/>
            <a:ext cx="2743200" cy="411480"/>
          </a:xfrm>
          <a:prstGeom prst="rect">
            <a:avLst/>
          </a:prstGeom>
          <a:noFill/>
          <a:ln/>
        </p:spPr>
        <p:txBody>
          <a:bodyPr wrap="square" rtlCol="0" anchor="ctr"/>
          <a:lstStyle/>
          <a:p>
            <a:pPr marL="0" indent="0">
              <a:buNone/>
            </a:pPr>
            <a:r>
              <a:rPr lang="en-US" sz="2200" dirty="0">
                <a:solidFill>
                  <a:srgbClr val="F0D9B0"/>
                </a:solidFill>
                <a:latin typeface="Georgia" pitchFamily="34" charset="0"/>
                <a:ea typeface="Georgia" pitchFamily="34" charset="-122"/>
                <a:cs typeface="Georgia" pitchFamily="34" charset="-120"/>
              </a:rPr>
              <a:t>7+</a:t>
            </a:r>
            <a:endParaRPr lang="en-US" sz="2200" dirty="0"/>
          </a:p>
        </p:txBody>
      </p:sp>
      <p:sp>
        <p:nvSpPr>
          <p:cNvPr id="10" name="Text 8"/>
          <p:cNvSpPr/>
          <p:nvPr/>
        </p:nvSpPr>
        <p:spPr>
          <a:xfrm>
            <a:off x="274320" y="4133088"/>
            <a:ext cx="2743200" cy="274320"/>
          </a:xfrm>
          <a:prstGeom prst="rect">
            <a:avLst/>
          </a:prstGeom>
          <a:noFill/>
          <a:ln/>
        </p:spPr>
        <p:txBody>
          <a:bodyPr wrap="square" rtlCol="0" anchor="ctr"/>
          <a:lstStyle/>
          <a:p>
            <a:pPr marL="0" indent="0">
              <a:buNone/>
            </a:pPr>
            <a:r>
              <a:rPr lang="en-US" sz="1100" dirty="0">
                <a:solidFill>
                  <a:srgbClr val="8899BB"/>
                </a:solidFill>
                <a:latin typeface="Calibri" pitchFamily="34" charset="0"/>
                <a:ea typeface="Calibri" pitchFamily="34" charset="-122"/>
                <a:cs typeface="Calibri" pitchFamily="34" charset="-120"/>
              </a:rPr>
              <a:t>Projects</a:t>
            </a:r>
            <a:endParaRPr lang="en-US" sz="1100" dirty="0"/>
          </a:p>
        </p:txBody>
      </p:sp>
      <p:sp>
        <p:nvSpPr>
          <p:cNvPr id="11" name="Text 9"/>
          <p:cNvSpPr/>
          <p:nvPr/>
        </p:nvSpPr>
        <p:spPr>
          <a:xfrm>
            <a:off x="3566160" y="320040"/>
            <a:ext cx="5303520" cy="502920"/>
          </a:xfrm>
          <a:prstGeom prst="rect">
            <a:avLst/>
          </a:prstGeom>
          <a:noFill/>
          <a:ln/>
        </p:spPr>
        <p:txBody>
          <a:bodyPr wrap="square" rtlCol="0" anchor="ctr"/>
          <a:lstStyle/>
          <a:p>
            <a:pPr marL="0" indent="0">
              <a:buNone/>
            </a:pPr>
            <a:r>
              <a:rPr lang="en-US" sz="2600" dirty="0">
                <a:solidFill>
                  <a:srgbClr val="0F1F3D"/>
                </a:solidFill>
                <a:latin typeface="Georgia" pitchFamily="34" charset="0"/>
                <a:ea typeface="Georgia" pitchFamily="34" charset="-122"/>
                <a:cs typeface="Georgia" pitchFamily="34" charset="-120"/>
              </a:rPr>
              <a:t>About Me</a:t>
            </a:r>
            <a:endParaRPr lang="en-US" sz="2600" dirty="0"/>
          </a:p>
        </p:txBody>
      </p:sp>
      <p:sp>
        <p:nvSpPr>
          <p:cNvPr id="12" name="Shape 10"/>
          <p:cNvSpPr/>
          <p:nvPr/>
        </p:nvSpPr>
        <p:spPr>
          <a:xfrm>
            <a:off x="3566160" y="868680"/>
            <a:ext cx="5303520" cy="18288"/>
          </a:xfrm>
          <a:prstGeom prst="rect">
            <a:avLst/>
          </a:prstGeom>
          <a:solidFill>
            <a:srgbClr val="C9933A"/>
          </a:solidFill>
          <a:ln/>
        </p:spPr>
        <p:txBody>
          <a:bodyPr/>
          <a:lstStyle/>
          <a:p>
            <a:endParaRPr lang="en-US"/>
          </a:p>
        </p:txBody>
      </p:sp>
      <p:sp>
        <p:nvSpPr>
          <p:cNvPr id="13" name="Text 11"/>
          <p:cNvSpPr/>
          <p:nvPr/>
        </p:nvSpPr>
        <p:spPr>
          <a:xfrm>
            <a:off x="3566160" y="1005840"/>
            <a:ext cx="5303520" cy="822960"/>
          </a:xfrm>
          <a:prstGeom prst="rect">
            <a:avLst/>
          </a:prstGeom>
          <a:noFill/>
          <a:ln/>
        </p:spPr>
        <p:txBody>
          <a:bodyPr wrap="square" rtlCol="0" anchor="ctr"/>
          <a:lstStyle/>
          <a:p>
            <a:pPr marL="0" indent="0">
              <a:lnSpc>
                <a:spcPct val="135000"/>
              </a:lnSpc>
              <a:buNone/>
            </a:pPr>
            <a:r>
              <a:rPr lang="en-US" sz="1300" dirty="0">
                <a:solidFill>
                  <a:srgbClr val="1A1612"/>
                </a:solidFill>
                <a:latin typeface="Calibri" pitchFamily="34" charset="0"/>
                <a:ea typeface="Calibri" pitchFamily="34" charset="-122"/>
                <a:cs typeface="Calibri" pitchFamily="34" charset="-120"/>
              </a:rPr>
              <a:t>I am a data scientist, scholar, and practitioner who spent nearly two decades in higher education before earning an M.S. in Applied Data Science at Syracuse University.</a:t>
            </a:r>
            <a:endParaRPr lang="en-US" sz="1300" dirty="0"/>
          </a:p>
        </p:txBody>
      </p:sp>
      <p:sp>
        <p:nvSpPr>
          <p:cNvPr id="14" name="Text 12"/>
          <p:cNvSpPr/>
          <p:nvPr/>
        </p:nvSpPr>
        <p:spPr>
          <a:xfrm>
            <a:off x="3566160" y="1920240"/>
            <a:ext cx="5303520" cy="822960"/>
          </a:xfrm>
          <a:prstGeom prst="rect">
            <a:avLst/>
          </a:prstGeom>
          <a:noFill/>
          <a:ln/>
        </p:spPr>
        <p:txBody>
          <a:bodyPr wrap="square" rtlCol="0" anchor="ctr"/>
          <a:lstStyle/>
          <a:p>
            <a:pPr marL="0" indent="0">
              <a:lnSpc>
                <a:spcPct val="135000"/>
              </a:lnSpc>
              <a:buNone/>
            </a:pPr>
            <a:r>
              <a:rPr lang="en-US" sz="1300" dirty="0">
                <a:solidFill>
                  <a:srgbClr val="1A1612"/>
                </a:solidFill>
                <a:latin typeface="Calibri" pitchFamily="34" charset="0"/>
                <a:ea typeface="Calibri" pitchFamily="34" charset="-122"/>
                <a:cs typeface="Calibri" pitchFamily="34" charset="-120"/>
              </a:rPr>
              <a:t>I came to data science not as a departure from that work — but as a natural extension of it. I wanted to turn institutional observation into evidence that drives change.</a:t>
            </a:r>
            <a:endParaRPr lang="en-US" sz="1300" dirty="0"/>
          </a:p>
        </p:txBody>
      </p:sp>
      <p:sp>
        <p:nvSpPr>
          <p:cNvPr id="15" name="Text 13"/>
          <p:cNvSpPr/>
          <p:nvPr/>
        </p:nvSpPr>
        <p:spPr>
          <a:xfrm>
            <a:off x="3566160" y="2880360"/>
            <a:ext cx="5303520" cy="914400"/>
          </a:xfrm>
          <a:prstGeom prst="rect">
            <a:avLst/>
          </a:prstGeom>
          <a:noFill/>
          <a:ln/>
        </p:spPr>
        <p:txBody>
          <a:bodyPr wrap="square" rtlCol="0" anchor="ctr"/>
          <a:lstStyle/>
          <a:p>
            <a:pPr marL="0" indent="0">
              <a:lnSpc>
                <a:spcPct val="145000"/>
              </a:lnSpc>
              <a:buNone/>
            </a:pPr>
            <a:r>
              <a:rPr lang="en-US" sz="1300" i="1" dirty="0">
                <a:solidFill>
                  <a:srgbClr val="6B6459"/>
                </a:solidFill>
                <a:latin typeface="Georgia" pitchFamily="34" charset="0"/>
                <a:ea typeface="Georgia" pitchFamily="34" charset="-122"/>
                <a:cs typeface="Georgia" pitchFamily="34" charset="-120"/>
              </a:rPr>
              <a:t>"I am at my best when the technical problem and the human problem are the same problem."</a:t>
            </a:r>
            <a:endParaRPr lang="en-US" sz="1300" dirty="0"/>
          </a:p>
        </p:txBody>
      </p:sp>
      <p:sp>
        <p:nvSpPr>
          <p:cNvPr id="16" name="Text 14"/>
          <p:cNvSpPr/>
          <p:nvPr/>
        </p:nvSpPr>
        <p:spPr>
          <a:xfrm>
            <a:off x="3566160" y="4480560"/>
            <a:ext cx="5303520" cy="320040"/>
          </a:xfrm>
          <a:prstGeom prst="rect">
            <a:avLst/>
          </a:prstGeom>
          <a:noFill/>
          <a:ln/>
        </p:spPr>
        <p:txBody>
          <a:bodyPr wrap="square" rtlCol="0" anchor="ctr"/>
          <a:lstStyle/>
          <a:p>
            <a:pPr marL="0" indent="0">
              <a:buNone/>
            </a:pPr>
            <a:r>
              <a:rPr lang="en-US" sz="1000" b="1" dirty="0">
                <a:solidFill>
                  <a:srgbClr val="C9933A"/>
                </a:solidFill>
                <a:latin typeface="Calibri" pitchFamily="34" charset="0"/>
                <a:ea typeface="Calibri" pitchFamily="34" charset="-122"/>
                <a:cs typeface="Calibri" pitchFamily="34" charset="-120"/>
              </a:rPr>
              <a:t>Education Data Scientist  ·  Strategic Innovator  ·  Higher Education Leader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F3D"/>
          </a:solidFill>
          <a:ln/>
        </p:spPr>
        <p:txBody>
          <a:bodyPr/>
          <a:lstStyle/>
          <a:p>
            <a:endParaRPr lang="en-US"/>
          </a:p>
        </p:txBody>
      </p:sp>
      <p:sp>
        <p:nvSpPr>
          <p:cNvPr id="3" name="Text 1"/>
          <p:cNvSpPr/>
          <p:nvPr/>
        </p:nvSpPr>
        <p:spPr>
          <a:xfrm>
            <a:off x="457200" y="164592"/>
            <a:ext cx="8229600" cy="201168"/>
          </a:xfrm>
          <a:prstGeom prst="rect">
            <a:avLst/>
          </a:prstGeom>
          <a:noFill/>
          <a:ln/>
        </p:spPr>
        <p:txBody>
          <a:bodyPr wrap="square" rtlCol="0" anchor="ctr"/>
          <a:lstStyle/>
          <a:p>
            <a:pPr marL="0" indent="0">
              <a:buNone/>
            </a:pPr>
            <a:r>
              <a:rPr lang="en-US" sz="900" b="1" kern="0" spc="400" dirty="0">
                <a:solidFill>
                  <a:srgbClr val="C9933A"/>
                </a:solidFill>
                <a:latin typeface="Calibri" pitchFamily="34" charset="0"/>
                <a:ea typeface="Calibri" pitchFamily="34" charset="-122"/>
                <a:cs typeface="Calibri" pitchFamily="34" charset="-120"/>
              </a:rPr>
              <a:t>TECHNICAL SKILLS</a:t>
            </a:r>
            <a:endParaRPr lang="en-US" sz="900" dirty="0"/>
          </a:p>
        </p:txBody>
      </p:sp>
      <p:sp>
        <p:nvSpPr>
          <p:cNvPr id="4" name="Text 2"/>
          <p:cNvSpPr/>
          <p:nvPr/>
        </p:nvSpPr>
        <p:spPr>
          <a:xfrm>
            <a:off x="457200" y="384048"/>
            <a:ext cx="8229600" cy="548640"/>
          </a:xfrm>
          <a:prstGeom prst="rect">
            <a:avLst/>
          </a:prstGeom>
          <a:noFill/>
          <a:ln/>
        </p:spPr>
        <p:txBody>
          <a:bodyPr wrap="square" rtlCol="0" anchor="ctr"/>
          <a:lstStyle/>
          <a:p>
            <a:pPr marL="0" indent="0">
              <a:buNone/>
            </a:pPr>
            <a:r>
              <a:rPr lang="en-US" sz="2800" dirty="0">
                <a:solidFill>
                  <a:srgbClr val="FFFFFF"/>
                </a:solidFill>
                <a:latin typeface="Georgia" pitchFamily="34" charset="0"/>
                <a:ea typeface="Georgia" pitchFamily="34" charset="-122"/>
                <a:cs typeface="Georgia" pitchFamily="34" charset="-120"/>
              </a:rPr>
              <a:t>Core Technical Skills</a:t>
            </a:r>
            <a:endParaRPr lang="en-US" sz="2800" dirty="0"/>
          </a:p>
        </p:txBody>
      </p:sp>
      <p:sp>
        <p:nvSpPr>
          <p:cNvPr id="5" name="Shape 3"/>
          <p:cNvSpPr/>
          <p:nvPr/>
        </p:nvSpPr>
        <p:spPr>
          <a:xfrm>
            <a:off x="274320" y="1143000"/>
            <a:ext cx="4251960" cy="877824"/>
          </a:xfrm>
          <a:prstGeom prst="rect">
            <a:avLst/>
          </a:prstGeom>
          <a:solidFill>
            <a:srgbClr val="F5F3EF"/>
          </a:solidFill>
          <a:ln w="12700">
            <a:solidFill>
              <a:srgbClr val="E0D9CE"/>
            </a:solidFill>
            <a:prstDash val="solid"/>
          </a:ln>
        </p:spPr>
        <p:txBody>
          <a:bodyPr/>
          <a:lstStyle/>
          <a:p>
            <a:endParaRPr lang="en-US"/>
          </a:p>
        </p:txBody>
      </p:sp>
      <p:sp>
        <p:nvSpPr>
          <p:cNvPr id="6" name="Shape 4"/>
          <p:cNvSpPr/>
          <p:nvPr/>
        </p:nvSpPr>
        <p:spPr>
          <a:xfrm>
            <a:off x="274320" y="1143000"/>
            <a:ext cx="45720" cy="877824"/>
          </a:xfrm>
          <a:prstGeom prst="rect">
            <a:avLst/>
          </a:prstGeom>
          <a:solidFill>
            <a:srgbClr val="C9933A"/>
          </a:solidFill>
          <a:ln/>
        </p:spPr>
        <p:txBody>
          <a:bodyPr/>
          <a:lstStyle/>
          <a:p>
            <a:endParaRPr lang="en-US"/>
          </a:p>
        </p:txBody>
      </p:sp>
      <p:sp>
        <p:nvSpPr>
          <p:cNvPr id="7" name="Text 5"/>
          <p:cNvSpPr/>
          <p:nvPr/>
        </p:nvSpPr>
        <p:spPr>
          <a:xfrm>
            <a:off x="411480" y="1197864"/>
            <a:ext cx="3840480" cy="237744"/>
          </a:xfrm>
          <a:prstGeom prst="rect">
            <a:avLst/>
          </a:prstGeom>
          <a:noFill/>
          <a:ln/>
        </p:spPr>
        <p:txBody>
          <a:bodyPr wrap="square" rtlCol="0" anchor="t"/>
          <a:lstStyle/>
          <a:p>
            <a:pPr marL="0" indent="0">
              <a:buNone/>
            </a:pPr>
            <a:r>
              <a:rPr lang="en-US" sz="1100" b="1" dirty="0">
                <a:solidFill>
                  <a:srgbClr val="0F1F3D"/>
                </a:solidFill>
                <a:latin typeface="Calibri" pitchFamily="34" charset="0"/>
                <a:ea typeface="Calibri" pitchFamily="34" charset="-122"/>
                <a:cs typeface="Calibri" pitchFamily="34" charset="-120"/>
              </a:rPr>
              <a:t>Data Collection &amp; Storage</a:t>
            </a:r>
            <a:endParaRPr lang="en-US" sz="1100" dirty="0"/>
          </a:p>
        </p:txBody>
      </p:sp>
      <p:sp>
        <p:nvSpPr>
          <p:cNvPr id="8" name="Text 6"/>
          <p:cNvSpPr/>
          <p:nvPr/>
        </p:nvSpPr>
        <p:spPr>
          <a:xfrm>
            <a:off x="411480" y="1435608"/>
            <a:ext cx="3840480" cy="402336"/>
          </a:xfrm>
          <a:prstGeom prst="rect">
            <a:avLst/>
          </a:prstGeom>
          <a:noFill/>
          <a:ln/>
        </p:spPr>
        <p:txBody>
          <a:bodyPr wrap="square" rtlCol="0" anchor="t"/>
          <a:lstStyle/>
          <a:p>
            <a:pPr marL="0" indent="0">
              <a:lnSpc>
                <a:spcPct val="120000"/>
              </a:lnSpc>
              <a:buNone/>
            </a:pPr>
            <a:r>
              <a:rPr lang="en-US" sz="900" dirty="0">
                <a:solidFill>
                  <a:srgbClr val="1A1612"/>
                </a:solidFill>
                <a:latin typeface="Calibri" pitchFamily="34" charset="0"/>
                <a:ea typeface="Calibri" pitchFamily="34" charset="-122"/>
                <a:cs typeface="Calibri" pitchFamily="34" charset="-120"/>
              </a:rPr>
              <a:t>Oracle DBMS  ·  SQL (ERDs, migrations)  ·  FERPA architecture  ·  Qualtrics &amp; Formstack  ·  ASPiRe</a:t>
            </a:r>
            <a:endParaRPr lang="en-US" sz="900" dirty="0"/>
          </a:p>
        </p:txBody>
      </p:sp>
      <p:sp>
        <p:nvSpPr>
          <p:cNvPr id="9" name="Text 7"/>
          <p:cNvSpPr/>
          <p:nvPr/>
        </p:nvSpPr>
        <p:spPr>
          <a:xfrm>
            <a:off x="411480" y="1837944"/>
            <a:ext cx="3840480" cy="164592"/>
          </a:xfrm>
          <a:prstGeom prst="rect">
            <a:avLst/>
          </a:prstGeom>
          <a:noFill/>
          <a:ln/>
        </p:spPr>
        <p:txBody>
          <a:bodyPr wrap="square" rtlCol="0" anchor="b"/>
          <a:lstStyle/>
          <a:p>
            <a:pPr marL="0" indent="0">
              <a:buNone/>
            </a:pPr>
            <a:r>
              <a:rPr lang="en-US" sz="800" b="1" i="1" dirty="0">
                <a:solidFill>
                  <a:srgbClr val="C9933A"/>
                </a:solidFill>
                <a:latin typeface="Calibri" pitchFamily="34" charset="0"/>
                <a:ea typeface="Calibri" pitchFamily="34" charset="-122"/>
                <a:cs typeface="Calibri" pitchFamily="34" charset="-120"/>
              </a:rPr>
              <a:t>Project 01</a:t>
            </a:r>
            <a:endParaRPr lang="en-US" sz="800" dirty="0"/>
          </a:p>
        </p:txBody>
      </p:sp>
      <p:sp>
        <p:nvSpPr>
          <p:cNvPr id="10" name="Shape 8"/>
          <p:cNvSpPr/>
          <p:nvPr/>
        </p:nvSpPr>
        <p:spPr>
          <a:xfrm>
            <a:off x="274320" y="2112264"/>
            <a:ext cx="4251960" cy="877824"/>
          </a:xfrm>
          <a:prstGeom prst="rect">
            <a:avLst/>
          </a:prstGeom>
          <a:solidFill>
            <a:srgbClr val="F5F3EF"/>
          </a:solidFill>
          <a:ln w="12700">
            <a:solidFill>
              <a:srgbClr val="E0D9CE"/>
            </a:solidFill>
            <a:prstDash val="solid"/>
          </a:ln>
        </p:spPr>
        <p:txBody>
          <a:bodyPr/>
          <a:lstStyle/>
          <a:p>
            <a:endParaRPr lang="en-US"/>
          </a:p>
        </p:txBody>
      </p:sp>
      <p:sp>
        <p:nvSpPr>
          <p:cNvPr id="11" name="Shape 9"/>
          <p:cNvSpPr/>
          <p:nvPr/>
        </p:nvSpPr>
        <p:spPr>
          <a:xfrm>
            <a:off x="274320" y="2112264"/>
            <a:ext cx="45720" cy="877824"/>
          </a:xfrm>
          <a:prstGeom prst="rect">
            <a:avLst/>
          </a:prstGeom>
          <a:solidFill>
            <a:srgbClr val="C9933A"/>
          </a:solidFill>
          <a:ln/>
        </p:spPr>
        <p:txBody>
          <a:bodyPr/>
          <a:lstStyle/>
          <a:p>
            <a:endParaRPr lang="en-US"/>
          </a:p>
        </p:txBody>
      </p:sp>
      <p:sp>
        <p:nvSpPr>
          <p:cNvPr id="12" name="Text 10"/>
          <p:cNvSpPr/>
          <p:nvPr/>
        </p:nvSpPr>
        <p:spPr>
          <a:xfrm>
            <a:off x="411480" y="2167128"/>
            <a:ext cx="3840480" cy="237744"/>
          </a:xfrm>
          <a:prstGeom prst="rect">
            <a:avLst/>
          </a:prstGeom>
          <a:noFill/>
          <a:ln/>
        </p:spPr>
        <p:txBody>
          <a:bodyPr wrap="square" rtlCol="0" anchor="t"/>
          <a:lstStyle/>
          <a:p>
            <a:pPr marL="0" indent="0">
              <a:buNone/>
            </a:pPr>
            <a:r>
              <a:rPr lang="en-US" sz="1100" b="1" dirty="0">
                <a:solidFill>
                  <a:srgbClr val="0F1F3D"/>
                </a:solidFill>
                <a:latin typeface="Calibri" pitchFamily="34" charset="0"/>
                <a:ea typeface="Calibri" pitchFamily="34" charset="-122"/>
                <a:cs typeface="Calibri" pitchFamily="34" charset="-120"/>
              </a:rPr>
              <a:t>Natural Language Processing</a:t>
            </a:r>
            <a:endParaRPr lang="en-US" sz="1100" dirty="0"/>
          </a:p>
        </p:txBody>
      </p:sp>
      <p:sp>
        <p:nvSpPr>
          <p:cNvPr id="13" name="Text 11"/>
          <p:cNvSpPr/>
          <p:nvPr/>
        </p:nvSpPr>
        <p:spPr>
          <a:xfrm>
            <a:off x="411480" y="2404872"/>
            <a:ext cx="3840480" cy="402336"/>
          </a:xfrm>
          <a:prstGeom prst="rect">
            <a:avLst/>
          </a:prstGeom>
          <a:noFill/>
          <a:ln/>
        </p:spPr>
        <p:txBody>
          <a:bodyPr wrap="square" rtlCol="0" anchor="t"/>
          <a:lstStyle/>
          <a:p>
            <a:pPr marL="0" indent="0">
              <a:lnSpc>
                <a:spcPct val="120000"/>
              </a:lnSpc>
              <a:buNone/>
            </a:pPr>
            <a:r>
              <a:rPr lang="en-US" sz="900" dirty="0">
                <a:solidFill>
                  <a:srgbClr val="1A1612"/>
                </a:solidFill>
                <a:latin typeface="Calibri" pitchFamily="34" charset="0"/>
                <a:ea typeface="Calibri" pitchFamily="34" charset="-122"/>
                <a:cs typeface="Calibri" pitchFamily="34" charset="-120"/>
              </a:rPr>
              <a:t>Python / NLTK  ·  TF-IDF  ·  KMeans  ·  PCA  ·  VADER sentiment  ·  WordNet lemmatization  ·  Apriori</a:t>
            </a:r>
            <a:endParaRPr lang="en-US" sz="900" dirty="0"/>
          </a:p>
        </p:txBody>
      </p:sp>
      <p:sp>
        <p:nvSpPr>
          <p:cNvPr id="14" name="Text 12"/>
          <p:cNvSpPr/>
          <p:nvPr/>
        </p:nvSpPr>
        <p:spPr>
          <a:xfrm>
            <a:off x="411480" y="2807208"/>
            <a:ext cx="3840480" cy="164592"/>
          </a:xfrm>
          <a:prstGeom prst="rect">
            <a:avLst/>
          </a:prstGeom>
          <a:noFill/>
          <a:ln/>
        </p:spPr>
        <p:txBody>
          <a:bodyPr wrap="square" rtlCol="0" anchor="b"/>
          <a:lstStyle/>
          <a:p>
            <a:pPr marL="0" indent="0">
              <a:buNone/>
            </a:pPr>
            <a:r>
              <a:rPr lang="en-US" sz="800" b="1" i="1" dirty="0">
                <a:solidFill>
                  <a:srgbClr val="C9933A"/>
                </a:solidFill>
                <a:latin typeface="Calibri" pitchFamily="34" charset="0"/>
                <a:ea typeface="Calibri" pitchFamily="34" charset="-122"/>
                <a:cs typeface="Calibri" pitchFamily="34" charset="-120"/>
              </a:rPr>
              <a:t>Project 02</a:t>
            </a:r>
            <a:endParaRPr lang="en-US" sz="800" dirty="0"/>
          </a:p>
        </p:txBody>
      </p:sp>
      <p:sp>
        <p:nvSpPr>
          <p:cNvPr id="15" name="Shape 13"/>
          <p:cNvSpPr/>
          <p:nvPr/>
        </p:nvSpPr>
        <p:spPr>
          <a:xfrm>
            <a:off x="274320" y="3081528"/>
            <a:ext cx="4251960" cy="877824"/>
          </a:xfrm>
          <a:prstGeom prst="rect">
            <a:avLst/>
          </a:prstGeom>
          <a:solidFill>
            <a:srgbClr val="F5F3EF"/>
          </a:solidFill>
          <a:ln w="12700">
            <a:solidFill>
              <a:srgbClr val="E0D9CE"/>
            </a:solidFill>
            <a:prstDash val="solid"/>
          </a:ln>
        </p:spPr>
        <p:txBody>
          <a:bodyPr/>
          <a:lstStyle/>
          <a:p>
            <a:endParaRPr lang="en-US"/>
          </a:p>
        </p:txBody>
      </p:sp>
      <p:sp>
        <p:nvSpPr>
          <p:cNvPr id="16" name="Shape 14"/>
          <p:cNvSpPr/>
          <p:nvPr/>
        </p:nvSpPr>
        <p:spPr>
          <a:xfrm>
            <a:off x="274320" y="3081528"/>
            <a:ext cx="45720" cy="877824"/>
          </a:xfrm>
          <a:prstGeom prst="rect">
            <a:avLst/>
          </a:prstGeom>
          <a:solidFill>
            <a:srgbClr val="C9933A"/>
          </a:solidFill>
          <a:ln/>
        </p:spPr>
        <p:txBody>
          <a:bodyPr/>
          <a:lstStyle/>
          <a:p>
            <a:endParaRPr lang="en-US"/>
          </a:p>
        </p:txBody>
      </p:sp>
      <p:sp>
        <p:nvSpPr>
          <p:cNvPr id="17" name="Text 15"/>
          <p:cNvSpPr/>
          <p:nvPr/>
        </p:nvSpPr>
        <p:spPr>
          <a:xfrm>
            <a:off x="411480" y="3136392"/>
            <a:ext cx="3840480" cy="237744"/>
          </a:xfrm>
          <a:prstGeom prst="rect">
            <a:avLst/>
          </a:prstGeom>
          <a:noFill/>
          <a:ln/>
        </p:spPr>
        <p:txBody>
          <a:bodyPr wrap="square" rtlCol="0" anchor="t"/>
          <a:lstStyle/>
          <a:p>
            <a:pPr marL="0" indent="0">
              <a:buNone/>
            </a:pPr>
            <a:r>
              <a:rPr lang="en-US" sz="1100" b="1" dirty="0">
                <a:solidFill>
                  <a:srgbClr val="0F1F3D"/>
                </a:solidFill>
                <a:latin typeface="Calibri" pitchFamily="34" charset="0"/>
                <a:ea typeface="Calibri" pitchFamily="34" charset="-122"/>
                <a:cs typeface="Calibri" pitchFamily="34" charset="-120"/>
              </a:rPr>
              <a:t>Machine Learning &amp; Predictive Modeling</a:t>
            </a:r>
            <a:endParaRPr lang="en-US" sz="1100" dirty="0"/>
          </a:p>
        </p:txBody>
      </p:sp>
      <p:sp>
        <p:nvSpPr>
          <p:cNvPr id="18" name="Text 16"/>
          <p:cNvSpPr/>
          <p:nvPr/>
        </p:nvSpPr>
        <p:spPr>
          <a:xfrm>
            <a:off x="411480" y="3374136"/>
            <a:ext cx="3840480" cy="402336"/>
          </a:xfrm>
          <a:prstGeom prst="rect">
            <a:avLst/>
          </a:prstGeom>
          <a:noFill/>
          <a:ln/>
        </p:spPr>
        <p:txBody>
          <a:bodyPr wrap="square" rtlCol="0" anchor="t"/>
          <a:lstStyle/>
          <a:p>
            <a:pPr marL="0" indent="0">
              <a:lnSpc>
                <a:spcPct val="120000"/>
              </a:lnSpc>
              <a:buNone/>
            </a:pPr>
            <a:r>
              <a:rPr lang="en-US" sz="900" dirty="0">
                <a:solidFill>
                  <a:srgbClr val="1A1612"/>
                </a:solidFill>
                <a:latin typeface="Calibri" pitchFamily="34" charset="0"/>
                <a:ea typeface="Calibri" pitchFamily="34" charset="-122"/>
                <a:cs typeface="Calibri" pitchFamily="34" charset="-120"/>
              </a:rPr>
              <a:t>SVM, Random Forest, Gradient Boosting, Naive Bayes, kNN  ·  SMOTE  ·  SHAP  ·  k-fold CV  ·  R (caret, e1071, arules)</a:t>
            </a:r>
            <a:endParaRPr lang="en-US" sz="900" dirty="0"/>
          </a:p>
        </p:txBody>
      </p:sp>
      <p:sp>
        <p:nvSpPr>
          <p:cNvPr id="19" name="Text 17"/>
          <p:cNvSpPr/>
          <p:nvPr/>
        </p:nvSpPr>
        <p:spPr>
          <a:xfrm>
            <a:off x="411480" y="3776472"/>
            <a:ext cx="3840480" cy="164592"/>
          </a:xfrm>
          <a:prstGeom prst="rect">
            <a:avLst/>
          </a:prstGeom>
          <a:noFill/>
          <a:ln/>
        </p:spPr>
        <p:txBody>
          <a:bodyPr wrap="square" rtlCol="0" anchor="b"/>
          <a:lstStyle/>
          <a:p>
            <a:pPr marL="0" indent="0">
              <a:buNone/>
            </a:pPr>
            <a:r>
              <a:rPr lang="en-US" sz="800" b="1" i="1" dirty="0">
                <a:solidFill>
                  <a:srgbClr val="C9933A"/>
                </a:solidFill>
                <a:latin typeface="Calibri" pitchFamily="34" charset="0"/>
                <a:ea typeface="Calibri" pitchFamily="34" charset="-122"/>
                <a:cs typeface="Calibri" pitchFamily="34" charset="-120"/>
              </a:rPr>
              <a:t>Projects 04 &amp; 07</a:t>
            </a:r>
            <a:endParaRPr lang="en-US" sz="800" dirty="0"/>
          </a:p>
        </p:txBody>
      </p:sp>
      <p:sp>
        <p:nvSpPr>
          <p:cNvPr id="20" name="Shape 18"/>
          <p:cNvSpPr/>
          <p:nvPr/>
        </p:nvSpPr>
        <p:spPr>
          <a:xfrm>
            <a:off x="274320" y="4050792"/>
            <a:ext cx="4251960" cy="877824"/>
          </a:xfrm>
          <a:prstGeom prst="rect">
            <a:avLst/>
          </a:prstGeom>
          <a:solidFill>
            <a:srgbClr val="F5F3EF"/>
          </a:solidFill>
          <a:ln w="12700">
            <a:solidFill>
              <a:srgbClr val="E0D9CE"/>
            </a:solidFill>
            <a:prstDash val="solid"/>
          </a:ln>
        </p:spPr>
        <p:txBody>
          <a:bodyPr/>
          <a:lstStyle/>
          <a:p>
            <a:endParaRPr lang="en-US"/>
          </a:p>
        </p:txBody>
      </p:sp>
      <p:sp>
        <p:nvSpPr>
          <p:cNvPr id="21" name="Shape 19"/>
          <p:cNvSpPr/>
          <p:nvPr/>
        </p:nvSpPr>
        <p:spPr>
          <a:xfrm>
            <a:off x="274320" y="4050792"/>
            <a:ext cx="45720" cy="877824"/>
          </a:xfrm>
          <a:prstGeom prst="rect">
            <a:avLst/>
          </a:prstGeom>
          <a:solidFill>
            <a:srgbClr val="C9933A"/>
          </a:solidFill>
          <a:ln/>
        </p:spPr>
        <p:txBody>
          <a:bodyPr/>
          <a:lstStyle/>
          <a:p>
            <a:endParaRPr lang="en-US"/>
          </a:p>
        </p:txBody>
      </p:sp>
      <p:sp>
        <p:nvSpPr>
          <p:cNvPr id="22" name="Text 20"/>
          <p:cNvSpPr/>
          <p:nvPr/>
        </p:nvSpPr>
        <p:spPr>
          <a:xfrm>
            <a:off x="411480" y="4105656"/>
            <a:ext cx="3840480" cy="237744"/>
          </a:xfrm>
          <a:prstGeom prst="rect">
            <a:avLst/>
          </a:prstGeom>
          <a:noFill/>
          <a:ln/>
        </p:spPr>
        <p:txBody>
          <a:bodyPr wrap="square" rtlCol="0" anchor="t"/>
          <a:lstStyle/>
          <a:p>
            <a:pPr marL="0" indent="0">
              <a:buNone/>
            </a:pPr>
            <a:r>
              <a:rPr lang="en-US" sz="1100" b="1" dirty="0">
                <a:solidFill>
                  <a:srgbClr val="0F1F3D"/>
                </a:solidFill>
                <a:latin typeface="Calibri" pitchFamily="34" charset="0"/>
                <a:ea typeface="Calibri" pitchFamily="34" charset="-122"/>
                <a:cs typeface="Calibri" pitchFamily="34" charset="-120"/>
              </a:rPr>
              <a:t>Healthcare &amp; Clinical Analytics</a:t>
            </a:r>
            <a:endParaRPr lang="en-US" sz="1100" dirty="0"/>
          </a:p>
        </p:txBody>
      </p:sp>
      <p:sp>
        <p:nvSpPr>
          <p:cNvPr id="23" name="Text 21"/>
          <p:cNvSpPr/>
          <p:nvPr/>
        </p:nvSpPr>
        <p:spPr>
          <a:xfrm>
            <a:off x="411480" y="4343400"/>
            <a:ext cx="3840480" cy="402336"/>
          </a:xfrm>
          <a:prstGeom prst="rect">
            <a:avLst/>
          </a:prstGeom>
          <a:noFill/>
          <a:ln/>
        </p:spPr>
        <p:txBody>
          <a:bodyPr wrap="square" rtlCol="0" anchor="t"/>
          <a:lstStyle/>
          <a:p>
            <a:pPr marL="0" indent="0">
              <a:lnSpc>
                <a:spcPct val="120000"/>
              </a:lnSpc>
              <a:buNone/>
            </a:pPr>
            <a:r>
              <a:rPr lang="en-US" sz="900" dirty="0">
                <a:solidFill>
                  <a:srgbClr val="1A1612"/>
                </a:solidFill>
                <a:latin typeface="Calibri" pitchFamily="34" charset="0"/>
                <a:ea typeface="Calibri" pitchFamily="34" charset="-122"/>
                <a:cs typeface="Calibri" pitchFamily="34" charset="-120"/>
              </a:rPr>
              <a:t>Class imbalance: SMOTE, PCA, interaction terms  ·  Gradient Boosting, SVM  ·  Interpretability vs. accuracy tradeoffs</a:t>
            </a:r>
            <a:endParaRPr lang="en-US" sz="900" dirty="0"/>
          </a:p>
        </p:txBody>
      </p:sp>
      <p:sp>
        <p:nvSpPr>
          <p:cNvPr id="24" name="Text 22"/>
          <p:cNvSpPr/>
          <p:nvPr/>
        </p:nvSpPr>
        <p:spPr>
          <a:xfrm>
            <a:off x="411480" y="4745736"/>
            <a:ext cx="3840480" cy="164592"/>
          </a:xfrm>
          <a:prstGeom prst="rect">
            <a:avLst/>
          </a:prstGeom>
          <a:noFill/>
          <a:ln/>
        </p:spPr>
        <p:txBody>
          <a:bodyPr wrap="square" rtlCol="0" anchor="b"/>
          <a:lstStyle/>
          <a:p>
            <a:pPr marL="0" indent="0">
              <a:buNone/>
            </a:pPr>
            <a:r>
              <a:rPr lang="en-US" sz="800" b="1" i="1" dirty="0">
                <a:solidFill>
                  <a:srgbClr val="C9933A"/>
                </a:solidFill>
                <a:latin typeface="Calibri" pitchFamily="34" charset="0"/>
                <a:ea typeface="Calibri" pitchFamily="34" charset="-122"/>
                <a:cs typeface="Calibri" pitchFamily="34" charset="-120"/>
              </a:rPr>
              <a:t>Project 05</a:t>
            </a:r>
            <a:endParaRPr lang="en-US" sz="800" dirty="0"/>
          </a:p>
        </p:txBody>
      </p:sp>
      <p:sp>
        <p:nvSpPr>
          <p:cNvPr id="25" name="Shape 23"/>
          <p:cNvSpPr/>
          <p:nvPr/>
        </p:nvSpPr>
        <p:spPr>
          <a:xfrm>
            <a:off x="4709160" y="1143000"/>
            <a:ext cx="4251960" cy="877824"/>
          </a:xfrm>
          <a:prstGeom prst="rect">
            <a:avLst/>
          </a:prstGeom>
          <a:solidFill>
            <a:srgbClr val="F5F3EF"/>
          </a:solidFill>
          <a:ln w="12700">
            <a:solidFill>
              <a:srgbClr val="E0D9CE"/>
            </a:solidFill>
            <a:prstDash val="solid"/>
          </a:ln>
        </p:spPr>
        <p:txBody>
          <a:bodyPr/>
          <a:lstStyle/>
          <a:p>
            <a:endParaRPr lang="en-US"/>
          </a:p>
        </p:txBody>
      </p:sp>
      <p:sp>
        <p:nvSpPr>
          <p:cNvPr id="26" name="Shape 24"/>
          <p:cNvSpPr/>
          <p:nvPr/>
        </p:nvSpPr>
        <p:spPr>
          <a:xfrm>
            <a:off x="4709160" y="1143000"/>
            <a:ext cx="45720" cy="877824"/>
          </a:xfrm>
          <a:prstGeom prst="rect">
            <a:avLst/>
          </a:prstGeom>
          <a:solidFill>
            <a:srgbClr val="C9933A"/>
          </a:solidFill>
          <a:ln/>
        </p:spPr>
        <p:txBody>
          <a:bodyPr/>
          <a:lstStyle/>
          <a:p>
            <a:endParaRPr lang="en-US"/>
          </a:p>
        </p:txBody>
      </p:sp>
      <p:sp>
        <p:nvSpPr>
          <p:cNvPr id="27" name="Text 25"/>
          <p:cNvSpPr/>
          <p:nvPr/>
        </p:nvSpPr>
        <p:spPr>
          <a:xfrm>
            <a:off x="4846320" y="1197864"/>
            <a:ext cx="3840480" cy="237744"/>
          </a:xfrm>
          <a:prstGeom prst="rect">
            <a:avLst/>
          </a:prstGeom>
          <a:noFill/>
          <a:ln/>
        </p:spPr>
        <p:txBody>
          <a:bodyPr wrap="square" rtlCol="0" anchor="t"/>
          <a:lstStyle/>
          <a:p>
            <a:pPr marL="0" indent="0">
              <a:buNone/>
            </a:pPr>
            <a:r>
              <a:rPr lang="en-US" sz="1100" b="1" dirty="0">
                <a:solidFill>
                  <a:srgbClr val="0F1F3D"/>
                </a:solidFill>
                <a:latin typeface="Calibri" pitchFamily="34" charset="0"/>
                <a:ea typeface="Calibri" pitchFamily="34" charset="-122"/>
                <a:cs typeface="Calibri" pitchFamily="34" charset="-120"/>
              </a:rPr>
              <a:t>Deep Learning</a:t>
            </a:r>
            <a:endParaRPr lang="en-US" sz="1100" dirty="0"/>
          </a:p>
        </p:txBody>
      </p:sp>
      <p:sp>
        <p:nvSpPr>
          <p:cNvPr id="28" name="Text 26"/>
          <p:cNvSpPr/>
          <p:nvPr/>
        </p:nvSpPr>
        <p:spPr>
          <a:xfrm>
            <a:off x="4846320" y="1435608"/>
            <a:ext cx="3840480" cy="402336"/>
          </a:xfrm>
          <a:prstGeom prst="rect">
            <a:avLst/>
          </a:prstGeom>
          <a:noFill/>
          <a:ln/>
        </p:spPr>
        <p:txBody>
          <a:bodyPr wrap="square" rtlCol="0" anchor="t"/>
          <a:lstStyle/>
          <a:p>
            <a:pPr marL="0" indent="0">
              <a:lnSpc>
                <a:spcPct val="120000"/>
              </a:lnSpc>
              <a:buNone/>
            </a:pPr>
            <a:r>
              <a:rPr lang="en-US" sz="900" dirty="0">
                <a:solidFill>
                  <a:srgbClr val="1A1612"/>
                </a:solidFill>
                <a:latin typeface="Calibri" pitchFamily="34" charset="0"/>
                <a:ea typeface="Calibri" pitchFamily="34" charset="-122"/>
                <a:cs typeface="Calibri" pitchFamily="34" charset="-120"/>
              </a:rPr>
              <a:t>TensorFlow / Keras  ·  MobileNetV2 (transfer learning)  ·  CNNs  ·  Autoencoders  ·  Anomaly detection</a:t>
            </a:r>
            <a:endParaRPr lang="en-US" sz="900" dirty="0"/>
          </a:p>
        </p:txBody>
      </p:sp>
      <p:sp>
        <p:nvSpPr>
          <p:cNvPr id="29" name="Text 27"/>
          <p:cNvSpPr/>
          <p:nvPr/>
        </p:nvSpPr>
        <p:spPr>
          <a:xfrm>
            <a:off x="4846320" y="1837944"/>
            <a:ext cx="3840480" cy="164592"/>
          </a:xfrm>
          <a:prstGeom prst="rect">
            <a:avLst/>
          </a:prstGeom>
          <a:noFill/>
          <a:ln/>
        </p:spPr>
        <p:txBody>
          <a:bodyPr wrap="square" rtlCol="0" anchor="b"/>
          <a:lstStyle/>
          <a:p>
            <a:pPr marL="0" indent="0">
              <a:buNone/>
            </a:pPr>
            <a:r>
              <a:rPr lang="en-US" sz="800" b="1" i="1" dirty="0">
                <a:solidFill>
                  <a:srgbClr val="C9933A"/>
                </a:solidFill>
                <a:latin typeface="Calibri" pitchFamily="34" charset="0"/>
                <a:ea typeface="Calibri" pitchFamily="34" charset="-122"/>
                <a:cs typeface="Calibri" pitchFamily="34" charset="-120"/>
              </a:rPr>
              <a:t>Project 06</a:t>
            </a:r>
            <a:endParaRPr lang="en-US" sz="800" dirty="0"/>
          </a:p>
        </p:txBody>
      </p:sp>
      <p:sp>
        <p:nvSpPr>
          <p:cNvPr id="30" name="Shape 28"/>
          <p:cNvSpPr/>
          <p:nvPr/>
        </p:nvSpPr>
        <p:spPr>
          <a:xfrm>
            <a:off x="4709160" y="2112264"/>
            <a:ext cx="4251960" cy="877824"/>
          </a:xfrm>
          <a:prstGeom prst="rect">
            <a:avLst/>
          </a:prstGeom>
          <a:solidFill>
            <a:srgbClr val="F5F3EF"/>
          </a:solidFill>
          <a:ln w="12700">
            <a:solidFill>
              <a:srgbClr val="E0D9CE"/>
            </a:solidFill>
            <a:prstDash val="solid"/>
          </a:ln>
        </p:spPr>
        <p:txBody>
          <a:bodyPr/>
          <a:lstStyle/>
          <a:p>
            <a:endParaRPr lang="en-US"/>
          </a:p>
        </p:txBody>
      </p:sp>
      <p:sp>
        <p:nvSpPr>
          <p:cNvPr id="31" name="Shape 29"/>
          <p:cNvSpPr/>
          <p:nvPr/>
        </p:nvSpPr>
        <p:spPr>
          <a:xfrm>
            <a:off x="4709160" y="2112264"/>
            <a:ext cx="45720" cy="877824"/>
          </a:xfrm>
          <a:prstGeom prst="rect">
            <a:avLst/>
          </a:prstGeom>
          <a:solidFill>
            <a:srgbClr val="C9933A"/>
          </a:solidFill>
          <a:ln/>
        </p:spPr>
        <p:txBody>
          <a:bodyPr/>
          <a:lstStyle/>
          <a:p>
            <a:endParaRPr lang="en-US"/>
          </a:p>
        </p:txBody>
      </p:sp>
      <p:sp>
        <p:nvSpPr>
          <p:cNvPr id="32" name="Text 30"/>
          <p:cNvSpPr/>
          <p:nvPr/>
        </p:nvSpPr>
        <p:spPr>
          <a:xfrm>
            <a:off x="4846320" y="2167128"/>
            <a:ext cx="3840480" cy="237744"/>
          </a:xfrm>
          <a:prstGeom prst="rect">
            <a:avLst/>
          </a:prstGeom>
          <a:noFill/>
          <a:ln/>
        </p:spPr>
        <p:txBody>
          <a:bodyPr wrap="square" rtlCol="0" anchor="t"/>
          <a:lstStyle/>
          <a:p>
            <a:pPr marL="0" indent="0">
              <a:buNone/>
            </a:pPr>
            <a:r>
              <a:rPr lang="en-US" sz="1100" b="1" dirty="0">
                <a:solidFill>
                  <a:srgbClr val="0F1F3D"/>
                </a:solidFill>
                <a:latin typeface="Calibri" pitchFamily="34" charset="0"/>
                <a:ea typeface="Calibri" pitchFamily="34" charset="-122"/>
                <a:cs typeface="Calibri" pitchFamily="34" charset="-120"/>
              </a:rPr>
              <a:t>Data Analysis &amp; Visualization</a:t>
            </a:r>
            <a:endParaRPr lang="en-US" sz="1100" dirty="0"/>
          </a:p>
        </p:txBody>
      </p:sp>
      <p:sp>
        <p:nvSpPr>
          <p:cNvPr id="33" name="Text 31"/>
          <p:cNvSpPr/>
          <p:nvPr/>
        </p:nvSpPr>
        <p:spPr>
          <a:xfrm>
            <a:off x="4846320" y="2404872"/>
            <a:ext cx="3840480" cy="402336"/>
          </a:xfrm>
          <a:prstGeom prst="rect">
            <a:avLst/>
          </a:prstGeom>
          <a:noFill/>
          <a:ln/>
        </p:spPr>
        <p:txBody>
          <a:bodyPr wrap="square" rtlCol="0" anchor="t"/>
          <a:lstStyle/>
          <a:p>
            <a:pPr marL="0" indent="0">
              <a:lnSpc>
                <a:spcPct val="120000"/>
              </a:lnSpc>
              <a:buNone/>
            </a:pPr>
            <a:r>
              <a:rPr lang="en-US" sz="900" dirty="0">
                <a:solidFill>
                  <a:srgbClr val="1A1612"/>
                </a:solidFill>
                <a:latin typeface="Calibri" pitchFamily="34" charset="0"/>
                <a:ea typeface="Calibri" pitchFamily="34" charset="-122"/>
                <a:cs typeface="Calibri" pitchFamily="34" charset="-120"/>
              </a:rPr>
              <a:t>Tableau &amp; Power BI  ·  matplotlib, seaborn, ggplot2  ·  ArcView / GIS  ·  Adobe Creative Suite  ·  Canva</a:t>
            </a:r>
            <a:endParaRPr lang="en-US" sz="900" dirty="0"/>
          </a:p>
        </p:txBody>
      </p:sp>
      <p:sp>
        <p:nvSpPr>
          <p:cNvPr id="34" name="Text 32"/>
          <p:cNvSpPr/>
          <p:nvPr/>
        </p:nvSpPr>
        <p:spPr>
          <a:xfrm>
            <a:off x="4846320" y="2807208"/>
            <a:ext cx="3840480" cy="164592"/>
          </a:xfrm>
          <a:prstGeom prst="rect">
            <a:avLst/>
          </a:prstGeom>
          <a:noFill/>
          <a:ln/>
        </p:spPr>
        <p:txBody>
          <a:bodyPr wrap="square" rtlCol="0" anchor="b"/>
          <a:lstStyle/>
          <a:p>
            <a:pPr marL="0" indent="0">
              <a:buNone/>
            </a:pPr>
            <a:r>
              <a:rPr lang="en-US" sz="800" b="1" i="1" dirty="0">
                <a:solidFill>
                  <a:srgbClr val="C9933A"/>
                </a:solidFill>
                <a:latin typeface="Calibri" pitchFamily="34" charset="0"/>
                <a:ea typeface="Calibri" pitchFamily="34" charset="-122"/>
                <a:cs typeface="Calibri" pitchFamily="34" charset="-120"/>
              </a:rPr>
              <a:t>All 7 projects</a:t>
            </a:r>
            <a:endParaRPr lang="en-US" sz="800" dirty="0"/>
          </a:p>
        </p:txBody>
      </p:sp>
      <p:sp>
        <p:nvSpPr>
          <p:cNvPr id="35" name="Shape 33"/>
          <p:cNvSpPr/>
          <p:nvPr/>
        </p:nvSpPr>
        <p:spPr>
          <a:xfrm>
            <a:off x="4709160" y="3081528"/>
            <a:ext cx="4251960" cy="877824"/>
          </a:xfrm>
          <a:prstGeom prst="rect">
            <a:avLst/>
          </a:prstGeom>
          <a:solidFill>
            <a:srgbClr val="F5F3EF"/>
          </a:solidFill>
          <a:ln w="12700">
            <a:solidFill>
              <a:srgbClr val="E0D9CE"/>
            </a:solidFill>
            <a:prstDash val="solid"/>
          </a:ln>
        </p:spPr>
        <p:txBody>
          <a:bodyPr/>
          <a:lstStyle/>
          <a:p>
            <a:endParaRPr lang="en-US"/>
          </a:p>
        </p:txBody>
      </p:sp>
      <p:sp>
        <p:nvSpPr>
          <p:cNvPr id="36" name="Shape 34"/>
          <p:cNvSpPr/>
          <p:nvPr/>
        </p:nvSpPr>
        <p:spPr>
          <a:xfrm>
            <a:off x="4709160" y="3081528"/>
            <a:ext cx="45720" cy="877824"/>
          </a:xfrm>
          <a:prstGeom prst="rect">
            <a:avLst/>
          </a:prstGeom>
          <a:solidFill>
            <a:srgbClr val="C9933A"/>
          </a:solidFill>
          <a:ln/>
        </p:spPr>
        <p:txBody>
          <a:bodyPr/>
          <a:lstStyle/>
          <a:p>
            <a:endParaRPr lang="en-US"/>
          </a:p>
        </p:txBody>
      </p:sp>
      <p:sp>
        <p:nvSpPr>
          <p:cNvPr id="37" name="Text 35"/>
          <p:cNvSpPr/>
          <p:nvPr/>
        </p:nvSpPr>
        <p:spPr>
          <a:xfrm>
            <a:off x="4846320" y="3136392"/>
            <a:ext cx="3840480" cy="237744"/>
          </a:xfrm>
          <a:prstGeom prst="rect">
            <a:avLst/>
          </a:prstGeom>
          <a:noFill/>
          <a:ln/>
        </p:spPr>
        <p:txBody>
          <a:bodyPr wrap="square" rtlCol="0" anchor="t"/>
          <a:lstStyle/>
          <a:p>
            <a:pPr marL="0" indent="0">
              <a:buNone/>
            </a:pPr>
            <a:r>
              <a:rPr lang="en-US" sz="1100" b="1" dirty="0">
                <a:solidFill>
                  <a:srgbClr val="0F1F3D"/>
                </a:solidFill>
                <a:latin typeface="Calibri" pitchFamily="34" charset="0"/>
                <a:ea typeface="Calibri" pitchFamily="34" charset="-122"/>
                <a:cs typeface="Calibri" pitchFamily="34" charset="-120"/>
              </a:rPr>
              <a:t>Student Analytics Platforms</a:t>
            </a:r>
            <a:endParaRPr lang="en-US" sz="1100" dirty="0"/>
          </a:p>
        </p:txBody>
      </p:sp>
      <p:sp>
        <p:nvSpPr>
          <p:cNvPr id="38" name="Text 36"/>
          <p:cNvSpPr/>
          <p:nvPr/>
        </p:nvSpPr>
        <p:spPr>
          <a:xfrm>
            <a:off x="4846320" y="3374136"/>
            <a:ext cx="3840480" cy="402336"/>
          </a:xfrm>
          <a:prstGeom prst="rect">
            <a:avLst/>
          </a:prstGeom>
          <a:noFill/>
          <a:ln/>
        </p:spPr>
        <p:txBody>
          <a:bodyPr wrap="square" rtlCol="0" anchor="t"/>
          <a:lstStyle/>
          <a:p>
            <a:pPr marL="0" indent="0">
              <a:lnSpc>
                <a:spcPct val="120000"/>
              </a:lnSpc>
              <a:buNone/>
            </a:pPr>
            <a:r>
              <a:rPr lang="en-US" sz="900" dirty="0">
                <a:solidFill>
                  <a:srgbClr val="1A1612"/>
                </a:solidFill>
                <a:latin typeface="Calibri" pitchFamily="34" charset="0"/>
                <a:ea typeface="Calibri" pitchFamily="34" charset="-122"/>
                <a:cs typeface="Calibri" pitchFamily="34" charset="-120"/>
              </a:rPr>
              <a:t>Navigate  ·  Orange Success  ·  ASPiRe  ·  Institutional data integration (Oracle DBMS, FAFSA, LMS)</a:t>
            </a:r>
            <a:endParaRPr lang="en-US" sz="900" dirty="0"/>
          </a:p>
        </p:txBody>
      </p:sp>
      <p:sp>
        <p:nvSpPr>
          <p:cNvPr id="39" name="Text 37"/>
          <p:cNvSpPr/>
          <p:nvPr/>
        </p:nvSpPr>
        <p:spPr>
          <a:xfrm>
            <a:off x="4846320" y="3776472"/>
            <a:ext cx="3840480" cy="164592"/>
          </a:xfrm>
          <a:prstGeom prst="rect">
            <a:avLst/>
          </a:prstGeom>
          <a:noFill/>
          <a:ln/>
        </p:spPr>
        <p:txBody>
          <a:bodyPr wrap="square" rtlCol="0" anchor="b"/>
          <a:lstStyle/>
          <a:p>
            <a:pPr marL="0" indent="0">
              <a:buNone/>
            </a:pPr>
            <a:r>
              <a:rPr lang="en-US" sz="800" b="1" i="1" dirty="0">
                <a:solidFill>
                  <a:srgbClr val="C9933A"/>
                </a:solidFill>
                <a:latin typeface="Calibri" pitchFamily="34" charset="0"/>
                <a:ea typeface="Calibri" pitchFamily="34" charset="-122"/>
                <a:cs typeface="Calibri" pitchFamily="34" charset="-120"/>
              </a:rPr>
              <a:t>Projects 01 &amp; 07</a:t>
            </a:r>
            <a:endParaRPr lang="en-US" sz="800" dirty="0"/>
          </a:p>
        </p:txBody>
      </p:sp>
      <p:sp>
        <p:nvSpPr>
          <p:cNvPr id="40" name="Shape 38"/>
          <p:cNvSpPr/>
          <p:nvPr/>
        </p:nvSpPr>
        <p:spPr>
          <a:xfrm>
            <a:off x="274320" y="4773168"/>
            <a:ext cx="8595360" cy="274320"/>
          </a:xfrm>
          <a:prstGeom prst="rect">
            <a:avLst/>
          </a:prstGeom>
          <a:solidFill>
            <a:srgbClr val="0F1F3D"/>
          </a:solidFill>
          <a:ln/>
        </p:spPr>
        <p:txBody>
          <a:bodyPr/>
          <a:lstStyle/>
          <a:p>
            <a:endParaRPr lang="en-US"/>
          </a:p>
        </p:txBody>
      </p:sp>
      <p:sp>
        <p:nvSpPr>
          <p:cNvPr id="41" name="Text 39"/>
          <p:cNvSpPr/>
          <p:nvPr/>
        </p:nvSpPr>
        <p:spPr>
          <a:xfrm>
            <a:off x="274320" y="4773168"/>
            <a:ext cx="8595360" cy="274320"/>
          </a:xfrm>
          <a:prstGeom prst="rect">
            <a:avLst/>
          </a:prstGeom>
          <a:noFill/>
          <a:ln/>
        </p:spPr>
        <p:txBody>
          <a:bodyPr wrap="square" rtlCol="0" anchor="ctr"/>
          <a:lstStyle/>
          <a:p>
            <a:pPr marL="0" indent="0" algn="ctr">
              <a:buNone/>
            </a:pPr>
            <a:r>
              <a:rPr lang="en-US" sz="900" dirty="0">
                <a:solidFill>
                  <a:srgbClr val="F0D9B0"/>
                </a:solidFill>
                <a:latin typeface="Calibri" pitchFamily="34" charset="0"/>
                <a:ea typeface="Calibri" pitchFamily="34" charset="-122"/>
                <a:cs typeface="Calibri" pitchFamily="34" charset="-120"/>
              </a:rPr>
              <a:t>Beyond the tools:  Translating findings for non-technical audiences  ·  Equity-centered analysis  ·  Bilingual: English &amp; Spanish  ·  Collaborative across disciplines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F3D"/>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228600"/>
          </a:xfrm>
          <a:prstGeom prst="rect">
            <a:avLst/>
          </a:prstGeom>
          <a:noFill/>
          <a:ln/>
        </p:spPr>
        <p:txBody>
          <a:bodyPr wrap="square" rtlCol="0" anchor="ctr"/>
          <a:lstStyle/>
          <a:p>
            <a:pPr marL="0" indent="0">
              <a:buNone/>
            </a:pPr>
            <a:r>
              <a:rPr lang="en-US" sz="900" b="1" kern="0" spc="400" dirty="0">
                <a:solidFill>
                  <a:srgbClr val="C9933A"/>
                </a:solidFill>
                <a:latin typeface="Calibri" pitchFamily="34" charset="0"/>
                <a:ea typeface="Calibri" pitchFamily="34" charset="-122"/>
                <a:cs typeface="Calibri" pitchFamily="34" charset="-120"/>
              </a:rPr>
              <a:t>PORTFOLIO</a:t>
            </a:r>
            <a:endParaRPr lang="en-US" sz="900" dirty="0"/>
          </a:p>
        </p:txBody>
      </p:sp>
      <p:sp>
        <p:nvSpPr>
          <p:cNvPr id="3" name="Text 1"/>
          <p:cNvSpPr/>
          <p:nvPr/>
        </p:nvSpPr>
        <p:spPr>
          <a:xfrm>
            <a:off x="457200" y="457200"/>
            <a:ext cx="8229600" cy="594360"/>
          </a:xfrm>
          <a:prstGeom prst="rect">
            <a:avLst/>
          </a:prstGeom>
          <a:noFill/>
          <a:ln/>
        </p:spPr>
        <p:txBody>
          <a:bodyPr wrap="square" rtlCol="0" anchor="ctr"/>
          <a:lstStyle/>
          <a:p>
            <a:pPr marL="0" indent="0">
              <a:buNone/>
            </a:pPr>
            <a:r>
              <a:rPr lang="en-US" sz="3200" dirty="0">
                <a:solidFill>
                  <a:srgbClr val="FFFFFF"/>
                </a:solidFill>
                <a:latin typeface="Georgia" pitchFamily="34" charset="0"/>
                <a:ea typeface="Georgia" pitchFamily="34" charset="-122"/>
                <a:cs typeface="Georgia" pitchFamily="34" charset="-120"/>
              </a:rPr>
              <a:t>7 Projects. 3 Spotlights.</a:t>
            </a:r>
            <a:endParaRPr lang="en-US" sz="3200" dirty="0"/>
          </a:p>
        </p:txBody>
      </p:sp>
      <p:sp>
        <p:nvSpPr>
          <p:cNvPr id="4" name="Shape 2"/>
          <p:cNvSpPr/>
          <p:nvPr/>
        </p:nvSpPr>
        <p:spPr>
          <a:xfrm>
            <a:off x="274320" y="1234440"/>
            <a:ext cx="4114800" cy="749808"/>
          </a:xfrm>
          <a:prstGeom prst="rect">
            <a:avLst/>
          </a:prstGeom>
          <a:solidFill>
            <a:srgbClr val="1E3A5F"/>
          </a:solidFill>
          <a:ln w="12700">
            <a:solidFill>
              <a:srgbClr val="2A4A70"/>
            </a:solidFill>
            <a:prstDash val="solid"/>
          </a:ln>
        </p:spPr>
        <p:txBody>
          <a:bodyPr/>
          <a:lstStyle/>
          <a:p>
            <a:endParaRPr lang="en-US"/>
          </a:p>
        </p:txBody>
      </p:sp>
      <p:sp>
        <p:nvSpPr>
          <p:cNvPr id="5" name="Shape 3"/>
          <p:cNvSpPr/>
          <p:nvPr/>
        </p:nvSpPr>
        <p:spPr>
          <a:xfrm>
            <a:off x="274320" y="1234440"/>
            <a:ext cx="54864" cy="749808"/>
          </a:xfrm>
          <a:prstGeom prst="rect">
            <a:avLst/>
          </a:prstGeom>
          <a:solidFill>
            <a:srgbClr val="C9933A"/>
          </a:solidFill>
          <a:ln/>
        </p:spPr>
        <p:txBody>
          <a:bodyPr/>
          <a:lstStyle/>
          <a:p>
            <a:endParaRPr lang="en-US"/>
          </a:p>
        </p:txBody>
      </p:sp>
      <p:sp>
        <p:nvSpPr>
          <p:cNvPr id="6" name="Text 4"/>
          <p:cNvSpPr/>
          <p:nvPr/>
        </p:nvSpPr>
        <p:spPr>
          <a:xfrm>
            <a:off x="384048" y="1307592"/>
            <a:ext cx="502920" cy="594360"/>
          </a:xfrm>
          <a:prstGeom prst="rect">
            <a:avLst/>
          </a:prstGeom>
          <a:noFill/>
          <a:ln/>
        </p:spPr>
        <p:txBody>
          <a:bodyPr wrap="square" rtlCol="0" anchor="ctr"/>
          <a:lstStyle/>
          <a:p>
            <a:pPr marL="0" indent="0">
              <a:buNone/>
            </a:pPr>
            <a:r>
              <a:rPr lang="en-US" sz="1800" b="1" dirty="0">
                <a:solidFill>
                  <a:srgbClr val="C9933A"/>
                </a:solidFill>
                <a:latin typeface="Calibri" pitchFamily="34" charset="0"/>
                <a:ea typeface="Calibri" pitchFamily="34" charset="-122"/>
                <a:cs typeface="Calibri" pitchFamily="34" charset="-120"/>
              </a:rPr>
              <a:t>01</a:t>
            </a:r>
            <a:endParaRPr lang="en-US" sz="1800" dirty="0"/>
          </a:p>
        </p:txBody>
      </p:sp>
      <p:sp>
        <p:nvSpPr>
          <p:cNvPr id="7" name="Text 5"/>
          <p:cNvSpPr/>
          <p:nvPr/>
        </p:nvSpPr>
        <p:spPr>
          <a:xfrm>
            <a:off x="932688" y="1307592"/>
            <a:ext cx="3291840" cy="329184"/>
          </a:xfrm>
          <a:prstGeom prst="rect">
            <a:avLst/>
          </a:prstGeom>
          <a:noFill/>
          <a:ln/>
        </p:spPr>
        <p:txBody>
          <a:bodyPr wrap="square" rtlCol="0" anchor="b"/>
          <a:lstStyle/>
          <a:p>
            <a:pPr marL="0" indent="0">
              <a:buNone/>
            </a:pPr>
            <a:r>
              <a:rPr lang="en-US" sz="1300" b="1" dirty="0">
                <a:solidFill>
                  <a:srgbClr val="FFFFFF"/>
                </a:solidFill>
                <a:latin typeface="Calibri" pitchFamily="34" charset="0"/>
                <a:ea typeface="Calibri" pitchFamily="34" charset="-122"/>
                <a:cs typeface="Calibri" pitchFamily="34" charset="-120"/>
              </a:rPr>
              <a:t>ECS Probation Database</a:t>
            </a:r>
            <a:endParaRPr lang="en-US" sz="1300" dirty="0"/>
          </a:p>
        </p:txBody>
      </p:sp>
      <p:sp>
        <p:nvSpPr>
          <p:cNvPr id="8" name="Text 6"/>
          <p:cNvSpPr/>
          <p:nvPr/>
        </p:nvSpPr>
        <p:spPr>
          <a:xfrm>
            <a:off x="932688" y="1636776"/>
            <a:ext cx="3291840" cy="237744"/>
          </a:xfrm>
          <a:prstGeom prst="rect">
            <a:avLst/>
          </a:prstGeom>
          <a:noFill/>
          <a:ln/>
        </p:spPr>
        <p:txBody>
          <a:bodyPr wrap="square" rtlCol="0" anchor="t"/>
          <a:lstStyle/>
          <a:p>
            <a:pPr marL="0" indent="0">
              <a:buNone/>
            </a:pPr>
            <a:r>
              <a:rPr lang="en-US" sz="1000" dirty="0">
                <a:solidFill>
                  <a:srgbClr val="8899BB"/>
                </a:solidFill>
                <a:latin typeface="Calibri" pitchFamily="34" charset="0"/>
                <a:ea typeface="Calibri" pitchFamily="34" charset="-122"/>
                <a:cs typeface="Calibri" pitchFamily="34" charset="-120"/>
              </a:rPr>
              <a:t>Database Administration</a:t>
            </a:r>
            <a:endParaRPr lang="en-US" sz="1000" dirty="0"/>
          </a:p>
        </p:txBody>
      </p:sp>
      <p:sp>
        <p:nvSpPr>
          <p:cNvPr id="9" name="Text 7"/>
          <p:cNvSpPr/>
          <p:nvPr/>
        </p:nvSpPr>
        <p:spPr>
          <a:xfrm>
            <a:off x="3383280" y="1307592"/>
            <a:ext cx="914400" cy="201168"/>
          </a:xfrm>
          <a:prstGeom prst="rect">
            <a:avLst/>
          </a:prstGeom>
          <a:noFill/>
          <a:ln/>
        </p:spPr>
        <p:txBody>
          <a:bodyPr wrap="square" rtlCol="0" anchor="ctr"/>
          <a:lstStyle/>
          <a:p>
            <a:pPr marL="0" indent="0" algn="r">
              <a:buNone/>
            </a:pPr>
            <a:r>
              <a:rPr lang="en-US" sz="700" b="1" kern="0" spc="100" dirty="0">
                <a:solidFill>
                  <a:srgbClr val="C9933A"/>
                </a:solidFill>
                <a:latin typeface="Calibri" pitchFamily="34" charset="0"/>
                <a:ea typeface="Calibri" pitchFamily="34" charset="-122"/>
                <a:cs typeface="Calibri" pitchFamily="34" charset="-120"/>
              </a:rPr>
              <a:t>SPOTLIGHT</a:t>
            </a:r>
            <a:endParaRPr lang="en-US" sz="700" dirty="0"/>
          </a:p>
        </p:txBody>
      </p:sp>
      <p:sp>
        <p:nvSpPr>
          <p:cNvPr id="10" name="Shape 8"/>
          <p:cNvSpPr/>
          <p:nvPr/>
        </p:nvSpPr>
        <p:spPr>
          <a:xfrm>
            <a:off x="274320" y="2112264"/>
            <a:ext cx="4114800" cy="749808"/>
          </a:xfrm>
          <a:prstGeom prst="rect">
            <a:avLst/>
          </a:prstGeom>
          <a:solidFill>
            <a:srgbClr val="1E3A5F"/>
          </a:solidFill>
          <a:ln w="12700">
            <a:solidFill>
              <a:srgbClr val="2A4A70"/>
            </a:solidFill>
            <a:prstDash val="solid"/>
          </a:ln>
        </p:spPr>
        <p:txBody>
          <a:bodyPr/>
          <a:lstStyle/>
          <a:p>
            <a:endParaRPr lang="en-US"/>
          </a:p>
        </p:txBody>
      </p:sp>
      <p:sp>
        <p:nvSpPr>
          <p:cNvPr id="11" name="Shape 9"/>
          <p:cNvSpPr/>
          <p:nvPr/>
        </p:nvSpPr>
        <p:spPr>
          <a:xfrm>
            <a:off x="274320" y="2112264"/>
            <a:ext cx="54864" cy="749808"/>
          </a:xfrm>
          <a:prstGeom prst="rect">
            <a:avLst/>
          </a:prstGeom>
          <a:solidFill>
            <a:srgbClr val="C9933A"/>
          </a:solidFill>
          <a:ln/>
        </p:spPr>
        <p:txBody>
          <a:bodyPr/>
          <a:lstStyle/>
          <a:p>
            <a:endParaRPr lang="en-US"/>
          </a:p>
        </p:txBody>
      </p:sp>
      <p:sp>
        <p:nvSpPr>
          <p:cNvPr id="12" name="Text 10"/>
          <p:cNvSpPr/>
          <p:nvPr/>
        </p:nvSpPr>
        <p:spPr>
          <a:xfrm>
            <a:off x="384048" y="2185416"/>
            <a:ext cx="502920" cy="594360"/>
          </a:xfrm>
          <a:prstGeom prst="rect">
            <a:avLst/>
          </a:prstGeom>
          <a:noFill/>
          <a:ln/>
        </p:spPr>
        <p:txBody>
          <a:bodyPr wrap="square" rtlCol="0" anchor="ctr"/>
          <a:lstStyle/>
          <a:p>
            <a:pPr marL="0" indent="0">
              <a:buNone/>
            </a:pPr>
            <a:r>
              <a:rPr lang="en-US" sz="1800" b="1" dirty="0">
                <a:solidFill>
                  <a:srgbClr val="C9933A"/>
                </a:solidFill>
                <a:latin typeface="Calibri" pitchFamily="34" charset="0"/>
                <a:ea typeface="Calibri" pitchFamily="34" charset="-122"/>
                <a:cs typeface="Calibri" pitchFamily="34" charset="-120"/>
              </a:rPr>
              <a:t>02</a:t>
            </a:r>
            <a:endParaRPr lang="en-US" sz="1800" dirty="0"/>
          </a:p>
        </p:txBody>
      </p:sp>
      <p:sp>
        <p:nvSpPr>
          <p:cNvPr id="13" name="Text 11"/>
          <p:cNvSpPr/>
          <p:nvPr/>
        </p:nvSpPr>
        <p:spPr>
          <a:xfrm>
            <a:off x="932688" y="2185416"/>
            <a:ext cx="3291840" cy="329184"/>
          </a:xfrm>
          <a:prstGeom prst="rect">
            <a:avLst/>
          </a:prstGeom>
          <a:noFill/>
          <a:ln/>
        </p:spPr>
        <p:txBody>
          <a:bodyPr wrap="square" rtlCol="0" anchor="b"/>
          <a:lstStyle/>
          <a:p>
            <a:pPr marL="0" indent="0">
              <a:buNone/>
            </a:pPr>
            <a:r>
              <a:rPr lang="en-US" sz="1300" b="1" dirty="0">
                <a:solidFill>
                  <a:srgbClr val="FFFFFF"/>
                </a:solidFill>
                <a:latin typeface="Calibri" pitchFamily="34" charset="0"/>
                <a:ea typeface="Calibri" pitchFamily="34" charset="-122"/>
                <a:cs typeface="Calibri" pitchFamily="34" charset="-120"/>
              </a:rPr>
              <a:t>NLP Workshop Feedback</a:t>
            </a:r>
            <a:endParaRPr lang="en-US" sz="1300" dirty="0"/>
          </a:p>
        </p:txBody>
      </p:sp>
      <p:sp>
        <p:nvSpPr>
          <p:cNvPr id="14" name="Text 12"/>
          <p:cNvSpPr/>
          <p:nvPr/>
        </p:nvSpPr>
        <p:spPr>
          <a:xfrm>
            <a:off x="932688" y="2514600"/>
            <a:ext cx="3291840" cy="237744"/>
          </a:xfrm>
          <a:prstGeom prst="rect">
            <a:avLst/>
          </a:prstGeom>
          <a:noFill/>
          <a:ln/>
        </p:spPr>
        <p:txBody>
          <a:bodyPr wrap="square" rtlCol="0" anchor="t"/>
          <a:lstStyle/>
          <a:p>
            <a:pPr marL="0" indent="0">
              <a:buNone/>
            </a:pPr>
            <a:r>
              <a:rPr lang="en-US" sz="1000" dirty="0">
                <a:solidFill>
                  <a:srgbClr val="8899BB"/>
                </a:solidFill>
                <a:latin typeface="Calibri" pitchFamily="34" charset="0"/>
                <a:ea typeface="Calibri" pitchFamily="34" charset="-122"/>
                <a:cs typeface="Calibri" pitchFamily="34" charset="-120"/>
              </a:rPr>
              <a:t>Text Mining / NLP</a:t>
            </a:r>
            <a:endParaRPr lang="en-US" sz="1000" dirty="0"/>
          </a:p>
        </p:txBody>
      </p:sp>
      <p:sp>
        <p:nvSpPr>
          <p:cNvPr id="15" name="Text 13"/>
          <p:cNvSpPr/>
          <p:nvPr/>
        </p:nvSpPr>
        <p:spPr>
          <a:xfrm>
            <a:off x="3383280" y="2185416"/>
            <a:ext cx="914400" cy="201168"/>
          </a:xfrm>
          <a:prstGeom prst="rect">
            <a:avLst/>
          </a:prstGeom>
          <a:noFill/>
          <a:ln/>
        </p:spPr>
        <p:txBody>
          <a:bodyPr wrap="square" rtlCol="0" anchor="ctr"/>
          <a:lstStyle/>
          <a:p>
            <a:pPr marL="0" indent="0" algn="r">
              <a:buNone/>
            </a:pPr>
            <a:r>
              <a:rPr lang="en-US" sz="700" b="1" kern="0" spc="100" dirty="0">
                <a:solidFill>
                  <a:srgbClr val="C9933A"/>
                </a:solidFill>
                <a:latin typeface="Calibri" pitchFamily="34" charset="0"/>
                <a:ea typeface="Calibri" pitchFamily="34" charset="-122"/>
                <a:cs typeface="Calibri" pitchFamily="34" charset="-120"/>
              </a:rPr>
              <a:t>SPOTLIGHT</a:t>
            </a:r>
            <a:endParaRPr lang="en-US" sz="700" dirty="0"/>
          </a:p>
        </p:txBody>
      </p:sp>
      <p:sp>
        <p:nvSpPr>
          <p:cNvPr id="16" name="Shape 14"/>
          <p:cNvSpPr/>
          <p:nvPr/>
        </p:nvSpPr>
        <p:spPr>
          <a:xfrm>
            <a:off x="274320" y="2990088"/>
            <a:ext cx="4114800" cy="749808"/>
          </a:xfrm>
          <a:prstGeom prst="rect">
            <a:avLst/>
          </a:prstGeom>
          <a:solidFill>
            <a:srgbClr val="162236"/>
          </a:solidFill>
          <a:ln w="12700">
            <a:solidFill>
              <a:srgbClr val="1A2A3A"/>
            </a:solidFill>
            <a:prstDash val="solid"/>
          </a:ln>
        </p:spPr>
        <p:txBody>
          <a:bodyPr/>
          <a:lstStyle/>
          <a:p>
            <a:endParaRPr lang="en-US"/>
          </a:p>
        </p:txBody>
      </p:sp>
      <p:sp>
        <p:nvSpPr>
          <p:cNvPr id="17" name="Text 15"/>
          <p:cNvSpPr/>
          <p:nvPr/>
        </p:nvSpPr>
        <p:spPr>
          <a:xfrm>
            <a:off x="384048" y="3063240"/>
            <a:ext cx="502920" cy="594360"/>
          </a:xfrm>
          <a:prstGeom prst="rect">
            <a:avLst/>
          </a:prstGeom>
          <a:noFill/>
          <a:ln/>
        </p:spPr>
        <p:txBody>
          <a:bodyPr wrap="square" rtlCol="0" anchor="ctr"/>
          <a:lstStyle/>
          <a:p>
            <a:pPr marL="0" indent="0">
              <a:buNone/>
            </a:pPr>
            <a:r>
              <a:rPr lang="en-US" sz="1800" b="1" dirty="0">
                <a:solidFill>
                  <a:srgbClr val="445566"/>
                </a:solidFill>
                <a:latin typeface="Calibri" pitchFamily="34" charset="0"/>
                <a:ea typeface="Calibri" pitchFamily="34" charset="-122"/>
                <a:cs typeface="Calibri" pitchFamily="34" charset="-120"/>
              </a:rPr>
              <a:t>03</a:t>
            </a:r>
            <a:endParaRPr lang="en-US" sz="1800" dirty="0"/>
          </a:p>
        </p:txBody>
      </p:sp>
      <p:sp>
        <p:nvSpPr>
          <p:cNvPr id="18" name="Text 16"/>
          <p:cNvSpPr/>
          <p:nvPr/>
        </p:nvSpPr>
        <p:spPr>
          <a:xfrm>
            <a:off x="932688" y="3063240"/>
            <a:ext cx="3291840" cy="329184"/>
          </a:xfrm>
          <a:prstGeom prst="rect">
            <a:avLst/>
          </a:prstGeom>
          <a:noFill/>
          <a:ln/>
        </p:spPr>
        <p:txBody>
          <a:bodyPr wrap="square" rtlCol="0" anchor="b"/>
          <a:lstStyle/>
          <a:p>
            <a:pPr marL="0" indent="0">
              <a:buNone/>
            </a:pPr>
            <a:r>
              <a:rPr lang="en-US" sz="1300" dirty="0">
                <a:solidFill>
                  <a:srgbClr val="556677"/>
                </a:solidFill>
                <a:latin typeface="Calibri" pitchFamily="34" charset="0"/>
                <a:ea typeface="Calibri" pitchFamily="34" charset="-122"/>
                <a:cs typeface="Calibri" pitchFamily="34" charset="-120"/>
              </a:rPr>
              <a:t>EV Adoption &amp; CO₂ Emissions</a:t>
            </a:r>
            <a:endParaRPr lang="en-US" sz="1300" dirty="0"/>
          </a:p>
        </p:txBody>
      </p:sp>
      <p:sp>
        <p:nvSpPr>
          <p:cNvPr id="19" name="Text 17"/>
          <p:cNvSpPr/>
          <p:nvPr/>
        </p:nvSpPr>
        <p:spPr>
          <a:xfrm>
            <a:off x="932688" y="3392424"/>
            <a:ext cx="3291840" cy="237744"/>
          </a:xfrm>
          <a:prstGeom prst="rect">
            <a:avLst/>
          </a:prstGeom>
          <a:noFill/>
          <a:ln/>
        </p:spPr>
        <p:txBody>
          <a:bodyPr wrap="square" rtlCol="0" anchor="t"/>
          <a:lstStyle/>
          <a:p>
            <a:pPr marL="0" indent="0">
              <a:buNone/>
            </a:pPr>
            <a:r>
              <a:rPr lang="en-US" sz="1000" dirty="0">
                <a:solidFill>
                  <a:srgbClr val="445566"/>
                </a:solidFill>
                <a:latin typeface="Calibri" pitchFamily="34" charset="0"/>
                <a:ea typeface="Calibri" pitchFamily="34" charset="-122"/>
                <a:cs typeface="Calibri" pitchFamily="34" charset="-120"/>
              </a:rPr>
              <a:t>Global Data Science</a:t>
            </a:r>
            <a:endParaRPr lang="en-US" sz="1000" dirty="0"/>
          </a:p>
        </p:txBody>
      </p:sp>
      <p:sp>
        <p:nvSpPr>
          <p:cNvPr id="20" name="Shape 18"/>
          <p:cNvSpPr/>
          <p:nvPr/>
        </p:nvSpPr>
        <p:spPr>
          <a:xfrm>
            <a:off x="274320" y="3867912"/>
            <a:ext cx="4114800" cy="749808"/>
          </a:xfrm>
          <a:prstGeom prst="rect">
            <a:avLst/>
          </a:prstGeom>
          <a:solidFill>
            <a:srgbClr val="1E3A5F"/>
          </a:solidFill>
          <a:ln w="12700">
            <a:solidFill>
              <a:srgbClr val="2A4A70"/>
            </a:solidFill>
            <a:prstDash val="solid"/>
          </a:ln>
        </p:spPr>
        <p:txBody>
          <a:bodyPr/>
          <a:lstStyle/>
          <a:p>
            <a:endParaRPr lang="en-US"/>
          </a:p>
        </p:txBody>
      </p:sp>
      <p:sp>
        <p:nvSpPr>
          <p:cNvPr id="21" name="Shape 19"/>
          <p:cNvSpPr/>
          <p:nvPr/>
        </p:nvSpPr>
        <p:spPr>
          <a:xfrm>
            <a:off x="274320" y="3867912"/>
            <a:ext cx="54864" cy="749808"/>
          </a:xfrm>
          <a:prstGeom prst="rect">
            <a:avLst/>
          </a:prstGeom>
          <a:solidFill>
            <a:srgbClr val="C9933A"/>
          </a:solidFill>
          <a:ln/>
        </p:spPr>
        <p:txBody>
          <a:bodyPr/>
          <a:lstStyle/>
          <a:p>
            <a:endParaRPr lang="en-US"/>
          </a:p>
        </p:txBody>
      </p:sp>
      <p:sp>
        <p:nvSpPr>
          <p:cNvPr id="22" name="Text 20"/>
          <p:cNvSpPr/>
          <p:nvPr/>
        </p:nvSpPr>
        <p:spPr>
          <a:xfrm>
            <a:off x="384048" y="3941064"/>
            <a:ext cx="502920" cy="594360"/>
          </a:xfrm>
          <a:prstGeom prst="rect">
            <a:avLst/>
          </a:prstGeom>
          <a:noFill/>
          <a:ln/>
        </p:spPr>
        <p:txBody>
          <a:bodyPr wrap="square" rtlCol="0" anchor="ctr"/>
          <a:lstStyle/>
          <a:p>
            <a:pPr marL="0" indent="0">
              <a:buNone/>
            </a:pPr>
            <a:r>
              <a:rPr lang="en-US" sz="1800" b="1" dirty="0">
                <a:solidFill>
                  <a:srgbClr val="C9933A"/>
                </a:solidFill>
                <a:latin typeface="Calibri" pitchFamily="34" charset="0"/>
                <a:ea typeface="Calibri" pitchFamily="34" charset="-122"/>
                <a:cs typeface="Calibri" pitchFamily="34" charset="-120"/>
              </a:rPr>
              <a:t>04</a:t>
            </a:r>
            <a:endParaRPr lang="en-US" sz="1800" dirty="0"/>
          </a:p>
        </p:txBody>
      </p:sp>
      <p:sp>
        <p:nvSpPr>
          <p:cNvPr id="23" name="Text 21"/>
          <p:cNvSpPr/>
          <p:nvPr/>
        </p:nvSpPr>
        <p:spPr>
          <a:xfrm>
            <a:off x="932688" y="3941064"/>
            <a:ext cx="3291840" cy="329184"/>
          </a:xfrm>
          <a:prstGeom prst="rect">
            <a:avLst/>
          </a:prstGeom>
          <a:noFill/>
          <a:ln/>
        </p:spPr>
        <p:txBody>
          <a:bodyPr wrap="square" rtlCol="0" anchor="b"/>
          <a:lstStyle/>
          <a:p>
            <a:pPr marL="0" indent="0">
              <a:buNone/>
            </a:pPr>
            <a:r>
              <a:rPr lang="en-US" sz="1300" b="1" dirty="0">
                <a:solidFill>
                  <a:srgbClr val="FFFFFF"/>
                </a:solidFill>
                <a:latin typeface="Calibri" pitchFamily="34" charset="0"/>
                <a:ea typeface="Calibri" pitchFamily="34" charset="-122"/>
                <a:cs typeface="Calibri" pitchFamily="34" charset="-120"/>
              </a:rPr>
              <a:t>Student Performance Prediction</a:t>
            </a:r>
            <a:endParaRPr lang="en-US" sz="1300" dirty="0"/>
          </a:p>
        </p:txBody>
      </p:sp>
      <p:sp>
        <p:nvSpPr>
          <p:cNvPr id="24" name="Text 22"/>
          <p:cNvSpPr/>
          <p:nvPr/>
        </p:nvSpPr>
        <p:spPr>
          <a:xfrm>
            <a:off x="932688" y="4270248"/>
            <a:ext cx="3291840" cy="237744"/>
          </a:xfrm>
          <a:prstGeom prst="rect">
            <a:avLst/>
          </a:prstGeom>
          <a:noFill/>
          <a:ln/>
        </p:spPr>
        <p:txBody>
          <a:bodyPr wrap="square" rtlCol="0" anchor="t"/>
          <a:lstStyle/>
          <a:p>
            <a:pPr marL="0" indent="0">
              <a:buNone/>
            </a:pPr>
            <a:r>
              <a:rPr lang="en-US" sz="1000" dirty="0">
                <a:solidFill>
                  <a:srgbClr val="8899BB"/>
                </a:solidFill>
                <a:latin typeface="Calibri" pitchFamily="34" charset="0"/>
                <a:ea typeface="Calibri" pitchFamily="34" charset="-122"/>
                <a:cs typeface="Calibri" pitchFamily="34" charset="-120"/>
              </a:rPr>
              <a:t>Data Analytics / ML</a:t>
            </a:r>
            <a:endParaRPr lang="en-US" sz="1000" dirty="0"/>
          </a:p>
        </p:txBody>
      </p:sp>
      <p:sp>
        <p:nvSpPr>
          <p:cNvPr id="25" name="Text 23"/>
          <p:cNvSpPr/>
          <p:nvPr/>
        </p:nvSpPr>
        <p:spPr>
          <a:xfrm>
            <a:off x="3383280" y="3941064"/>
            <a:ext cx="914400" cy="201168"/>
          </a:xfrm>
          <a:prstGeom prst="rect">
            <a:avLst/>
          </a:prstGeom>
          <a:noFill/>
          <a:ln/>
        </p:spPr>
        <p:txBody>
          <a:bodyPr wrap="square" rtlCol="0" anchor="ctr"/>
          <a:lstStyle/>
          <a:p>
            <a:pPr marL="0" indent="0" algn="r">
              <a:buNone/>
            </a:pPr>
            <a:r>
              <a:rPr lang="en-US" sz="700" b="1" kern="0" spc="100" dirty="0">
                <a:solidFill>
                  <a:srgbClr val="C9933A"/>
                </a:solidFill>
                <a:latin typeface="Calibri" pitchFamily="34" charset="0"/>
                <a:ea typeface="Calibri" pitchFamily="34" charset="-122"/>
                <a:cs typeface="Calibri" pitchFamily="34" charset="-120"/>
              </a:rPr>
              <a:t>SPOTLIGHT</a:t>
            </a:r>
            <a:endParaRPr lang="en-US" sz="700" dirty="0"/>
          </a:p>
        </p:txBody>
      </p:sp>
      <p:sp>
        <p:nvSpPr>
          <p:cNvPr id="26" name="Shape 24"/>
          <p:cNvSpPr/>
          <p:nvPr/>
        </p:nvSpPr>
        <p:spPr>
          <a:xfrm>
            <a:off x="4663440" y="1234440"/>
            <a:ext cx="4114800" cy="749808"/>
          </a:xfrm>
          <a:prstGeom prst="rect">
            <a:avLst/>
          </a:prstGeom>
          <a:solidFill>
            <a:srgbClr val="162236"/>
          </a:solidFill>
          <a:ln w="12700">
            <a:solidFill>
              <a:srgbClr val="1A2A3A"/>
            </a:solidFill>
            <a:prstDash val="solid"/>
          </a:ln>
        </p:spPr>
        <p:txBody>
          <a:bodyPr/>
          <a:lstStyle/>
          <a:p>
            <a:endParaRPr lang="en-US"/>
          </a:p>
        </p:txBody>
      </p:sp>
      <p:sp>
        <p:nvSpPr>
          <p:cNvPr id="27" name="Text 25"/>
          <p:cNvSpPr/>
          <p:nvPr/>
        </p:nvSpPr>
        <p:spPr>
          <a:xfrm>
            <a:off x="4773168" y="1307592"/>
            <a:ext cx="502920" cy="594360"/>
          </a:xfrm>
          <a:prstGeom prst="rect">
            <a:avLst/>
          </a:prstGeom>
          <a:noFill/>
          <a:ln/>
        </p:spPr>
        <p:txBody>
          <a:bodyPr wrap="square" rtlCol="0" anchor="ctr"/>
          <a:lstStyle/>
          <a:p>
            <a:pPr marL="0" indent="0">
              <a:buNone/>
            </a:pPr>
            <a:r>
              <a:rPr lang="en-US" sz="1800" b="1" dirty="0">
                <a:solidFill>
                  <a:srgbClr val="445566"/>
                </a:solidFill>
                <a:latin typeface="Calibri" pitchFamily="34" charset="0"/>
                <a:ea typeface="Calibri" pitchFamily="34" charset="-122"/>
                <a:cs typeface="Calibri" pitchFamily="34" charset="-120"/>
              </a:rPr>
              <a:t>05</a:t>
            </a:r>
            <a:endParaRPr lang="en-US" sz="1800" dirty="0"/>
          </a:p>
        </p:txBody>
      </p:sp>
      <p:sp>
        <p:nvSpPr>
          <p:cNvPr id="28" name="Text 26"/>
          <p:cNvSpPr/>
          <p:nvPr/>
        </p:nvSpPr>
        <p:spPr>
          <a:xfrm>
            <a:off x="5321808" y="1307592"/>
            <a:ext cx="3291840" cy="329184"/>
          </a:xfrm>
          <a:prstGeom prst="rect">
            <a:avLst/>
          </a:prstGeom>
          <a:noFill/>
          <a:ln/>
        </p:spPr>
        <p:txBody>
          <a:bodyPr wrap="square" rtlCol="0" anchor="b"/>
          <a:lstStyle/>
          <a:p>
            <a:pPr marL="0" indent="0">
              <a:buNone/>
            </a:pPr>
            <a:r>
              <a:rPr lang="en-US" sz="1300" dirty="0">
                <a:solidFill>
                  <a:srgbClr val="556677"/>
                </a:solidFill>
                <a:latin typeface="Calibri" pitchFamily="34" charset="0"/>
                <a:ea typeface="Calibri" pitchFamily="34" charset="-122"/>
                <a:cs typeface="Calibri" pitchFamily="34" charset="-120"/>
              </a:rPr>
              <a:t>Thyroid Cancer Risk</a:t>
            </a:r>
            <a:endParaRPr lang="en-US" sz="1300" dirty="0"/>
          </a:p>
        </p:txBody>
      </p:sp>
      <p:sp>
        <p:nvSpPr>
          <p:cNvPr id="29" name="Text 27"/>
          <p:cNvSpPr/>
          <p:nvPr/>
        </p:nvSpPr>
        <p:spPr>
          <a:xfrm>
            <a:off x="5321808" y="1636776"/>
            <a:ext cx="3291840" cy="237744"/>
          </a:xfrm>
          <a:prstGeom prst="rect">
            <a:avLst/>
          </a:prstGeom>
          <a:noFill/>
          <a:ln/>
        </p:spPr>
        <p:txBody>
          <a:bodyPr wrap="square" rtlCol="0" anchor="t"/>
          <a:lstStyle/>
          <a:p>
            <a:pPr marL="0" indent="0">
              <a:buNone/>
            </a:pPr>
            <a:r>
              <a:rPr lang="en-US" sz="1000" dirty="0">
                <a:solidFill>
                  <a:srgbClr val="445566"/>
                </a:solidFill>
                <a:latin typeface="Calibri" pitchFamily="34" charset="0"/>
                <a:ea typeface="Calibri" pitchFamily="34" charset="-122"/>
                <a:cs typeface="Calibri" pitchFamily="34" charset="-120"/>
              </a:rPr>
              <a:t>Healthcare Analytics</a:t>
            </a:r>
            <a:endParaRPr lang="en-US" sz="1000" dirty="0"/>
          </a:p>
        </p:txBody>
      </p:sp>
      <p:sp>
        <p:nvSpPr>
          <p:cNvPr id="30" name="Shape 28"/>
          <p:cNvSpPr/>
          <p:nvPr/>
        </p:nvSpPr>
        <p:spPr>
          <a:xfrm>
            <a:off x="4663440" y="2112264"/>
            <a:ext cx="4114800" cy="749808"/>
          </a:xfrm>
          <a:prstGeom prst="rect">
            <a:avLst/>
          </a:prstGeom>
          <a:solidFill>
            <a:srgbClr val="162236"/>
          </a:solidFill>
          <a:ln w="12700">
            <a:solidFill>
              <a:srgbClr val="1A2A3A"/>
            </a:solidFill>
            <a:prstDash val="solid"/>
          </a:ln>
        </p:spPr>
        <p:txBody>
          <a:bodyPr/>
          <a:lstStyle/>
          <a:p>
            <a:endParaRPr lang="en-US"/>
          </a:p>
        </p:txBody>
      </p:sp>
      <p:sp>
        <p:nvSpPr>
          <p:cNvPr id="31" name="Text 29"/>
          <p:cNvSpPr/>
          <p:nvPr/>
        </p:nvSpPr>
        <p:spPr>
          <a:xfrm>
            <a:off x="4773168" y="2185416"/>
            <a:ext cx="502920" cy="594360"/>
          </a:xfrm>
          <a:prstGeom prst="rect">
            <a:avLst/>
          </a:prstGeom>
          <a:noFill/>
          <a:ln/>
        </p:spPr>
        <p:txBody>
          <a:bodyPr wrap="square" rtlCol="0" anchor="ctr"/>
          <a:lstStyle/>
          <a:p>
            <a:pPr marL="0" indent="0">
              <a:buNone/>
            </a:pPr>
            <a:r>
              <a:rPr lang="en-US" sz="1800" b="1" dirty="0">
                <a:solidFill>
                  <a:srgbClr val="445566"/>
                </a:solidFill>
                <a:latin typeface="Calibri" pitchFamily="34" charset="0"/>
                <a:ea typeface="Calibri" pitchFamily="34" charset="-122"/>
                <a:cs typeface="Calibri" pitchFamily="34" charset="-120"/>
              </a:rPr>
              <a:t>06</a:t>
            </a:r>
            <a:endParaRPr lang="en-US" sz="1800" dirty="0"/>
          </a:p>
        </p:txBody>
      </p:sp>
      <p:sp>
        <p:nvSpPr>
          <p:cNvPr id="32" name="Text 30"/>
          <p:cNvSpPr/>
          <p:nvPr/>
        </p:nvSpPr>
        <p:spPr>
          <a:xfrm>
            <a:off x="5321808" y="2185416"/>
            <a:ext cx="3291840" cy="329184"/>
          </a:xfrm>
          <a:prstGeom prst="rect">
            <a:avLst/>
          </a:prstGeom>
          <a:noFill/>
          <a:ln/>
        </p:spPr>
        <p:txBody>
          <a:bodyPr wrap="square" rtlCol="0" anchor="b"/>
          <a:lstStyle/>
          <a:p>
            <a:pPr marL="0" indent="0">
              <a:buNone/>
            </a:pPr>
            <a:r>
              <a:rPr lang="en-US" sz="1300" dirty="0">
                <a:solidFill>
                  <a:srgbClr val="556677"/>
                </a:solidFill>
                <a:latin typeface="Calibri" pitchFamily="34" charset="0"/>
                <a:ea typeface="Calibri" pitchFamily="34" charset="-122"/>
                <a:cs typeface="Calibri" pitchFamily="34" charset="-120"/>
              </a:rPr>
              <a:t>Food Image Classification</a:t>
            </a:r>
            <a:endParaRPr lang="en-US" sz="1300" dirty="0"/>
          </a:p>
        </p:txBody>
      </p:sp>
      <p:sp>
        <p:nvSpPr>
          <p:cNvPr id="33" name="Text 31"/>
          <p:cNvSpPr/>
          <p:nvPr/>
        </p:nvSpPr>
        <p:spPr>
          <a:xfrm>
            <a:off x="5321808" y="2514600"/>
            <a:ext cx="3291840" cy="237744"/>
          </a:xfrm>
          <a:prstGeom prst="rect">
            <a:avLst/>
          </a:prstGeom>
          <a:noFill/>
          <a:ln/>
        </p:spPr>
        <p:txBody>
          <a:bodyPr wrap="square" rtlCol="0" anchor="t"/>
          <a:lstStyle/>
          <a:p>
            <a:pPr marL="0" indent="0">
              <a:buNone/>
            </a:pPr>
            <a:r>
              <a:rPr lang="en-US" sz="1000" dirty="0">
                <a:solidFill>
                  <a:srgbClr val="445566"/>
                </a:solidFill>
                <a:latin typeface="Calibri" pitchFamily="34" charset="0"/>
                <a:ea typeface="Calibri" pitchFamily="34" charset="-122"/>
                <a:cs typeface="Calibri" pitchFamily="34" charset="-120"/>
              </a:rPr>
              <a:t>Deep Learning</a:t>
            </a:r>
            <a:endParaRPr lang="en-US" sz="1000" dirty="0"/>
          </a:p>
        </p:txBody>
      </p:sp>
      <p:sp>
        <p:nvSpPr>
          <p:cNvPr id="34" name="Shape 32"/>
          <p:cNvSpPr/>
          <p:nvPr/>
        </p:nvSpPr>
        <p:spPr>
          <a:xfrm>
            <a:off x="4663440" y="2990088"/>
            <a:ext cx="4114800" cy="749808"/>
          </a:xfrm>
          <a:prstGeom prst="rect">
            <a:avLst/>
          </a:prstGeom>
          <a:solidFill>
            <a:srgbClr val="162236"/>
          </a:solidFill>
          <a:ln w="12700">
            <a:solidFill>
              <a:srgbClr val="1A2A3A"/>
            </a:solidFill>
            <a:prstDash val="solid"/>
          </a:ln>
        </p:spPr>
        <p:txBody>
          <a:bodyPr/>
          <a:lstStyle/>
          <a:p>
            <a:endParaRPr lang="en-US"/>
          </a:p>
        </p:txBody>
      </p:sp>
      <p:sp>
        <p:nvSpPr>
          <p:cNvPr id="35" name="Text 33"/>
          <p:cNvSpPr/>
          <p:nvPr/>
        </p:nvSpPr>
        <p:spPr>
          <a:xfrm>
            <a:off x="4773168" y="3063240"/>
            <a:ext cx="502920" cy="594360"/>
          </a:xfrm>
          <a:prstGeom prst="rect">
            <a:avLst/>
          </a:prstGeom>
          <a:noFill/>
          <a:ln/>
        </p:spPr>
        <p:txBody>
          <a:bodyPr wrap="square" rtlCol="0" anchor="ctr"/>
          <a:lstStyle/>
          <a:p>
            <a:pPr marL="0" indent="0">
              <a:buNone/>
            </a:pPr>
            <a:r>
              <a:rPr lang="en-US" sz="1800" b="1" dirty="0">
                <a:solidFill>
                  <a:srgbClr val="445566"/>
                </a:solidFill>
                <a:latin typeface="Calibri" pitchFamily="34" charset="0"/>
                <a:ea typeface="Calibri" pitchFamily="34" charset="-122"/>
                <a:cs typeface="Calibri" pitchFamily="34" charset="-120"/>
              </a:rPr>
              <a:t>07</a:t>
            </a:r>
            <a:endParaRPr lang="en-US" sz="1800" dirty="0"/>
          </a:p>
        </p:txBody>
      </p:sp>
      <p:sp>
        <p:nvSpPr>
          <p:cNvPr id="36" name="Text 34"/>
          <p:cNvSpPr/>
          <p:nvPr/>
        </p:nvSpPr>
        <p:spPr>
          <a:xfrm>
            <a:off x="5321808" y="3063240"/>
            <a:ext cx="3291840" cy="329184"/>
          </a:xfrm>
          <a:prstGeom prst="rect">
            <a:avLst/>
          </a:prstGeom>
          <a:noFill/>
          <a:ln/>
        </p:spPr>
        <p:txBody>
          <a:bodyPr wrap="square" rtlCol="0" anchor="b"/>
          <a:lstStyle/>
          <a:p>
            <a:pPr marL="0" indent="0">
              <a:buNone/>
            </a:pPr>
            <a:r>
              <a:rPr lang="en-US" sz="1300" dirty="0">
                <a:solidFill>
                  <a:srgbClr val="556677"/>
                </a:solidFill>
                <a:latin typeface="Calibri" pitchFamily="34" charset="0"/>
                <a:ea typeface="Calibri" pitchFamily="34" charset="-122"/>
                <a:cs typeface="Calibri" pitchFamily="34" charset="-120"/>
              </a:rPr>
              <a:t>ECS Retention Model</a:t>
            </a:r>
            <a:endParaRPr lang="en-US" sz="1300" dirty="0"/>
          </a:p>
        </p:txBody>
      </p:sp>
      <p:sp>
        <p:nvSpPr>
          <p:cNvPr id="37" name="Text 35"/>
          <p:cNvSpPr/>
          <p:nvPr/>
        </p:nvSpPr>
        <p:spPr>
          <a:xfrm>
            <a:off x="5321808" y="3392424"/>
            <a:ext cx="3291840" cy="237744"/>
          </a:xfrm>
          <a:prstGeom prst="rect">
            <a:avLst/>
          </a:prstGeom>
          <a:noFill/>
          <a:ln/>
        </p:spPr>
        <p:txBody>
          <a:bodyPr wrap="square" rtlCol="0" anchor="t"/>
          <a:lstStyle/>
          <a:p>
            <a:pPr marL="0" indent="0">
              <a:buNone/>
            </a:pPr>
            <a:r>
              <a:rPr lang="en-US" sz="1000" dirty="0">
                <a:solidFill>
                  <a:srgbClr val="445566"/>
                </a:solidFill>
                <a:latin typeface="Calibri" pitchFamily="34" charset="0"/>
                <a:ea typeface="Calibri" pitchFamily="34" charset="-122"/>
                <a:cs typeface="Calibri" pitchFamily="34" charset="-120"/>
              </a:rPr>
              <a:t>Independent Project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F3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933A"/>
          </a:solidFill>
          <a:ln/>
        </p:spPr>
        <p:txBody>
          <a:bodyPr/>
          <a:lstStyle/>
          <a:p>
            <a:endParaRPr lang="en-US"/>
          </a:p>
        </p:txBody>
      </p:sp>
      <p:sp>
        <p:nvSpPr>
          <p:cNvPr id="3" name="Text 1"/>
          <p:cNvSpPr/>
          <p:nvPr/>
        </p:nvSpPr>
        <p:spPr>
          <a:xfrm>
            <a:off x="457200" y="274320"/>
            <a:ext cx="8229600" cy="228600"/>
          </a:xfrm>
          <a:prstGeom prst="rect">
            <a:avLst/>
          </a:prstGeom>
          <a:noFill/>
          <a:ln/>
        </p:spPr>
        <p:txBody>
          <a:bodyPr wrap="square" rtlCol="0" anchor="ctr"/>
          <a:lstStyle/>
          <a:p>
            <a:pPr marL="0" indent="0">
              <a:buNone/>
            </a:pPr>
            <a:r>
              <a:rPr lang="en-US" sz="900" b="1" kern="0" spc="400" dirty="0">
                <a:solidFill>
                  <a:srgbClr val="C9933A"/>
                </a:solidFill>
                <a:latin typeface="Calibri" pitchFamily="34" charset="0"/>
                <a:ea typeface="Calibri" pitchFamily="34" charset="-122"/>
                <a:cs typeface="Calibri" pitchFamily="34" charset="-120"/>
              </a:rPr>
              <a:t>PROJECT SPOTLIGHT  01  ·  BUSINESS NEED</a:t>
            </a:r>
            <a:endParaRPr lang="en-US" sz="900" dirty="0"/>
          </a:p>
        </p:txBody>
      </p:sp>
      <p:sp>
        <p:nvSpPr>
          <p:cNvPr id="4" name="Text 2"/>
          <p:cNvSpPr/>
          <p:nvPr/>
        </p:nvSpPr>
        <p:spPr>
          <a:xfrm>
            <a:off x="457200" y="530352"/>
            <a:ext cx="8229600" cy="685800"/>
          </a:xfrm>
          <a:prstGeom prst="rect">
            <a:avLst/>
          </a:prstGeom>
          <a:noFill/>
          <a:ln/>
        </p:spPr>
        <p:txBody>
          <a:bodyPr wrap="square" rtlCol="0" anchor="ctr"/>
          <a:lstStyle/>
          <a:p>
            <a:pPr marL="0" indent="0">
              <a:buNone/>
            </a:pPr>
            <a:r>
              <a:rPr lang="en-US" sz="3000" dirty="0">
                <a:solidFill>
                  <a:srgbClr val="FFFFFF"/>
                </a:solidFill>
                <a:latin typeface="Georgia" pitchFamily="34" charset="0"/>
                <a:ea typeface="Georgia" pitchFamily="34" charset="-122"/>
                <a:cs typeface="Georgia" pitchFamily="34" charset="-120"/>
              </a:rPr>
              <a:t>ECS Student Probation Database</a:t>
            </a:r>
            <a:endParaRPr lang="en-US" sz="3000" dirty="0"/>
          </a:p>
        </p:txBody>
      </p:sp>
      <p:sp>
        <p:nvSpPr>
          <p:cNvPr id="5" name="Shape 3"/>
          <p:cNvSpPr/>
          <p:nvPr/>
        </p:nvSpPr>
        <p:spPr>
          <a:xfrm>
            <a:off x="457200" y="1261872"/>
            <a:ext cx="8229600" cy="18288"/>
          </a:xfrm>
          <a:prstGeom prst="rect">
            <a:avLst/>
          </a:prstGeom>
          <a:solidFill>
            <a:srgbClr val="C9933A">
              <a:alpha val="40000"/>
            </a:srgbClr>
          </a:solidFill>
          <a:ln/>
        </p:spPr>
        <p:txBody>
          <a:bodyPr/>
          <a:lstStyle/>
          <a:p>
            <a:endParaRPr lang="en-US"/>
          </a:p>
        </p:txBody>
      </p:sp>
      <p:sp>
        <p:nvSpPr>
          <p:cNvPr id="6" name="Text 4"/>
          <p:cNvSpPr/>
          <p:nvPr/>
        </p:nvSpPr>
        <p:spPr>
          <a:xfrm>
            <a:off x="457200" y="1417320"/>
            <a:ext cx="4023360" cy="256032"/>
          </a:xfrm>
          <a:prstGeom prst="rect">
            <a:avLst/>
          </a:prstGeom>
          <a:noFill/>
          <a:ln/>
        </p:spPr>
        <p:txBody>
          <a:bodyPr wrap="square" rtlCol="0" anchor="ctr"/>
          <a:lstStyle/>
          <a:p>
            <a:pPr marL="0" indent="0">
              <a:buNone/>
            </a:pPr>
            <a:r>
              <a:rPr lang="en-US" sz="1000" b="1" kern="0" spc="200" dirty="0">
                <a:solidFill>
                  <a:srgbClr val="C9933A"/>
                </a:solidFill>
                <a:latin typeface="Calibri" pitchFamily="34" charset="0"/>
                <a:ea typeface="Calibri" pitchFamily="34" charset="-122"/>
                <a:cs typeface="Calibri" pitchFamily="34" charset="-120"/>
              </a:rPr>
              <a:t>THE NEED</a:t>
            </a:r>
            <a:endParaRPr lang="en-US" sz="1000" dirty="0"/>
          </a:p>
        </p:txBody>
      </p:sp>
      <p:sp>
        <p:nvSpPr>
          <p:cNvPr id="7" name="Text 5"/>
          <p:cNvSpPr/>
          <p:nvPr/>
        </p:nvSpPr>
        <p:spPr>
          <a:xfrm>
            <a:off x="457200" y="1719072"/>
            <a:ext cx="4023360" cy="1280160"/>
          </a:xfrm>
          <a:prstGeom prst="rect">
            <a:avLst/>
          </a:prstGeom>
          <a:noFill/>
          <a:ln/>
        </p:spPr>
        <p:txBody>
          <a:bodyPr wrap="square" rtlCol="0" anchor="ctr"/>
          <a:lstStyle/>
          <a:p>
            <a:pPr marL="0" indent="0">
              <a:lnSpc>
                <a:spcPct val="145000"/>
              </a:lnSpc>
              <a:buNone/>
            </a:pPr>
            <a:r>
              <a:rPr lang="en-US" sz="1300" dirty="0">
                <a:solidFill>
                  <a:srgbClr val="DDEEFF"/>
                </a:solidFill>
                <a:latin typeface="Calibri" pitchFamily="34" charset="0"/>
                <a:ea typeface="Calibri" pitchFamily="34" charset="-122"/>
                <a:cs typeface="Calibri" pitchFamily="34" charset="-120"/>
              </a:rPr>
              <a:t>To create a probationary student database that will help assess information, improve students’ experiences in the College of Engineering and Computer Science (ECS), and strengthen the probation recovery program — Thriving in ECS.</a:t>
            </a:r>
            <a:endParaRPr lang="en-US" sz="1300" dirty="0"/>
          </a:p>
        </p:txBody>
      </p:sp>
      <p:sp>
        <p:nvSpPr>
          <p:cNvPr id="8" name="Text 6"/>
          <p:cNvSpPr/>
          <p:nvPr/>
        </p:nvSpPr>
        <p:spPr>
          <a:xfrm>
            <a:off x="4754880" y="1417320"/>
            <a:ext cx="4114800" cy="256032"/>
          </a:xfrm>
          <a:prstGeom prst="rect">
            <a:avLst/>
          </a:prstGeom>
          <a:noFill/>
          <a:ln/>
        </p:spPr>
        <p:txBody>
          <a:bodyPr wrap="square" rtlCol="0" anchor="ctr"/>
          <a:lstStyle/>
          <a:p>
            <a:pPr marL="0" indent="0">
              <a:buNone/>
            </a:pPr>
            <a:r>
              <a:rPr lang="en-US" sz="1000" b="1" kern="0" spc="200" dirty="0">
                <a:solidFill>
                  <a:srgbClr val="C9933A"/>
                </a:solidFill>
                <a:latin typeface="Calibri" pitchFamily="34" charset="0"/>
                <a:ea typeface="Calibri" pitchFamily="34" charset="-122"/>
                <a:cs typeface="Calibri" pitchFamily="34" charset="-120"/>
              </a:rPr>
              <a:t>THE PROBLEM</a:t>
            </a:r>
            <a:endParaRPr lang="en-US" sz="1000" dirty="0"/>
          </a:p>
        </p:txBody>
      </p:sp>
      <p:sp>
        <p:nvSpPr>
          <p:cNvPr id="9" name="Text 7"/>
          <p:cNvSpPr/>
          <p:nvPr/>
        </p:nvSpPr>
        <p:spPr>
          <a:xfrm>
            <a:off x="4754880" y="1719072"/>
            <a:ext cx="4114800" cy="1280160"/>
          </a:xfrm>
          <a:prstGeom prst="rect">
            <a:avLst/>
          </a:prstGeom>
          <a:noFill/>
          <a:ln/>
        </p:spPr>
        <p:txBody>
          <a:bodyPr wrap="square" rtlCol="0" anchor="ctr"/>
          <a:lstStyle/>
          <a:p>
            <a:pPr marL="0" indent="0">
              <a:lnSpc>
                <a:spcPct val="145000"/>
              </a:lnSpc>
              <a:buNone/>
            </a:pPr>
            <a:r>
              <a:rPr lang="en-US" sz="1300" dirty="0">
                <a:solidFill>
                  <a:srgbClr val="DDEEFF"/>
                </a:solidFill>
                <a:latin typeface="Calibri" pitchFamily="34" charset="0"/>
                <a:ea typeface="Calibri" pitchFamily="34" charset="-122"/>
                <a:cs typeface="Calibri" pitchFamily="34" charset="-120"/>
              </a:rPr>
              <a:t>ECS may place any student with a cumulative GPA below 2.0 on academic probation. A student may also be placed on probation if their semester GPA falls below 2.0, or if they fail to meet other criteria for good academic standing.</a:t>
            </a:r>
            <a:endParaRPr lang="en-US" sz="1300" dirty="0"/>
          </a:p>
        </p:txBody>
      </p:sp>
      <p:sp>
        <p:nvSpPr>
          <p:cNvPr id="10" name="Shape 8"/>
          <p:cNvSpPr/>
          <p:nvPr/>
        </p:nvSpPr>
        <p:spPr>
          <a:xfrm>
            <a:off x="4572000" y="1417320"/>
            <a:ext cx="18288" cy="1645920"/>
          </a:xfrm>
          <a:prstGeom prst="rect">
            <a:avLst/>
          </a:prstGeom>
          <a:solidFill>
            <a:srgbClr val="C9933A">
              <a:alpha val="30000"/>
            </a:srgbClr>
          </a:solidFill>
          <a:ln/>
        </p:spPr>
        <p:txBody>
          <a:bodyPr/>
          <a:lstStyle/>
          <a:p>
            <a:endParaRPr lang="en-US"/>
          </a:p>
        </p:txBody>
      </p:sp>
      <p:sp>
        <p:nvSpPr>
          <p:cNvPr id="11" name="Shape 9"/>
          <p:cNvSpPr/>
          <p:nvPr/>
        </p:nvSpPr>
        <p:spPr>
          <a:xfrm>
            <a:off x="457200" y="3200400"/>
            <a:ext cx="8229600" cy="18288"/>
          </a:xfrm>
          <a:prstGeom prst="rect">
            <a:avLst/>
          </a:prstGeom>
          <a:solidFill>
            <a:srgbClr val="C9933A">
              <a:alpha val="40000"/>
            </a:srgbClr>
          </a:solidFill>
          <a:ln/>
        </p:spPr>
        <p:txBody>
          <a:bodyPr/>
          <a:lstStyle/>
          <a:p>
            <a:endParaRPr lang="en-US"/>
          </a:p>
        </p:txBody>
      </p:sp>
      <p:sp>
        <p:nvSpPr>
          <p:cNvPr id="12" name="Text 10"/>
          <p:cNvSpPr/>
          <p:nvPr/>
        </p:nvSpPr>
        <p:spPr>
          <a:xfrm>
            <a:off x="457200" y="3337560"/>
            <a:ext cx="8229600" cy="228600"/>
          </a:xfrm>
          <a:prstGeom prst="rect">
            <a:avLst/>
          </a:prstGeom>
          <a:noFill/>
          <a:ln/>
        </p:spPr>
        <p:txBody>
          <a:bodyPr wrap="square" rtlCol="0" anchor="ctr"/>
          <a:lstStyle/>
          <a:p>
            <a:pPr marL="0" indent="0">
              <a:buNone/>
            </a:pPr>
            <a:r>
              <a:rPr lang="en-US" sz="1000" b="1" kern="0" spc="200" dirty="0">
                <a:solidFill>
                  <a:srgbClr val="C9933A"/>
                </a:solidFill>
                <a:latin typeface="Calibri" pitchFamily="34" charset="0"/>
                <a:ea typeface="Calibri" pitchFamily="34" charset="-122"/>
                <a:cs typeface="Calibri" pitchFamily="34" charset="-120"/>
              </a:rPr>
              <a:t>THE GAP THIS PROJECT FILLED</a:t>
            </a:r>
            <a:endParaRPr lang="en-US" sz="1000" dirty="0"/>
          </a:p>
        </p:txBody>
      </p:sp>
      <p:sp>
        <p:nvSpPr>
          <p:cNvPr id="13" name="Text 11"/>
          <p:cNvSpPr/>
          <p:nvPr/>
        </p:nvSpPr>
        <p:spPr>
          <a:xfrm>
            <a:off x="457200" y="3611880"/>
            <a:ext cx="8321040" cy="1005840"/>
          </a:xfrm>
          <a:prstGeom prst="rect">
            <a:avLst/>
          </a:prstGeom>
          <a:noFill/>
          <a:ln/>
        </p:spPr>
        <p:txBody>
          <a:bodyPr wrap="square" rtlCol="0" anchor="ctr"/>
          <a:lstStyle/>
          <a:p>
            <a:pPr marL="0" indent="0">
              <a:lnSpc>
                <a:spcPct val="140000"/>
              </a:lnSpc>
              <a:buNone/>
            </a:pPr>
            <a:r>
              <a:rPr lang="en-US" sz="1300" dirty="0">
                <a:solidFill>
                  <a:srgbClr val="DDEEFF"/>
                </a:solidFill>
                <a:latin typeface="Calibri" pitchFamily="34" charset="0"/>
                <a:ea typeface="Calibri" pitchFamily="34" charset="-122"/>
                <a:cs typeface="Calibri" pitchFamily="34" charset="-120"/>
              </a:rPr>
              <a:t>For five years, I could see individual students — but I could not see the data behind the population. No centralized system existed to track probation patterns, high-risk courses, or whether recovery interventions were working over time. This project was built to change that.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F3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933A"/>
          </a:solidFill>
          <a:ln/>
        </p:spPr>
        <p:txBody>
          <a:bodyPr/>
          <a:lstStyle/>
          <a:p>
            <a:endParaRPr lang="en-US"/>
          </a:p>
        </p:txBody>
      </p:sp>
      <p:sp>
        <p:nvSpPr>
          <p:cNvPr id="3" name="Text 1"/>
          <p:cNvSpPr/>
          <p:nvPr/>
        </p:nvSpPr>
        <p:spPr>
          <a:xfrm>
            <a:off x="457200" y="274320"/>
            <a:ext cx="8229600" cy="228600"/>
          </a:xfrm>
          <a:prstGeom prst="rect">
            <a:avLst/>
          </a:prstGeom>
          <a:noFill/>
          <a:ln/>
        </p:spPr>
        <p:txBody>
          <a:bodyPr wrap="square" rtlCol="0" anchor="ctr"/>
          <a:lstStyle/>
          <a:p>
            <a:pPr marL="0" indent="0">
              <a:buNone/>
            </a:pPr>
            <a:r>
              <a:rPr lang="en-US" sz="900" b="1" kern="0" spc="400" dirty="0">
                <a:solidFill>
                  <a:srgbClr val="C9933A"/>
                </a:solidFill>
                <a:latin typeface="Calibri" pitchFamily="34" charset="0"/>
              </a:rPr>
              <a:t>PROJECT SPOTLIGHT  01  ·  DATA ARCHITECTURE</a:t>
            </a:r>
          </a:p>
        </p:txBody>
      </p:sp>
      <p:sp>
        <p:nvSpPr>
          <p:cNvPr id="4" name="Text 2"/>
          <p:cNvSpPr/>
          <p:nvPr/>
        </p:nvSpPr>
        <p:spPr>
          <a:xfrm>
            <a:off x="457200" y="530352"/>
            <a:ext cx="8229600" cy="548640"/>
          </a:xfrm>
          <a:prstGeom prst="rect">
            <a:avLst/>
          </a:prstGeom>
          <a:noFill/>
          <a:ln/>
        </p:spPr>
        <p:txBody>
          <a:bodyPr wrap="square" rtlCol="0" anchor="ctr"/>
          <a:lstStyle/>
          <a:p>
            <a:pPr marL="0" indent="0">
              <a:buNone/>
            </a:pPr>
            <a:r>
              <a:rPr lang="en-US" sz="2200" dirty="0">
                <a:solidFill>
                  <a:srgbClr val="FFFFFF"/>
                </a:solidFill>
                <a:latin typeface="Georgia" pitchFamily="34" charset="0"/>
              </a:rPr>
              <a:t>ECS Student Probation Database</a:t>
            </a:r>
          </a:p>
        </p:txBody>
      </p:sp>
      <p:sp>
        <p:nvSpPr>
          <p:cNvPr id="5" name="Shape 3"/>
          <p:cNvSpPr/>
          <p:nvPr/>
        </p:nvSpPr>
        <p:spPr>
          <a:xfrm>
            <a:off x="457200" y="1143000"/>
            <a:ext cx="8229600" cy="18288"/>
          </a:xfrm>
          <a:prstGeom prst="rect">
            <a:avLst/>
          </a:prstGeom>
          <a:solidFill>
            <a:srgbClr val="C9933A">
              <a:alpha val="40000"/>
            </a:srgbClr>
          </a:solidFill>
          <a:ln/>
        </p:spPr>
        <p:txBody>
          <a:bodyPr/>
          <a:lstStyle/>
          <a:p>
            <a:endParaRPr lang="en-US"/>
          </a:p>
        </p:txBody>
      </p:sp>
      <p:pic>
        <p:nvPicPr>
          <p:cNvPr id="6" name="Picture 4"/>
          <p:cNvPicPr>
            <a:picLocks noChangeAspect="1"/>
          </p:cNvPicPr>
          <p:nvPr/>
        </p:nvPicPr>
        <p:blipFill>
          <a:blip r:embed="rId2"/>
          <a:stretch>
            <a:fillRect/>
          </a:stretch>
        </p:blipFill>
        <p:spPr>
          <a:xfrm>
            <a:off x="457200" y="1188720"/>
            <a:ext cx="5486400" cy="3200400"/>
          </a:xfrm>
          <a:prstGeom prst="rect">
            <a:avLst/>
          </a:prstGeom>
        </p:spPr>
      </p:pic>
      <p:sp>
        <p:nvSpPr>
          <p:cNvPr id="7" name="Text 5"/>
          <p:cNvSpPr/>
          <p:nvPr/>
        </p:nvSpPr>
        <p:spPr>
          <a:xfrm>
            <a:off x="6171000" y="1188720"/>
            <a:ext cx="2515800" cy="228600"/>
          </a:xfrm>
          <a:prstGeom prst="rect">
            <a:avLst/>
          </a:prstGeom>
          <a:noFill/>
          <a:ln/>
        </p:spPr>
        <p:txBody>
          <a:bodyPr wrap="square" rtlCol="0" anchor="ctr"/>
          <a:lstStyle/>
          <a:p>
            <a:pPr marL="0" indent="0">
              <a:buNone/>
            </a:pPr>
            <a:r>
              <a:rPr lang="en-US" sz="1000" b="1" kern="0" spc="200" dirty="0">
                <a:solidFill>
                  <a:srgbClr val="C9933A"/>
                </a:solidFill>
                <a:latin typeface="Calibri" pitchFamily="34" charset="0"/>
              </a:rPr>
              <a:t>WHAT THIS SHOWS</a:t>
            </a:r>
          </a:p>
        </p:txBody>
      </p:sp>
      <p:sp>
        <p:nvSpPr>
          <p:cNvPr id="8" name="Text 6"/>
          <p:cNvSpPr/>
          <p:nvPr/>
        </p:nvSpPr>
        <p:spPr>
          <a:xfrm>
            <a:off x="6171000" y="1462320"/>
            <a:ext cx="2515800" cy="3018240"/>
          </a:xfrm>
          <a:prstGeom prst="rect">
            <a:avLst/>
          </a:prstGeom>
          <a:noFill/>
          <a:ln/>
        </p:spPr>
        <p:txBody>
          <a:bodyPr wrap="square" rtlCol="0" anchor="t"/>
          <a:lstStyle/>
          <a:p>
            <a:pPr marL="0" indent="0">
              <a:lnSpc>
                <a:spcPct val="140000"/>
              </a:lnSpc>
              <a:buNone/>
            </a:pPr>
            <a:r>
              <a:rPr lang="en-US" sz="1100" dirty="0">
                <a:solidFill>
                  <a:srgbClr val="DDEEFF"/>
                </a:solidFill>
                <a:latin typeface="Calibri" pitchFamily="34" charset="0"/>
              </a:rPr>
              <a:t>This entity-relationship diagram maps the full architecture of the ECS probation database across three phases: institutional data intake from SU systems, the core ECS probation tracking layer, and the ASPiRe output reports used by advisors.</a:t>
            </a:r>
          </a:p>
          <a:p>
            <a:pPr marL="0" indent="0">
              <a:lnSpc>
                <a:spcPct val="140000"/>
              </a:lnSpc>
              <a:spcBef>
                <a:spcPts val="1200"/>
              </a:spcBef>
              <a:buNone/>
            </a:pPr>
            <a:r>
              <a:rPr lang="en-US" sz="1100" dirty="0">
                <a:solidFill>
                  <a:srgbClr val="DDEEFF"/>
                </a:solidFill>
                <a:latin typeface="Calibri" pitchFamily="34" charset="0"/>
              </a:rPr>
              <a:t>Key entities include Student Record, Probation History, Advising Appointments, and Pre/Post Survey data — all linked through FERPA-compliant student ID abstraction.</a:t>
            </a:r>
          </a:p>
        </p:txBody>
      </p:sp>
      <p:sp>
        <p:nvSpPr>
          <p:cNvPr id="9" name="Shape 7"/>
          <p:cNvSpPr/>
          <p:nvPr/>
        </p:nvSpPr>
        <p:spPr>
          <a:xfrm>
            <a:off x="457200" y="4480560"/>
            <a:ext cx="8229600" cy="18288"/>
          </a:xfrm>
          <a:prstGeom prst="rect">
            <a:avLst/>
          </a:prstGeom>
          <a:solidFill>
            <a:srgbClr val="C9933A">
              <a:alpha val="40000"/>
            </a:srgbClr>
          </a:solidFill>
          <a:ln/>
        </p:spPr>
        <p:txBody>
          <a:bodyPr/>
          <a:lstStyle/>
          <a:p>
            <a:endParaRPr lang="en-US"/>
          </a:p>
        </p:txBody>
      </p:sp>
      <p:sp>
        <p:nvSpPr>
          <p:cNvPr id="10" name="Text 8"/>
          <p:cNvSpPr/>
          <p:nvPr/>
        </p:nvSpPr>
        <p:spPr>
          <a:xfrm>
            <a:off x="457200" y="4517160"/>
            <a:ext cx="8229600" cy="182880"/>
          </a:xfrm>
          <a:prstGeom prst="rect">
            <a:avLst/>
          </a:prstGeom>
          <a:noFill/>
          <a:ln/>
        </p:spPr>
        <p:txBody>
          <a:bodyPr wrap="square" rtlCol="0" anchor="ctr"/>
          <a:lstStyle/>
          <a:p>
            <a:pPr marL="0" indent="0">
              <a:buNone/>
            </a:pPr>
            <a:r>
              <a:rPr lang="en-US" sz="800" dirty="0">
                <a:solidFill>
                  <a:srgbClr val="7A8FA6"/>
                </a:solidFill>
                <a:latin typeface="Calibri" pitchFamily="34" charset="0"/>
              </a:rPr>
              <a:t>Learning Outcomes: Database Administration  ·  ERD Design  ·  FERPA-Compliant Architecture  ·  IST 659 Spring 2024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0F1F3D"/>
          </a:solidFill>
          <a:ln/>
        </p:spPr>
        <p:txBody>
          <a:bodyPr/>
          <a:lstStyle/>
          <a:p>
            <a:endParaRPr lang="en-US"/>
          </a:p>
        </p:txBody>
      </p:sp>
      <p:sp>
        <p:nvSpPr>
          <p:cNvPr id="3" name="Text 1"/>
          <p:cNvSpPr/>
          <p:nvPr/>
        </p:nvSpPr>
        <p:spPr>
          <a:xfrm>
            <a:off x="457200" y="137160"/>
            <a:ext cx="6400800" cy="228600"/>
          </a:xfrm>
          <a:prstGeom prst="rect">
            <a:avLst/>
          </a:prstGeom>
          <a:noFill/>
          <a:ln/>
        </p:spPr>
        <p:txBody>
          <a:bodyPr wrap="square" rtlCol="0" anchor="ctr"/>
          <a:lstStyle/>
          <a:p>
            <a:pPr marL="0" indent="0">
              <a:buNone/>
            </a:pPr>
            <a:r>
              <a:rPr lang="en-US" sz="900" b="1" kern="0" spc="400" dirty="0">
                <a:solidFill>
                  <a:srgbClr val="C9933A"/>
                </a:solidFill>
                <a:latin typeface="Calibri" pitchFamily="34" charset="0"/>
                <a:ea typeface="Calibri" pitchFamily="34" charset="-122"/>
                <a:cs typeface="Calibri" pitchFamily="34" charset="-120"/>
              </a:rPr>
              <a:t>PROJECT SPOTLIGHT  01  ·  SOLUTION &amp; RESULTS</a:t>
            </a:r>
            <a:endParaRPr lang="en-US" sz="900" dirty="0"/>
          </a:p>
        </p:txBody>
      </p:sp>
      <p:sp>
        <p:nvSpPr>
          <p:cNvPr id="4" name="Text 2"/>
          <p:cNvSpPr/>
          <p:nvPr/>
        </p:nvSpPr>
        <p:spPr>
          <a:xfrm>
            <a:off x="457200" y="384048"/>
            <a:ext cx="8229600" cy="594360"/>
          </a:xfrm>
          <a:prstGeom prst="rect">
            <a:avLst/>
          </a:prstGeom>
          <a:noFill/>
          <a:ln/>
        </p:spPr>
        <p:txBody>
          <a:bodyPr wrap="square" rtlCol="0" anchor="ctr"/>
          <a:lstStyle/>
          <a:p>
            <a:pPr marL="0" indent="0">
              <a:buNone/>
            </a:pPr>
            <a:r>
              <a:rPr lang="en-US" sz="2800" dirty="0">
                <a:solidFill>
                  <a:srgbClr val="FFFFFF"/>
                </a:solidFill>
                <a:latin typeface="Georgia" pitchFamily="34" charset="0"/>
                <a:ea typeface="Georgia" pitchFamily="34" charset="-122"/>
                <a:cs typeface="Georgia" pitchFamily="34" charset="-120"/>
              </a:rPr>
              <a:t>ECS Student Probation Database</a:t>
            </a:r>
            <a:endParaRPr lang="en-US" sz="2800" dirty="0"/>
          </a:p>
        </p:txBody>
      </p:sp>
      <p:sp>
        <p:nvSpPr>
          <p:cNvPr id="5" name="Text 3"/>
          <p:cNvSpPr/>
          <p:nvPr/>
        </p:nvSpPr>
        <p:spPr>
          <a:xfrm>
            <a:off x="457200" y="987552"/>
            <a:ext cx="8229600" cy="182880"/>
          </a:xfrm>
          <a:prstGeom prst="rect">
            <a:avLst/>
          </a:prstGeom>
          <a:noFill/>
          <a:ln/>
        </p:spPr>
        <p:txBody>
          <a:bodyPr wrap="square" rtlCol="0" anchor="ctr"/>
          <a:lstStyle/>
          <a:p>
            <a:pPr marL="0" indent="0">
              <a:buNone/>
            </a:pPr>
            <a:r>
              <a:rPr lang="en-US" sz="900" dirty="0">
                <a:solidFill>
                  <a:srgbClr val="8899AA"/>
                </a:solidFill>
                <a:latin typeface="Calibri" pitchFamily="34" charset="0"/>
                <a:ea typeface="Calibri" pitchFamily="34" charset="-122"/>
                <a:cs typeface="Calibri" pitchFamily="34" charset="-120"/>
              </a:rPr>
              <a:t>IST 659 — Database Administration  ·  Spring 2024  ·  Oracle DBMS, SQL, ERD Design</a:t>
            </a:r>
            <a:endParaRPr lang="en-US" sz="900" dirty="0"/>
          </a:p>
        </p:txBody>
      </p:sp>
      <p:sp>
        <p:nvSpPr>
          <p:cNvPr id="6" name="Shape 4"/>
          <p:cNvSpPr/>
          <p:nvPr/>
        </p:nvSpPr>
        <p:spPr>
          <a:xfrm>
            <a:off x="274320" y="1325880"/>
            <a:ext cx="2011680" cy="1325880"/>
          </a:xfrm>
          <a:prstGeom prst="rect">
            <a:avLst/>
          </a:prstGeom>
          <a:solidFill>
            <a:srgbClr val="F5F3EF"/>
          </a:solidFill>
          <a:ln/>
        </p:spPr>
        <p:txBody>
          <a:bodyPr/>
          <a:lstStyle/>
          <a:p>
            <a:endParaRPr lang="en-US"/>
          </a:p>
        </p:txBody>
      </p:sp>
      <p:sp>
        <p:nvSpPr>
          <p:cNvPr id="7" name="Shape 5"/>
          <p:cNvSpPr/>
          <p:nvPr/>
        </p:nvSpPr>
        <p:spPr>
          <a:xfrm>
            <a:off x="274320" y="1325880"/>
            <a:ext cx="2011680" cy="64008"/>
          </a:xfrm>
          <a:prstGeom prst="rect">
            <a:avLst/>
          </a:prstGeom>
          <a:solidFill>
            <a:srgbClr val="C9933A"/>
          </a:solidFill>
          <a:ln/>
        </p:spPr>
        <p:txBody>
          <a:bodyPr/>
          <a:lstStyle/>
          <a:p>
            <a:endParaRPr lang="en-US"/>
          </a:p>
        </p:txBody>
      </p:sp>
      <p:sp>
        <p:nvSpPr>
          <p:cNvPr id="8" name="Text 6"/>
          <p:cNvSpPr/>
          <p:nvPr/>
        </p:nvSpPr>
        <p:spPr>
          <a:xfrm>
            <a:off x="274320" y="1444752"/>
            <a:ext cx="2011680" cy="566928"/>
          </a:xfrm>
          <a:prstGeom prst="rect">
            <a:avLst/>
          </a:prstGeom>
          <a:noFill/>
          <a:ln/>
        </p:spPr>
        <p:txBody>
          <a:bodyPr wrap="square" rtlCol="0" anchor="ctr"/>
          <a:lstStyle/>
          <a:p>
            <a:pPr marL="0" indent="0" algn="ctr">
              <a:buNone/>
            </a:pPr>
            <a:r>
              <a:rPr lang="en-US" sz="3200" dirty="0">
                <a:solidFill>
                  <a:srgbClr val="0F1F3D"/>
                </a:solidFill>
                <a:latin typeface="Georgia" pitchFamily="34" charset="0"/>
                <a:ea typeface="Georgia" pitchFamily="34" charset="-122"/>
                <a:cs typeface="Georgia" pitchFamily="34" charset="-120"/>
              </a:rPr>
              <a:t>3</a:t>
            </a:r>
            <a:endParaRPr lang="en-US" sz="3200" dirty="0"/>
          </a:p>
        </p:txBody>
      </p:sp>
      <p:sp>
        <p:nvSpPr>
          <p:cNvPr id="9" name="Text 7"/>
          <p:cNvSpPr/>
          <p:nvPr/>
        </p:nvSpPr>
        <p:spPr>
          <a:xfrm>
            <a:off x="274320" y="2011680"/>
            <a:ext cx="2011680" cy="256032"/>
          </a:xfrm>
          <a:prstGeom prst="rect">
            <a:avLst/>
          </a:prstGeom>
          <a:noFill/>
          <a:ln/>
        </p:spPr>
        <p:txBody>
          <a:bodyPr wrap="square" rtlCol="0" anchor="ctr"/>
          <a:lstStyle/>
          <a:p>
            <a:pPr marL="0" indent="0" algn="ctr">
              <a:buNone/>
            </a:pPr>
            <a:r>
              <a:rPr lang="en-US" sz="1100" b="1" dirty="0">
                <a:solidFill>
                  <a:srgbClr val="0F1F3D"/>
                </a:solidFill>
                <a:latin typeface="Calibri" pitchFamily="34" charset="0"/>
                <a:ea typeface="Calibri" pitchFamily="34" charset="-122"/>
                <a:cs typeface="Calibri" pitchFamily="34" charset="-120"/>
              </a:rPr>
              <a:t>Data Sources</a:t>
            </a:r>
            <a:endParaRPr lang="en-US" sz="1100" dirty="0"/>
          </a:p>
        </p:txBody>
      </p:sp>
      <p:sp>
        <p:nvSpPr>
          <p:cNvPr id="10" name="Text 8"/>
          <p:cNvSpPr/>
          <p:nvPr/>
        </p:nvSpPr>
        <p:spPr>
          <a:xfrm>
            <a:off x="274320" y="2286000"/>
            <a:ext cx="2011680" cy="292608"/>
          </a:xfrm>
          <a:prstGeom prst="rect">
            <a:avLst/>
          </a:prstGeom>
          <a:noFill/>
          <a:ln/>
        </p:spPr>
        <p:txBody>
          <a:bodyPr wrap="square" rtlCol="0" anchor="ctr"/>
          <a:lstStyle/>
          <a:p>
            <a:pPr marL="0" indent="0" algn="ctr">
              <a:buNone/>
            </a:pPr>
            <a:r>
              <a:rPr lang="en-US" sz="900" dirty="0">
                <a:solidFill>
                  <a:srgbClr val="6B6459"/>
                </a:solidFill>
                <a:latin typeface="Calibri" pitchFamily="34" charset="0"/>
                <a:ea typeface="Calibri" pitchFamily="34" charset="-122"/>
                <a:cs typeface="Calibri" pitchFamily="34" charset="-120"/>
              </a:rPr>
              <a:t>Oracle · FAFSA · ASPiRe</a:t>
            </a:r>
            <a:endParaRPr lang="en-US" sz="900" dirty="0"/>
          </a:p>
        </p:txBody>
      </p:sp>
      <p:sp>
        <p:nvSpPr>
          <p:cNvPr id="11" name="Shape 9"/>
          <p:cNvSpPr/>
          <p:nvPr/>
        </p:nvSpPr>
        <p:spPr>
          <a:xfrm>
            <a:off x="2423160" y="1325880"/>
            <a:ext cx="2011680" cy="1325880"/>
          </a:xfrm>
          <a:prstGeom prst="rect">
            <a:avLst/>
          </a:prstGeom>
          <a:solidFill>
            <a:srgbClr val="F5F3EF"/>
          </a:solidFill>
          <a:ln/>
        </p:spPr>
        <p:txBody>
          <a:bodyPr/>
          <a:lstStyle/>
          <a:p>
            <a:endParaRPr lang="en-US"/>
          </a:p>
        </p:txBody>
      </p:sp>
      <p:sp>
        <p:nvSpPr>
          <p:cNvPr id="12" name="Shape 10"/>
          <p:cNvSpPr/>
          <p:nvPr/>
        </p:nvSpPr>
        <p:spPr>
          <a:xfrm>
            <a:off x="2423160" y="1325880"/>
            <a:ext cx="2011680" cy="64008"/>
          </a:xfrm>
          <a:prstGeom prst="rect">
            <a:avLst/>
          </a:prstGeom>
          <a:solidFill>
            <a:srgbClr val="C9933A"/>
          </a:solidFill>
          <a:ln/>
        </p:spPr>
        <p:txBody>
          <a:bodyPr/>
          <a:lstStyle/>
          <a:p>
            <a:endParaRPr lang="en-US"/>
          </a:p>
        </p:txBody>
      </p:sp>
      <p:sp>
        <p:nvSpPr>
          <p:cNvPr id="13" name="Text 11"/>
          <p:cNvSpPr/>
          <p:nvPr/>
        </p:nvSpPr>
        <p:spPr>
          <a:xfrm>
            <a:off x="2423160" y="1444752"/>
            <a:ext cx="2011680" cy="566928"/>
          </a:xfrm>
          <a:prstGeom prst="rect">
            <a:avLst/>
          </a:prstGeom>
          <a:noFill/>
          <a:ln/>
        </p:spPr>
        <p:txBody>
          <a:bodyPr wrap="square" rtlCol="0" anchor="ctr"/>
          <a:lstStyle/>
          <a:p>
            <a:pPr marL="0" indent="0" algn="ctr">
              <a:buNone/>
            </a:pPr>
            <a:r>
              <a:rPr lang="en-US" sz="3200" dirty="0">
                <a:solidFill>
                  <a:srgbClr val="0F1F3D"/>
                </a:solidFill>
                <a:latin typeface="Georgia" pitchFamily="34" charset="0"/>
                <a:ea typeface="Georgia" pitchFamily="34" charset="-122"/>
                <a:cs typeface="Georgia" pitchFamily="34" charset="-120"/>
              </a:rPr>
              <a:t>12</a:t>
            </a:r>
            <a:endParaRPr lang="en-US" sz="3200" dirty="0"/>
          </a:p>
        </p:txBody>
      </p:sp>
      <p:sp>
        <p:nvSpPr>
          <p:cNvPr id="14" name="Text 12"/>
          <p:cNvSpPr/>
          <p:nvPr/>
        </p:nvSpPr>
        <p:spPr>
          <a:xfrm>
            <a:off x="2423160" y="2011680"/>
            <a:ext cx="2011680" cy="256032"/>
          </a:xfrm>
          <a:prstGeom prst="rect">
            <a:avLst/>
          </a:prstGeom>
          <a:noFill/>
          <a:ln/>
        </p:spPr>
        <p:txBody>
          <a:bodyPr wrap="square" rtlCol="0" anchor="ctr"/>
          <a:lstStyle/>
          <a:p>
            <a:pPr marL="0" indent="0" algn="ctr">
              <a:buNone/>
            </a:pPr>
            <a:r>
              <a:rPr lang="en-US" sz="1100" b="1" dirty="0">
                <a:solidFill>
                  <a:srgbClr val="0F1F3D"/>
                </a:solidFill>
                <a:latin typeface="Calibri" pitchFamily="34" charset="0"/>
                <a:ea typeface="Calibri" pitchFamily="34" charset="-122"/>
                <a:cs typeface="Calibri" pitchFamily="34" charset="-120"/>
              </a:rPr>
              <a:t>Research Questions</a:t>
            </a:r>
            <a:endParaRPr lang="en-US" sz="1100" dirty="0"/>
          </a:p>
        </p:txBody>
      </p:sp>
      <p:sp>
        <p:nvSpPr>
          <p:cNvPr id="15" name="Text 13"/>
          <p:cNvSpPr/>
          <p:nvPr/>
        </p:nvSpPr>
        <p:spPr>
          <a:xfrm>
            <a:off x="2423160" y="2286000"/>
            <a:ext cx="2011680" cy="292608"/>
          </a:xfrm>
          <a:prstGeom prst="rect">
            <a:avLst/>
          </a:prstGeom>
          <a:noFill/>
          <a:ln/>
        </p:spPr>
        <p:txBody>
          <a:bodyPr wrap="square" rtlCol="0" anchor="ctr"/>
          <a:lstStyle/>
          <a:p>
            <a:pPr marL="0" indent="0" algn="ctr">
              <a:buNone/>
            </a:pPr>
            <a:r>
              <a:rPr lang="en-US" sz="900" dirty="0">
                <a:solidFill>
                  <a:srgbClr val="6B6459"/>
                </a:solidFill>
                <a:latin typeface="Calibri" pitchFamily="34" charset="0"/>
                <a:ea typeface="Calibri" pitchFamily="34" charset="-122"/>
                <a:cs typeface="Calibri" pitchFamily="34" charset="-120"/>
              </a:rPr>
              <a:t>Driving every design decision</a:t>
            </a:r>
            <a:endParaRPr lang="en-US" sz="900" dirty="0"/>
          </a:p>
        </p:txBody>
      </p:sp>
      <p:sp>
        <p:nvSpPr>
          <p:cNvPr id="16" name="Shape 14"/>
          <p:cNvSpPr/>
          <p:nvPr/>
        </p:nvSpPr>
        <p:spPr>
          <a:xfrm>
            <a:off x="4572000" y="1325880"/>
            <a:ext cx="2011680" cy="1325880"/>
          </a:xfrm>
          <a:prstGeom prst="rect">
            <a:avLst/>
          </a:prstGeom>
          <a:solidFill>
            <a:srgbClr val="F5F3EF"/>
          </a:solidFill>
          <a:ln/>
        </p:spPr>
        <p:txBody>
          <a:bodyPr/>
          <a:lstStyle/>
          <a:p>
            <a:endParaRPr lang="en-US"/>
          </a:p>
        </p:txBody>
      </p:sp>
      <p:sp>
        <p:nvSpPr>
          <p:cNvPr id="17" name="Shape 15"/>
          <p:cNvSpPr/>
          <p:nvPr/>
        </p:nvSpPr>
        <p:spPr>
          <a:xfrm>
            <a:off x="4572000" y="1325880"/>
            <a:ext cx="2011680" cy="64008"/>
          </a:xfrm>
          <a:prstGeom prst="rect">
            <a:avLst/>
          </a:prstGeom>
          <a:solidFill>
            <a:srgbClr val="C9933A"/>
          </a:solidFill>
          <a:ln/>
        </p:spPr>
        <p:txBody>
          <a:bodyPr/>
          <a:lstStyle/>
          <a:p>
            <a:endParaRPr lang="en-US"/>
          </a:p>
        </p:txBody>
      </p:sp>
      <p:sp>
        <p:nvSpPr>
          <p:cNvPr id="18" name="Text 16"/>
          <p:cNvSpPr/>
          <p:nvPr/>
        </p:nvSpPr>
        <p:spPr>
          <a:xfrm>
            <a:off x="4572000" y="1444752"/>
            <a:ext cx="2011680" cy="566928"/>
          </a:xfrm>
          <a:prstGeom prst="rect">
            <a:avLst/>
          </a:prstGeom>
          <a:noFill/>
          <a:ln/>
        </p:spPr>
        <p:txBody>
          <a:bodyPr wrap="square" rtlCol="0" anchor="ctr"/>
          <a:lstStyle/>
          <a:p>
            <a:pPr marL="0" indent="0" algn="ctr">
              <a:buNone/>
            </a:pPr>
            <a:r>
              <a:rPr lang="en-US" sz="3200" dirty="0">
                <a:solidFill>
                  <a:srgbClr val="0F1F3D"/>
                </a:solidFill>
                <a:latin typeface="Georgia" pitchFamily="34" charset="0"/>
                <a:ea typeface="Georgia" pitchFamily="34" charset="-122"/>
                <a:cs typeface="Georgia" pitchFamily="34" charset="-120"/>
              </a:rPr>
              <a:t>5 yrs</a:t>
            </a:r>
            <a:endParaRPr lang="en-US" sz="3200" dirty="0"/>
          </a:p>
        </p:txBody>
      </p:sp>
      <p:sp>
        <p:nvSpPr>
          <p:cNvPr id="19" name="Text 17"/>
          <p:cNvSpPr/>
          <p:nvPr/>
        </p:nvSpPr>
        <p:spPr>
          <a:xfrm>
            <a:off x="4572000" y="2011680"/>
            <a:ext cx="2011680" cy="256032"/>
          </a:xfrm>
          <a:prstGeom prst="rect">
            <a:avLst/>
          </a:prstGeom>
          <a:noFill/>
          <a:ln/>
        </p:spPr>
        <p:txBody>
          <a:bodyPr wrap="square" rtlCol="0" anchor="ctr"/>
          <a:lstStyle/>
          <a:p>
            <a:pPr marL="0" indent="0" algn="ctr">
              <a:buNone/>
            </a:pPr>
            <a:r>
              <a:rPr lang="en-US" sz="1100" b="1" dirty="0">
                <a:solidFill>
                  <a:srgbClr val="0F1F3D"/>
                </a:solidFill>
                <a:latin typeface="Calibri" pitchFamily="34" charset="0"/>
                <a:ea typeface="Calibri" pitchFamily="34" charset="-122"/>
                <a:cs typeface="Calibri" pitchFamily="34" charset="-120"/>
              </a:rPr>
              <a:t>Longitudinal Tracking</a:t>
            </a:r>
            <a:endParaRPr lang="en-US" sz="1100" dirty="0"/>
          </a:p>
        </p:txBody>
      </p:sp>
      <p:sp>
        <p:nvSpPr>
          <p:cNvPr id="20" name="Text 18"/>
          <p:cNvSpPr/>
          <p:nvPr/>
        </p:nvSpPr>
        <p:spPr>
          <a:xfrm>
            <a:off x="4572000" y="2286000"/>
            <a:ext cx="2011680" cy="292608"/>
          </a:xfrm>
          <a:prstGeom prst="rect">
            <a:avLst/>
          </a:prstGeom>
          <a:noFill/>
          <a:ln/>
        </p:spPr>
        <p:txBody>
          <a:bodyPr wrap="square" rtlCol="0" anchor="ctr"/>
          <a:lstStyle/>
          <a:p>
            <a:pPr marL="0" indent="0" algn="ctr">
              <a:buNone/>
            </a:pPr>
            <a:r>
              <a:rPr lang="en-US" sz="900" dirty="0">
                <a:solidFill>
                  <a:srgbClr val="6B6459"/>
                </a:solidFill>
                <a:latin typeface="Calibri" pitchFamily="34" charset="0"/>
                <a:ea typeface="Calibri" pitchFamily="34" charset="-122"/>
                <a:cs typeface="Calibri" pitchFamily="34" charset="-120"/>
              </a:rPr>
              <a:t>Retention &amp; graduation outcomes</a:t>
            </a:r>
            <a:endParaRPr lang="en-US" sz="900" dirty="0"/>
          </a:p>
        </p:txBody>
      </p:sp>
      <p:sp>
        <p:nvSpPr>
          <p:cNvPr id="21" name="Shape 19"/>
          <p:cNvSpPr/>
          <p:nvPr/>
        </p:nvSpPr>
        <p:spPr>
          <a:xfrm>
            <a:off x="6720840" y="1325880"/>
            <a:ext cx="2011680" cy="1325880"/>
          </a:xfrm>
          <a:prstGeom prst="rect">
            <a:avLst/>
          </a:prstGeom>
          <a:solidFill>
            <a:srgbClr val="F5F3EF"/>
          </a:solidFill>
          <a:ln/>
        </p:spPr>
        <p:txBody>
          <a:bodyPr/>
          <a:lstStyle/>
          <a:p>
            <a:endParaRPr lang="en-US"/>
          </a:p>
        </p:txBody>
      </p:sp>
      <p:sp>
        <p:nvSpPr>
          <p:cNvPr id="22" name="Shape 20"/>
          <p:cNvSpPr/>
          <p:nvPr/>
        </p:nvSpPr>
        <p:spPr>
          <a:xfrm>
            <a:off x="6720840" y="1325880"/>
            <a:ext cx="2011680" cy="64008"/>
          </a:xfrm>
          <a:prstGeom prst="rect">
            <a:avLst/>
          </a:prstGeom>
          <a:solidFill>
            <a:srgbClr val="C9933A"/>
          </a:solidFill>
          <a:ln/>
        </p:spPr>
        <p:txBody>
          <a:bodyPr/>
          <a:lstStyle/>
          <a:p>
            <a:endParaRPr lang="en-US"/>
          </a:p>
        </p:txBody>
      </p:sp>
      <p:sp>
        <p:nvSpPr>
          <p:cNvPr id="23" name="Text 21"/>
          <p:cNvSpPr/>
          <p:nvPr/>
        </p:nvSpPr>
        <p:spPr>
          <a:xfrm>
            <a:off x="6720840" y="1444752"/>
            <a:ext cx="2011680" cy="566928"/>
          </a:xfrm>
          <a:prstGeom prst="rect">
            <a:avLst/>
          </a:prstGeom>
          <a:noFill/>
          <a:ln/>
        </p:spPr>
        <p:txBody>
          <a:bodyPr wrap="square" rtlCol="0" anchor="ctr"/>
          <a:lstStyle/>
          <a:p>
            <a:pPr marL="0" indent="0" algn="ctr">
              <a:buNone/>
            </a:pPr>
            <a:r>
              <a:rPr lang="en-US" sz="3200" dirty="0">
                <a:solidFill>
                  <a:srgbClr val="0F1F3D"/>
                </a:solidFill>
                <a:latin typeface="Georgia" pitchFamily="34" charset="0"/>
                <a:ea typeface="Georgia" pitchFamily="34" charset="-122"/>
                <a:cs typeface="Georgia" pitchFamily="34" charset="-120"/>
              </a:rPr>
              <a:t>FERPA</a:t>
            </a:r>
            <a:endParaRPr lang="en-US" sz="3200" dirty="0"/>
          </a:p>
        </p:txBody>
      </p:sp>
      <p:sp>
        <p:nvSpPr>
          <p:cNvPr id="24" name="Text 22"/>
          <p:cNvSpPr/>
          <p:nvPr/>
        </p:nvSpPr>
        <p:spPr>
          <a:xfrm>
            <a:off x="6720840" y="2011680"/>
            <a:ext cx="2011680" cy="256032"/>
          </a:xfrm>
          <a:prstGeom prst="rect">
            <a:avLst/>
          </a:prstGeom>
          <a:noFill/>
          <a:ln/>
        </p:spPr>
        <p:txBody>
          <a:bodyPr wrap="square" rtlCol="0" anchor="ctr"/>
          <a:lstStyle/>
          <a:p>
            <a:pPr marL="0" indent="0" algn="ctr">
              <a:buNone/>
            </a:pPr>
            <a:r>
              <a:rPr lang="en-US" sz="1100" b="1" dirty="0">
                <a:solidFill>
                  <a:srgbClr val="0F1F3D"/>
                </a:solidFill>
                <a:latin typeface="Calibri" pitchFamily="34" charset="0"/>
                <a:ea typeface="Calibri" pitchFamily="34" charset="-122"/>
                <a:cs typeface="Calibri" pitchFamily="34" charset="-120"/>
              </a:rPr>
              <a:t>Compliant</a:t>
            </a:r>
            <a:endParaRPr lang="en-US" sz="1100" dirty="0"/>
          </a:p>
        </p:txBody>
      </p:sp>
      <p:sp>
        <p:nvSpPr>
          <p:cNvPr id="25" name="Text 23"/>
          <p:cNvSpPr/>
          <p:nvPr/>
        </p:nvSpPr>
        <p:spPr>
          <a:xfrm>
            <a:off x="6720840" y="2286000"/>
            <a:ext cx="2011680" cy="292608"/>
          </a:xfrm>
          <a:prstGeom prst="rect">
            <a:avLst/>
          </a:prstGeom>
          <a:noFill/>
          <a:ln/>
        </p:spPr>
        <p:txBody>
          <a:bodyPr wrap="square" rtlCol="0" anchor="ctr"/>
          <a:lstStyle/>
          <a:p>
            <a:pPr marL="0" indent="0" algn="ctr">
              <a:buNone/>
            </a:pPr>
            <a:r>
              <a:rPr lang="en-US" sz="900" dirty="0">
                <a:solidFill>
                  <a:srgbClr val="6B6459"/>
                </a:solidFill>
                <a:latin typeface="Calibri" pitchFamily="34" charset="0"/>
                <a:ea typeface="Calibri" pitchFamily="34" charset="-122"/>
                <a:cs typeface="Calibri" pitchFamily="34" charset="-120"/>
              </a:rPr>
              <a:t>Student ID abstraction architecture</a:t>
            </a:r>
            <a:endParaRPr lang="en-US" sz="900" dirty="0"/>
          </a:p>
        </p:txBody>
      </p:sp>
      <p:sp>
        <p:nvSpPr>
          <p:cNvPr id="26" name="Text 24"/>
          <p:cNvSpPr/>
          <p:nvPr/>
        </p:nvSpPr>
        <p:spPr>
          <a:xfrm>
            <a:off x="365760" y="2834640"/>
            <a:ext cx="4114800" cy="256032"/>
          </a:xfrm>
          <a:prstGeom prst="rect">
            <a:avLst/>
          </a:prstGeom>
          <a:noFill/>
          <a:ln/>
        </p:spPr>
        <p:txBody>
          <a:bodyPr wrap="square" rtlCol="0" anchor="ctr"/>
          <a:lstStyle/>
          <a:p>
            <a:pPr marL="0" indent="0">
              <a:buNone/>
            </a:pPr>
            <a:r>
              <a:rPr lang="en-US" sz="1100" b="1" dirty="0">
                <a:solidFill>
                  <a:srgbClr val="C9933A"/>
                </a:solidFill>
                <a:latin typeface="Calibri" pitchFamily="34" charset="0"/>
                <a:ea typeface="Calibri" pitchFamily="34" charset="-122"/>
                <a:cs typeface="Calibri" pitchFamily="34" charset="-120"/>
              </a:rPr>
              <a:t>What I built</a:t>
            </a:r>
            <a:endParaRPr lang="en-US" sz="1100" dirty="0"/>
          </a:p>
        </p:txBody>
      </p:sp>
      <p:sp>
        <p:nvSpPr>
          <p:cNvPr id="27" name="Text 25"/>
          <p:cNvSpPr/>
          <p:nvPr/>
        </p:nvSpPr>
        <p:spPr>
          <a:xfrm>
            <a:off x="365760" y="3108960"/>
            <a:ext cx="4114800" cy="914400"/>
          </a:xfrm>
          <a:prstGeom prst="rect">
            <a:avLst/>
          </a:prstGeom>
          <a:noFill/>
          <a:ln/>
        </p:spPr>
        <p:txBody>
          <a:bodyPr wrap="square" rtlCol="0" anchor="ctr"/>
          <a:lstStyle/>
          <a:p>
            <a:pPr marL="0" indent="0">
              <a:lnSpc>
                <a:spcPct val="135000"/>
              </a:lnSpc>
              <a:buNone/>
            </a:pPr>
            <a:r>
              <a:rPr lang="en-US" sz="1200" dirty="0">
                <a:solidFill>
                  <a:srgbClr val="1A1612"/>
                </a:solidFill>
                <a:latin typeface="Calibri" pitchFamily="34" charset="0"/>
                <a:ea typeface="Calibri" pitchFamily="34" charset="-122"/>
                <a:cs typeface="Calibri" pitchFamily="34" charset="-120"/>
              </a:rPr>
              <a:t>A multi-phase relational database tracking probation history, advising interactions, demographics, course-level risk factors, and intervention outcomes for ECS students — drawing from 3 institutional data sources.</a:t>
            </a:r>
            <a:endParaRPr lang="en-US" sz="1200" dirty="0"/>
          </a:p>
        </p:txBody>
      </p:sp>
      <p:sp>
        <p:nvSpPr>
          <p:cNvPr id="28" name="Text 26"/>
          <p:cNvSpPr/>
          <p:nvPr/>
        </p:nvSpPr>
        <p:spPr>
          <a:xfrm>
            <a:off x="4663440" y="2834640"/>
            <a:ext cx="4206240" cy="256032"/>
          </a:xfrm>
          <a:prstGeom prst="rect">
            <a:avLst/>
          </a:prstGeom>
          <a:noFill/>
          <a:ln/>
        </p:spPr>
        <p:txBody>
          <a:bodyPr wrap="square" rtlCol="0" anchor="ctr"/>
          <a:lstStyle/>
          <a:p>
            <a:pPr marL="0" indent="0">
              <a:buNone/>
            </a:pPr>
            <a:r>
              <a:rPr lang="en-US" sz="1100" b="1" dirty="0">
                <a:solidFill>
                  <a:srgbClr val="C9933A"/>
                </a:solidFill>
                <a:latin typeface="Calibri" pitchFamily="34" charset="0"/>
                <a:ea typeface="Calibri" pitchFamily="34" charset="-122"/>
                <a:cs typeface="Calibri" pitchFamily="34" charset="-120"/>
              </a:rPr>
              <a:t>Key insight</a:t>
            </a:r>
            <a:endParaRPr lang="en-US" sz="1100" dirty="0"/>
          </a:p>
        </p:txBody>
      </p:sp>
      <p:sp>
        <p:nvSpPr>
          <p:cNvPr id="29" name="Text 27"/>
          <p:cNvSpPr/>
          <p:nvPr/>
        </p:nvSpPr>
        <p:spPr>
          <a:xfrm>
            <a:off x="4663440" y="3108960"/>
            <a:ext cx="4206240" cy="914400"/>
          </a:xfrm>
          <a:prstGeom prst="rect">
            <a:avLst/>
          </a:prstGeom>
          <a:noFill/>
          <a:ln/>
        </p:spPr>
        <p:txBody>
          <a:bodyPr wrap="square" rtlCol="0" anchor="ctr"/>
          <a:lstStyle/>
          <a:p>
            <a:pPr marL="0" indent="0">
              <a:lnSpc>
                <a:spcPct val="135000"/>
              </a:lnSpc>
              <a:buNone/>
            </a:pPr>
            <a:r>
              <a:rPr lang="en-US" sz="1200" dirty="0">
                <a:solidFill>
                  <a:srgbClr val="1A1612"/>
                </a:solidFill>
                <a:latin typeface="Calibri" pitchFamily="34" charset="0"/>
                <a:ea typeface="Calibri" pitchFamily="34" charset="-122"/>
                <a:cs typeface="Calibri" pitchFamily="34" charset="-120"/>
              </a:rPr>
              <a:t>Design decisions made early determine what questions can be asked later. Built around 12 specific institutional questions so every entity and relationship was purposeful — not assumed.</a:t>
            </a:r>
            <a:endParaRPr lang="en-US" sz="1200" dirty="0"/>
          </a:p>
        </p:txBody>
      </p:sp>
      <p:sp>
        <p:nvSpPr>
          <p:cNvPr id="30" name="Text 28"/>
          <p:cNvSpPr/>
          <p:nvPr/>
        </p:nvSpPr>
        <p:spPr>
          <a:xfrm>
            <a:off x="365760" y="4754880"/>
            <a:ext cx="8412480" cy="256032"/>
          </a:xfrm>
          <a:prstGeom prst="rect">
            <a:avLst/>
          </a:prstGeom>
          <a:noFill/>
          <a:ln/>
        </p:spPr>
        <p:txBody>
          <a:bodyPr wrap="square" rtlCol="0" anchor="ctr"/>
          <a:lstStyle/>
          <a:p>
            <a:pPr marL="0" indent="0">
              <a:buNone/>
            </a:pPr>
            <a:r>
              <a:rPr lang="en-US" sz="900" i="1" dirty="0">
                <a:solidFill>
                  <a:srgbClr val="6B6459"/>
                </a:solidFill>
                <a:latin typeface="Calibri" pitchFamily="34" charset="0"/>
                <a:ea typeface="Calibri" pitchFamily="34" charset="-122"/>
                <a:cs typeface="Calibri" pitchFamily="34" charset="-120"/>
              </a:rPr>
              <a:t>Learning outcome: Data Collection &amp; Storage  ·  Creates longitudinal infrastructure for Thriving in ECS to measure intervention effectiveness over time.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F1F3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933A"/>
          </a:solidFill>
          <a:ln/>
        </p:spPr>
        <p:txBody>
          <a:bodyPr/>
          <a:lstStyle/>
          <a:p>
            <a:endParaRPr lang="en-US"/>
          </a:p>
        </p:txBody>
      </p:sp>
      <p:sp>
        <p:nvSpPr>
          <p:cNvPr id="3" name="Text 1"/>
          <p:cNvSpPr/>
          <p:nvPr/>
        </p:nvSpPr>
        <p:spPr>
          <a:xfrm>
            <a:off x="457200" y="274320"/>
            <a:ext cx="8229600" cy="228600"/>
          </a:xfrm>
          <a:prstGeom prst="rect">
            <a:avLst/>
          </a:prstGeom>
          <a:noFill/>
          <a:ln/>
        </p:spPr>
        <p:txBody>
          <a:bodyPr wrap="square" rtlCol="0" anchor="ctr"/>
          <a:lstStyle/>
          <a:p>
            <a:pPr marL="0" indent="0">
              <a:buNone/>
            </a:pPr>
            <a:r>
              <a:rPr lang="en-US" sz="900" b="1" kern="0" spc="400" dirty="0">
                <a:solidFill>
                  <a:srgbClr val="C9933A"/>
                </a:solidFill>
                <a:latin typeface="Calibri" pitchFamily="34" charset="0"/>
                <a:ea typeface="Calibri" pitchFamily="34" charset="-122"/>
                <a:cs typeface="Calibri" pitchFamily="34" charset="-120"/>
              </a:rPr>
              <a:t>PROJECT SPOTLIGHT  02  ·  BUSINESS NEED</a:t>
            </a:r>
            <a:endParaRPr lang="en-US" sz="900" dirty="0"/>
          </a:p>
        </p:txBody>
      </p:sp>
      <p:sp>
        <p:nvSpPr>
          <p:cNvPr id="4" name="Text 2"/>
          <p:cNvSpPr/>
          <p:nvPr/>
        </p:nvSpPr>
        <p:spPr>
          <a:xfrm>
            <a:off x="457200" y="530352"/>
            <a:ext cx="8229600" cy="685800"/>
          </a:xfrm>
          <a:prstGeom prst="rect">
            <a:avLst/>
          </a:prstGeom>
          <a:noFill/>
          <a:ln/>
        </p:spPr>
        <p:txBody>
          <a:bodyPr wrap="square" rtlCol="0" anchor="ctr"/>
          <a:lstStyle/>
          <a:p>
            <a:pPr marL="0" indent="0">
              <a:buNone/>
            </a:pPr>
            <a:r>
              <a:rPr lang="en-US" sz="2200" dirty="0">
                <a:solidFill>
                  <a:srgbClr val="FFFFFF"/>
                </a:solidFill>
                <a:latin typeface="Georgia" pitchFamily="34" charset="0"/>
                <a:ea typeface="Georgia" pitchFamily="34" charset="-122"/>
                <a:cs typeface="Georgia" pitchFamily="34" charset="-120"/>
              </a:rPr>
              <a:t>NLP Text Mining — Thriving in ECS Workshop</a:t>
            </a:r>
            <a:endParaRPr lang="en-US" sz="2200" dirty="0"/>
          </a:p>
        </p:txBody>
      </p:sp>
      <p:sp>
        <p:nvSpPr>
          <p:cNvPr id="5" name="Shape 3"/>
          <p:cNvSpPr/>
          <p:nvPr/>
        </p:nvSpPr>
        <p:spPr>
          <a:xfrm>
            <a:off x="457200" y="1261872"/>
            <a:ext cx="8229600" cy="18288"/>
          </a:xfrm>
          <a:prstGeom prst="rect">
            <a:avLst/>
          </a:prstGeom>
          <a:solidFill>
            <a:srgbClr val="C9933A">
              <a:alpha val="40000"/>
            </a:srgbClr>
          </a:solidFill>
          <a:ln/>
        </p:spPr>
        <p:txBody>
          <a:bodyPr/>
          <a:lstStyle/>
          <a:p>
            <a:endParaRPr lang="en-US"/>
          </a:p>
        </p:txBody>
      </p:sp>
      <p:sp>
        <p:nvSpPr>
          <p:cNvPr id="6" name="Text 4"/>
          <p:cNvSpPr/>
          <p:nvPr/>
        </p:nvSpPr>
        <p:spPr>
          <a:xfrm>
            <a:off x="457200" y="1417320"/>
            <a:ext cx="4023360" cy="228600"/>
          </a:xfrm>
          <a:prstGeom prst="rect">
            <a:avLst/>
          </a:prstGeom>
          <a:noFill/>
          <a:ln/>
        </p:spPr>
        <p:txBody>
          <a:bodyPr wrap="square" rtlCol="0" anchor="ctr"/>
          <a:lstStyle/>
          <a:p>
            <a:pPr marL="0" indent="0">
              <a:buNone/>
            </a:pPr>
            <a:r>
              <a:rPr lang="en-US" sz="1000" b="1" kern="0" spc="200" dirty="0">
                <a:solidFill>
                  <a:srgbClr val="C9933A"/>
                </a:solidFill>
                <a:latin typeface="Calibri" pitchFamily="34" charset="0"/>
                <a:ea typeface="Calibri" pitchFamily="34" charset="-122"/>
                <a:cs typeface="Calibri" pitchFamily="34" charset="-120"/>
              </a:rPr>
              <a:t>THE WORKSHOP</a:t>
            </a:r>
            <a:endParaRPr lang="en-US" sz="1000" dirty="0"/>
          </a:p>
        </p:txBody>
      </p:sp>
      <p:sp>
        <p:nvSpPr>
          <p:cNvPr id="7" name="Text 5"/>
          <p:cNvSpPr/>
          <p:nvPr/>
        </p:nvSpPr>
        <p:spPr>
          <a:xfrm>
            <a:off x="457200" y="1691640"/>
            <a:ext cx="4023360" cy="1371600"/>
          </a:xfrm>
          <a:prstGeom prst="rect">
            <a:avLst/>
          </a:prstGeom>
          <a:noFill/>
          <a:ln/>
        </p:spPr>
        <p:txBody>
          <a:bodyPr wrap="square" rtlCol="0" anchor="ctr"/>
          <a:lstStyle/>
          <a:p>
            <a:pPr marL="0" indent="0">
              <a:lnSpc>
                <a:spcPct val="140000"/>
              </a:lnSpc>
              <a:buNone/>
            </a:pPr>
            <a:r>
              <a:rPr lang="en-US" sz="1200" dirty="0">
                <a:solidFill>
                  <a:srgbClr val="DDEEFF"/>
                </a:solidFill>
                <a:latin typeface="Calibri" pitchFamily="34" charset="0"/>
                <a:ea typeface="Calibri" pitchFamily="34" charset="-122"/>
                <a:cs typeface="Calibri" pitchFamily="34" charset="-120"/>
              </a:rPr>
              <a:t>In Spring 2024, ECS piloted “Powering Through Academic Recovery” — a mandatory workshop for students on the highest level of probation whose suspension appeals were approved. Held January 26, 2024, it replaced the formal appeal process with a required intervention focused on early support and reflection.</a:t>
            </a:r>
            <a:endParaRPr lang="en-US" sz="1200" dirty="0"/>
          </a:p>
        </p:txBody>
      </p:sp>
      <p:sp>
        <p:nvSpPr>
          <p:cNvPr id="8" name="Text 6"/>
          <p:cNvSpPr/>
          <p:nvPr/>
        </p:nvSpPr>
        <p:spPr>
          <a:xfrm>
            <a:off x="4754880" y="1417320"/>
            <a:ext cx="4114800" cy="228600"/>
          </a:xfrm>
          <a:prstGeom prst="rect">
            <a:avLst/>
          </a:prstGeom>
          <a:noFill/>
          <a:ln/>
        </p:spPr>
        <p:txBody>
          <a:bodyPr wrap="square" rtlCol="0" anchor="ctr"/>
          <a:lstStyle/>
          <a:p>
            <a:pPr marL="0" indent="0">
              <a:buNone/>
            </a:pPr>
            <a:r>
              <a:rPr lang="en-US" sz="1000" b="1" kern="0" spc="200" dirty="0">
                <a:solidFill>
                  <a:srgbClr val="C9933A"/>
                </a:solidFill>
                <a:latin typeface="Calibri" pitchFamily="34" charset="0"/>
                <a:ea typeface="Calibri" pitchFamily="34" charset="-122"/>
                <a:cs typeface="Calibri" pitchFamily="34" charset="-120"/>
              </a:rPr>
              <a:t>THE APPROACH</a:t>
            </a:r>
            <a:endParaRPr lang="en-US" sz="1000" dirty="0"/>
          </a:p>
        </p:txBody>
      </p:sp>
      <p:sp>
        <p:nvSpPr>
          <p:cNvPr id="9" name="Text 7"/>
          <p:cNvSpPr/>
          <p:nvPr/>
        </p:nvSpPr>
        <p:spPr>
          <a:xfrm>
            <a:off x="4754880" y="1691640"/>
            <a:ext cx="4114800" cy="1371600"/>
          </a:xfrm>
          <a:prstGeom prst="rect">
            <a:avLst/>
          </a:prstGeom>
          <a:noFill/>
          <a:ln/>
        </p:spPr>
        <p:txBody>
          <a:bodyPr wrap="square" rtlCol="0" anchor="ctr"/>
          <a:lstStyle/>
          <a:p>
            <a:pPr marL="0" indent="0">
              <a:lnSpc>
                <a:spcPct val="140000"/>
              </a:lnSpc>
              <a:buNone/>
            </a:pPr>
            <a:r>
              <a:rPr lang="en-US" sz="1200" dirty="0">
                <a:solidFill>
                  <a:srgbClr val="DDEEFF"/>
                </a:solidFill>
                <a:latin typeface="Calibri" pitchFamily="34" charset="0"/>
                <a:ea typeface="Calibri" pitchFamily="34" charset="-122"/>
                <a:cs typeface="Calibri" pitchFamily="34" charset="-120"/>
              </a:rPr>
              <a:t>Facilitated by ECS Career Services and Student Success Advising. Grounded in design thinking — key themes included mind mapping, problem framing, prototyping, and articulating NACE career competencies.</a:t>
            </a:r>
            <a:endParaRPr lang="en-US" sz="1200" dirty="0"/>
          </a:p>
        </p:txBody>
      </p:sp>
      <p:sp>
        <p:nvSpPr>
          <p:cNvPr id="10" name="Shape 8"/>
          <p:cNvSpPr/>
          <p:nvPr/>
        </p:nvSpPr>
        <p:spPr>
          <a:xfrm>
            <a:off x="4572000" y="1417320"/>
            <a:ext cx="18288" cy="1645920"/>
          </a:xfrm>
          <a:prstGeom prst="rect">
            <a:avLst/>
          </a:prstGeom>
          <a:solidFill>
            <a:srgbClr val="C9933A">
              <a:alpha val="30000"/>
            </a:srgbClr>
          </a:solidFill>
          <a:ln/>
        </p:spPr>
        <p:txBody>
          <a:bodyPr/>
          <a:lstStyle/>
          <a:p>
            <a:endParaRPr lang="en-US"/>
          </a:p>
        </p:txBody>
      </p:sp>
      <p:sp>
        <p:nvSpPr>
          <p:cNvPr id="11" name="Shape 9"/>
          <p:cNvSpPr/>
          <p:nvPr/>
        </p:nvSpPr>
        <p:spPr>
          <a:xfrm>
            <a:off x="457200" y="3200400"/>
            <a:ext cx="8229600" cy="18288"/>
          </a:xfrm>
          <a:prstGeom prst="rect">
            <a:avLst/>
          </a:prstGeom>
          <a:solidFill>
            <a:srgbClr val="C9933A">
              <a:alpha val="40000"/>
            </a:srgbClr>
          </a:solidFill>
          <a:ln/>
        </p:spPr>
        <p:txBody>
          <a:bodyPr/>
          <a:lstStyle/>
          <a:p>
            <a:endParaRPr lang="en-US"/>
          </a:p>
        </p:txBody>
      </p:sp>
      <p:sp>
        <p:nvSpPr>
          <p:cNvPr id="12" name="Text 10"/>
          <p:cNvSpPr/>
          <p:nvPr/>
        </p:nvSpPr>
        <p:spPr>
          <a:xfrm>
            <a:off x="457200" y="3337560"/>
            <a:ext cx="8229600" cy="228600"/>
          </a:xfrm>
          <a:prstGeom prst="rect">
            <a:avLst/>
          </a:prstGeom>
          <a:noFill/>
          <a:ln/>
        </p:spPr>
        <p:txBody>
          <a:bodyPr wrap="square" rtlCol="0" anchor="ctr"/>
          <a:lstStyle/>
          <a:p>
            <a:pPr marL="0" indent="0">
              <a:buNone/>
            </a:pPr>
            <a:r>
              <a:rPr lang="en-US" sz="1000" b="1" kern="0" spc="200" dirty="0">
                <a:solidFill>
                  <a:srgbClr val="C9933A"/>
                </a:solidFill>
                <a:latin typeface="Calibri" pitchFamily="34" charset="0"/>
                <a:ea typeface="Calibri" pitchFamily="34" charset="-122"/>
                <a:cs typeface="Calibri" pitchFamily="34" charset="-120"/>
              </a:rPr>
              <a:t>THE RESEARCH QUESTION</a:t>
            </a:r>
            <a:endParaRPr lang="en-US" sz="1000" dirty="0"/>
          </a:p>
        </p:txBody>
      </p:sp>
      <p:sp>
        <p:nvSpPr>
          <p:cNvPr id="13" name="Text 11"/>
          <p:cNvSpPr/>
          <p:nvPr/>
        </p:nvSpPr>
        <p:spPr>
          <a:xfrm>
            <a:off x="457200" y="3611880"/>
            <a:ext cx="8321040" cy="1005840"/>
          </a:xfrm>
          <a:prstGeom prst="rect">
            <a:avLst/>
          </a:prstGeom>
          <a:noFill/>
          <a:ln/>
        </p:spPr>
        <p:txBody>
          <a:bodyPr wrap="square" rtlCol="0" anchor="ctr"/>
          <a:lstStyle/>
          <a:p>
            <a:pPr marL="0" indent="0">
              <a:lnSpc>
                <a:spcPct val="140000"/>
              </a:lnSpc>
              <a:buNone/>
            </a:pPr>
            <a:r>
              <a:rPr lang="en-US" sz="1300" dirty="0">
                <a:solidFill>
                  <a:srgbClr val="DDEEFF"/>
                </a:solidFill>
                <a:latin typeface="Calibri" pitchFamily="34" charset="0"/>
                <a:ea typeface="Calibri" pitchFamily="34" charset="-122"/>
                <a:cs typeface="Calibri" pitchFamily="34" charset="-120"/>
              </a:rPr>
              <a:t>This project uses student survey responses from before and after the workshop to build and explore a text corpus — applying text mining to uncover patterns in student sentiment, reflection, and engagement, and preparing the data for potential future classification or clustering models.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F3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933A"/>
          </a:solidFill>
          <a:ln/>
        </p:spPr>
        <p:txBody>
          <a:bodyPr/>
          <a:lstStyle/>
          <a:p>
            <a:endParaRPr lang="en-US"/>
          </a:p>
        </p:txBody>
      </p:sp>
      <p:sp>
        <p:nvSpPr>
          <p:cNvPr id="3" name="Text 1"/>
          <p:cNvSpPr/>
          <p:nvPr/>
        </p:nvSpPr>
        <p:spPr>
          <a:xfrm>
            <a:off x="457200" y="182880"/>
            <a:ext cx="8229600" cy="200000"/>
          </a:xfrm>
          <a:prstGeom prst="rect">
            <a:avLst/>
          </a:prstGeom>
          <a:noFill/>
          <a:ln/>
        </p:spPr>
        <p:txBody>
          <a:bodyPr wrap="square" rtlCol="0" anchor="ctr"/>
          <a:lstStyle/>
          <a:p>
            <a:pPr marL="0" indent="0">
              <a:buNone/>
            </a:pPr>
            <a:r>
              <a:rPr lang="en-US" sz="900" b="1" kern="0" spc="400" dirty="0">
                <a:solidFill>
                  <a:srgbClr val="C9933A"/>
                </a:solidFill>
                <a:latin typeface="Calibri" pitchFamily="34" charset="0"/>
              </a:rPr>
              <a:t>PROJECT SPOTLIGHT  02  ·  KEY VISUALIZATIONS</a:t>
            </a:r>
          </a:p>
        </p:txBody>
      </p:sp>
      <p:sp>
        <p:nvSpPr>
          <p:cNvPr id="4" name="Text 2"/>
          <p:cNvSpPr/>
          <p:nvPr/>
        </p:nvSpPr>
        <p:spPr>
          <a:xfrm>
            <a:off x="457200" y="384480"/>
            <a:ext cx="8229600" cy="420000"/>
          </a:xfrm>
          <a:prstGeom prst="rect">
            <a:avLst/>
          </a:prstGeom>
          <a:noFill/>
          <a:ln/>
        </p:spPr>
        <p:txBody>
          <a:bodyPr wrap="square" rtlCol="0" anchor="ctr"/>
          <a:lstStyle/>
          <a:p>
            <a:pPr marL="0" indent="0">
              <a:buNone/>
            </a:pPr>
            <a:r>
              <a:rPr lang="en-US" sz="1800" dirty="0">
                <a:solidFill>
                  <a:srgbClr val="FFFFFF"/>
                </a:solidFill>
                <a:latin typeface="Georgia" pitchFamily="34" charset="0"/>
              </a:rPr>
              <a:t>NLP Text Mining — Thriving in ECS Workshop</a:t>
            </a:r>
          </a:p>
        </p:txBody>
      </p:sp>
      <p:sp>
        <p:nvSpPr>
          <p:cNvPr id="5" name="Shape 3"/>
          <p:cNvSpPr/>
          <p:nvPr/>
        </p:nvSpPr>
        <p:spPr>
          <a:xfrm>
            <a:off x="457200" y="840960"/>
            <a:ext cx="8229600" cy="18288"/>
          </a:xfrm>
          <a:prstGeom prst="rect">
            <a:avLst/>
          </a:prstGeom>
          <a:solidFill>
            <a:srgbClr val="C9933A">
              <a:alpha val="40000"/>
            </a:srgbClr>
          </a:solidFill>
          <a:ln/>
        </p:spPr>
        <p:txBody>
          <a:bodyPr/>
          <a:lstStyle/>
          <a:p>
            <a:endParaRPr lang="en-US"/>
          </a:p>
        </p:txBody>
      </p:sp>
      <p:pic>
        <p:nvPicPr>
          <p:cNvPr id="6" name="Pic Sentiment"/>
          <p:cNvPicPr>
            <a:picLocks noChangeAspect="1"/>
          </p:cNvPicPr>
          <p:nvPr/>
        </p:nvPicPr>
        <p:blipFill>
          <a:blip r:embed="rId2"/>
          <a:stretch>
            <a:fillRect/>
          </a:stretch>
        </p:blipFill>
        <p:spPr>
          <a:xfrm>
            <a:off x="457200" y="896760"/>
            <a:ext cx="1920240" cy="1371600"/>
          </a:xfrm>
          <a:prstGeom prst="rect">
            <a:avLst/>
          </a:prstGeom>
        </p:spPr>
      </p:pic>
      <p:sp>
        <p:nvSpPr>
          <p:cNvPr id="7" name="Cap1"/>
          <p:cNvSpPr/>
          <p:nvPr/>
        </p:nvSpPr>
        <p:spPr>
          <a:xfrm>
            <a:off x="457200" y="2304360"/>
            <a:ext cx="1920240" cy="640080"/>
          </a:xfrm>
          <a:prstGeom prst="rect">
            <a:avLst/>
          </a:prstGeom>
          <a:noFill/>
          <a:ln/>
        </p:spPr>
        <p:txBody>
          <a:bodyPr wrap="square" rtlCol="0" anchor="t"/>
          <a:lstStyle/>
          <a:p>
            <a:pPr marL="0" indent="0">
              <a:lnSpc>
                <a:spcPct val="120000"/>
              </a:lnSpc>
              <a:buNone/>
            </a:pPr>
            <a:r>
              <a:rPr lang="en-US" sz="850" b="1" dirty="0">
                <a:solidFill>
                  <a:srgbClr val="C9933A"/>
                </a:solidFill>
                <a:latin typeface="Calibri" pitchFamily="34" charset="0"/>
              </a:rPr>
              <a:t>Sentiment Shifted Post-Workshop</a:t>
            </a:r>
          </a:p>
          <a:p>
            <a:pPr marL="0" indent="0">
              <a:lnSpc>
                <a:spcPct val="115000"/>
              </a:lnSpc>
              <a:buNone/>
            </a:pPr>
            <a:r>
              <a:rPr lang="en-US" sz="780" dirty="0">
                <a:solidFill>
                  <a:srgbClr val="AABBCC"/>
                </a:solidFill>
                <a:latin typeface="Calibri" pitchFamily="34" charset="0"/>
              </a:rPr>
              <a:t>Pre median 0.43 vs. post 0.17 — wider variance post reflects deeper critical reflection after the workshop.</a:t>
            </a:r>
          </a:p>
        </p:txBody>
      </p:sp>
      <p:pic>
        <p:nvPicPr>
          <p:cNvPr id="8" name="Pic WC0"/>
          <p:cNvPicPr>
            <a:picLocks noChangeAspect="1"/>
          </p:cNvPicPr>
          <p:nvPr/>
        </p:nvPicPr>
        <p:blipFill>
          <a:blip r:embed="rId4"/>
          <a:stretch>
            <a:fillRect/>
          </a:stretch>
        </p:blipFill>
        <p:spPr>
          <a:xfrm>
            <a:off x="2560320" y="896760"/>
            <a:ext cx="2194560" cy="1371600"/>
          </a:xfrm>
          <a:prstGeom prst="rect">
            <a:avLst/>
          </a:prstGeom>
        </p:spPr>
      </p:pic>
      <p:sp>
        <p:nvSpPr>
          <p:cNvPr id="9" name="Cap2"/>
          <p:cNvSpPr/>
          <p:nvPr/>
        </p:nvSpPr>
        <p:spPr>
          <a:xfrm>
            <a:off x="2560320" y="2304360"/>
            <a:ext cx="2194560" cy="640080"/>
          </a:xfrm>
          <a:prstGeom prst="rect">
            <a:avLst/>
          </a:prstGeom>
          <a:noFill/>
          <a:ln/>
        </p:spPr>
        <p:txBody>
          <a:bodyPr wrap="square" rtlCol="0" anchor="t"/>
          <a:lstStyle/>
          <a:p>
            <a:pPr marL="0" indent="0">
              <a:lnSpc>
                <a:spcPct val="120000"/>
              </a:lnSpc>
              <a:buNone/>
            </a:pPr>
            <a:r>
              <a:rPr lang="en-US" sz="850" b="1" dirty="0">
                <a:solidFill>
                  <a:srgbClr val="C9933A"/>
                </a:solidFill>
                <a:latin typeface="Calibri" pitchFamily="34" charset="0"/>
              </a:rPr>
              <a:t>Cluster 0: Goal-Oriented Language</a:t>
            </a:r>
          </a:p>
          <a:p>
            <a:pPr marL="0" indent="0">
              <a:lnSpc>
                <a:spcPct val="115000"/>
              </a:lnSpc>
              <a:buNone/>
            </a:pPr>
            <a:r>
              <a:rPr lang="en-US" sz="780" dirty="0">
                <a:solidFill>
                  <a:srgbClr val="AABBCC"/>
                </a:solidFill>
                <a:latin typeface="Calibri" pitchFamily="34" charset="0"/>
              </a:rPr>
              <a:t>“yes,” “heard,” “good” — affirming, future-focused language suggesting high engagement and sense of belonging.</a:t>
            </a:r>
          </a:p>
        </p:txBody>
      </p:sp>
      <p:pic>
        <p:nvPicPr>
          <p:cNvPr id="10" name="Pic TF0"/>
          <p:cNvPicPr>
            <a:picLocks noChangeAspect="1"/>
          </p:cNvPicPr>
          <p:nvPr/>
        </p:nvPicPr>
        <p:blipFill>
          <a:blip r:embed="rId3"/>
          <a:stretch>
            <a:fillRect/>
          </a:stretch>
        </p:blipFill>
        <p:spPr>
          <a:xfrm>
            <a:off x="4938480" y="896760"/>
            <a:ext cx="3748320" cy="1371600"/>
          </a:xfrm>
          <a:prstGeom prst="rect">
            <a:avLst/>
          </a:prstGeom>
        </p:spPr>
      </p:pic>
      <p:sp>
        <p:nvSpPr>
          <p:cNvPr id="11" name="Cap3"/>
          <p:cNvSpPr/>
          <p:nvPr/>
        </p:nvSpPr>
        <p:spPr>
          <a:xfrm>
            <a:off x="4938480" y="2304360"/>
            <a:ext cx="3748320" cy="640080"/>
          </a:xfrm>
          <a:prstGeom prst="rect">
            <a:avLst/>
          </a:prstGeom>
          <a:noFill/>
          <a:ln/>
        </p:spPr>
        <p:txBody>
          <a:bodyPr wrap="square" rtlCol="0" anchor="t"/>
          <a:lstStyle/>
          <a:p>
            <a:pPr marL="0" indent="0">
              <a:lnSpc>
                <a:spcPct val="120000"/>
              </a:lnSpc>
              <a:buNone/>
            </a:pPr>
            <a:r>
              <a:rPr lang="en-US" sz="850" b="1" dirty="0">
                <a:solidFill>
                  <a:srgbClr val="C9933A"/>
                </a:solidFill>
                <a:latin typeface="Calibri" pitchFamily="34" charset="0"/>
              </a:rPr>
              <a:t>TF-IDF: Top Terms, Cluster 0</a:t>
            </a:r>
          </a:p>
          <a:p>
            <a:pPr marL="0" indent="0">
              <a:lnSpc>
                <a:spcPct val="115000"/>
              </a:lnSpc>
              <a:buNone/>
            </a:pPr>
            <a:r>
              <a:rPr lang="en-US" sz="780" dirty="0">
                <a:solidFill>
                  <a:srgbClr val="AABBCC"/>
                </a:solidFill>
                <a:latin typeface="Calibri" pitchFamily="34" charset="0"/>
              </a:rPr>
              <a:t>“yes” and “heard” confirmed as the most distinctive terms — students in this cluster felt seen and motivated.</a:t>
            </a:r>
          </a:p>
        </p:txBody>
      </p:sp>
      <p:sp>
        <p:nvSpPr>
          <p:cNvPr id="12" name="RowDiv"/>
          <p:cNvSpPr/>
          <p:nvPr/>
        </p:nvSpPr>
        <p:spPr>
          <a:xfrm>
            <a:off x="457200" y="3018240"/>
            <a:ext cx="8229600" cy="18288"/>
          </a:xfrm>
          <a:prstGeom prst="rect">
            <a:avLst/>
          </a:prstGeom>
          <a:solidFill>
            <a:srgbClr val="C9933A">
              <a:alpha val="25000"/>
            </a:srgbClr>
          </a:solidFill>
          <a:ln/>
        </p:spPr>
        <p:txBody>
          <a:bodyPr/>
          <a:lstStyle/>
          <a:p>
            <a:endParaRPr lang="en-US"/>
          </a:p>
        </p:txBody>
      </p:sp>
      <p:pic>
        <p:nvPicPr>
          <p:cNvPr id="13" name="Pic WC1"/>
          <p:cNvPicPr>
            <a:picLocks noChangeAspect="1"/>
          </p:cNvPicPr>
          <p:nvPr/>
        </p:nvPicPr>
        <p:blipFill>
          <a:blip r:embed="rId5"/>
          <a:stretch>
            <a:fillRect/>
          </a:stretch>
        </p:blipFill>
        <p:spPr>
          <a:xfrm>
            <a:off x="457200" y="3072960"/>
            <a:ext cx="3200400" cy="1097280"/>
          </a:xfrm>
          <a:prstGeom prst="rect">
            <a:avLst/>
          </a:prstGeom>
        </p:spPr>
      </p:pic>
      <p:sp>
        <p:nvSpPr>
          <p:cNvPr id="14" name="Cap4"/>
          <p:cNvSpPr/>
          <p:nvPr/>
        </p:nvSpPr>
        <p:spPr>
          <a:xfrm>
            <a:off x="457200" y="4188000"/>
            <a:ext cx="3200400" cy="256320"/>
          </a:xfrm>
          <a:prstGeom prst="rect">
            <a:avLst/>
          </a:prstGeom>
          <a:noFill/>
          <a:ln/>
        </p:spPr>
        <p:txBody>
          <a:bodyPr wrap="square" rtlCol="0" anchor="ctr"/>
          <a:lstStyle/>
          <a:p>
            <a:pPr marL="0" indent="0">
              <a:buNone/>
            </a:pPr>
            <a:r>
              <a:rPr lang="en-US" sz="850" b="1" dirty="0">
                <a:solidFill>
                  <a:srgbClr val="C9933A"/>
                </a:solidFill>
                <a:latin typeface="Calibri" pitchFamily="34" charset="0"/>
              </a:rPr>
              <a:t>Cluster 1: Process &amp; Reflection Language</a:t>
            </a:r>
            <a:r>
              <a:rPr lang="en-US" sz="800" dirty="0">
                <a:solidFill>
                  <a:srgbClr val="AABBCC"/>
                </a:solidFill>
                <a:latin typeface="Calibri" pitchFamily="34" charset="0"/>
              </a:rPr>
              <a:t xml:space="preserve">  — “mind mapping,” “maybe,” “day” signal active processing, suggesting students were working through new frameworks.</a:t>
            </a:r>
          </a:p>
        </p:txBody>
      </p:sp>
      <p:pic>
        <p:nvPicPr>
          <p:cNvPr id="15" name="Pic TF1"/>
          <p:cNvPicPr>
            <a:picLocks noChangeAspect="1"/>
          </p:cNvPicPr>
          <p:nvPr/>
        </p:nvPicPr>
        <p:blipFill>
          <a:blip r:embed="rId6"/>
          <a:stretch>
            <a:fillRect/>
          </a:stretch>
        </p:blipFill>
        <p:spPr>
          <a:xfrm>
            <a:off x="3840480" y="3072960"/>
            <a:ext cx="4846320" cy="1097280"/>
          </a:xfrm>
          <a:prstGeom prst="rect">
            <a:avLst/>
          </a:prstGeom>
        </p:spPr>
      </p:pic>
      <p:sp>
        <p:nvSpPr>
          <p:cNvPr id="16" name="Cap5"/>
          <p:cNvSpPr/>
          <p:nvPr/>
        </p:nvSpPr>
        <p:spPr>
          <a:xfrm>
            <a:off x="3840480" y="4188000"/>
            <a:ext cx="4846320" cy="256320"/>
          </a:xfrm>
          <a:prstGeom prst="rect">
            <a:avLst/>
          </a:prstGeom>
          <a:noFill/>
          <a:ln/>
        </p:spPr>
        <p:txBody>
          <a:bodyPr wrap="square" rtlCol="0" anchor="ctr"/>
          <a:lstStyle/>
          <a:p>
            <a:pPr marL="0" indent="0">
              <a:buNone/>
            </a:pPr>
            <a:r>
              <a:rPr lang="en-US" sz="850" b="1" dirty="0">
                <a:solidFill>
                  <a:srgbClr val="C9933A"/>
                </a:solidFill>
                <a:latin typeface="Calibri" pitchFamily="34" charset="0"/>
              </a:rPr>
              <a:t>TF-IDF: Top Terms, Cluster 1</a:t>
            </a:r>
            <a:r>
              <a:rPr lang="en-US" sz="800" dirty="0">
                <a:solidFill>
                  <a:srgbClr val="AABBCC"/>
                </a:solidFill>
                <a:latin typeface="Calibri" pitchFamily="34" charset="0"/>
              </a:rPr>
              <a:t xml:space="preserve">  — “mind,” “mapping,” and “mind mapping” dominate by a wide margin, confirming this cluster captured students most engaged with the mind-mapping exercise itself.</a:t>
            </a:r>
          </a:p>
        </p:txBody>
      </p:sp>
      <p:sp>
        <p:nvSpPr>
          <p:cNvPr id="17" name="Shape 15"/>
          <p:cNvSpPr/>
          <p:nvPr/>
        </p:nvSpPr>
        <p:spPr>
          <a:xfrm>
            <a:off x="457200" y="4498920"/>
            <a:ext cx="8229600" cy="18288"/>
          </a:xfrm>
          <a:prstGeom prst="rect">
            <a:avLst/>
          </a:prstGeom>
          <a:solidFill>
            <a:srgbClr val="C9933A">
              <a:alpha val="40000"/>
            </a:srgbClr>
          </a:solidFill>
          <a:ln/>
        </p:spPr>
        <p:txBody>
          <a:bodyPr/>
          <a:lstStyle/>
          <a:p>
            <a:endParaRPr lang="en-US"/>
          </a:p>
        </p:txBody>
      </p:sp>
      <p:sp>
        <p:nvSpPr>
          <p:cNvPr id="18" name="Text 16"/>
          <p:cNvSpPr/>
          <p:nvPr/>
        </p:nvSpPr>
        <p:spPr>
          <a:xfrm>
            <a:off x="457200" y="4535520"/>
            <a:ext cx="8229600" cy="182880"/>
          </a:xfrm>
          <a:prstGeom prst="rect">
            <a:avLst/>
          </a:prstGeom>
          <a:noFill/>
          <a:ln/>
        </p:spPr>
        <p:txBody>
          <a:bodyPr wrap="square" rtlCol="0" anchor="ctr"/>
          <a:lstStyle/>
          <a:p>
            <a:pPr marL="0" indent="0">
              <a:buNone/>
            </a:pPr>
            <a:r>
              <a:rPr lang="en-US" sz="800" dirty="0">
                <a:solidFill>
                  <a:srgbClr val="7A8FA6"/>
                </a:solidFill>
                <a:latin typeface="Calibri" pitchFamily="34" charset="0"/>
              </a:rPr>
              <a:t>Learning Outcomes: NLP  ·  Text Mining  ·  VADER Sentiment  ·  KMeans Clustering  ·  IST 664 Spring 2024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0F1F3D"/>
          </a:solidFill>
          <a:ln/>
        </p:spPr>
        <p:txBody>
          <a:bodyPr/>
          <a:lstStyle/>
          <a:p>
            <a:endParaRPr lang="en-US"/>
          </a:p>
        </p:txBody>
      </p:sp>
      <p:sp>
        <p:nvSpPr>
          <p:cNvPr id="3" name="Text 1"/>
          <p:cNvSpPr/>
          <p:nvPr/>
        </p:nvSpPr>
        <p:spPr>
          <a:xfrm>
            <a:off x="457200" y="137160"/>
            <a:ext cx="6400800" cy="228600"/>
          </a:xfrm>
          <a:prstGeom prst="rect">
            <a:avLst/>
          </a:prstGeom>
          <a:noFill/>
          <a:ln/>
        </p:spPr>
        <p:txBody>
          <a:bodyPr wrap="square" rtlCol="0" anchor="ctr"/>
          <a:lstStyle/>
          <a:p>
            <a:pPr marL="0" indent="0">
              <a:buNone/>
            </a:pPr>
            <a:r>
              <a:rPr lang="en-US" sz="900" b="1" kern="0" spc="400" dirty="0">
                <a:solidFill>
                  <a:srgbClr val="C9933A"/>
                </a:solidFill>
                <a:latin typeface="Calibri" pitchFamily="34" charset="0"/>
                <a:ea typeface="Calibri" pitchFamily="34" charset="-122"/>
                <a:cs typeface="Calibri" pitchFamily="34" charset="-120"/>
              </a:rPr>
              <a:t>PROJECT SPOTLIGHT  02</a:t>
            </a:r>
            <a:endParaRPr lang="en-US" sz="900" dirty="0"/>
          </a:p>
        </p:txBody>
      </p:sp>
      <p:sp>
        <p:nvSpPr>
          <p:cNvPr id="4" name="Text 2"/>
          <p:cNvSpPr/>
          <p:nvPr/>
        </p:nvSpPr>
        <p:spPr>
          <a:xfrm>
            <a:off x="457200" y="384048"/>
            <a:ext cx="8229600" cy="594360"/>
          </a:xfrm>
          <a:prstGeom prst="rect">
            <a:avLst/>
          </a:prstGeom>
          <a:noFill/>
          <a:ln/>
        </p:spPr>
        <p:txBody>
          <a:bodyPr wrap="square" rtlCol="0" anchor="ctr"/>
          <a:lstStyle/>
          <a:p>
            <a:pPr marL="0" indent="0">
              <a:buNone/>
            </a:pPr>
            <a:r>
              <a:rPr lang="en-US" sz="2200" dirty="0">
                <a:solidFill>
                  <a:srgbClr val="FFFFFF"/>
                </a:solidFill>
                <a:latin typeface="Georgia" pitchFamily="34" charset="0"/>
                <a:ea typeface="Georgia" pitchFamily="34" charset="-122"/>
                <a:cs typeface="Georgia" pitchFamily="34" charset="-120"/>
              </a:rPr>
              <a:t>NLP Text Mining — Thriving in ECS Workshop</a:t>
            </a:r>
            <a:endParaRPr lang="en-US" sz="2200" dirty="0"/>
          </a:p>
        </p:txBody>
      </p:sp>
      <p:sp>
        <p:nvSpPr>
          <p:cNvPr id="5" name="Text 3"/>
          <p:cNvSpPr/>
          <p:nvPr/>
        </p:nvSpPr>
        <p:spPr>
          <a:xfrm>
            <a:off x="457200" y="987552"/>
            <a:ext cx="8229600" cy="182880"/>
          </a:xfrm>
          <a:prstGeom prst="rect">
            <a:avLst/>
          </a:prstGeom>
          <a:noFill/>
          <a:ln/>
        </p:spPr>
        <p:txBody>
          <a:bodyPr wrap="square" rtlCol="0" anchor="ctr"/>
          <a:lstStyle/>
          <a:p>
            <a:pPr marL="0" indent="0">
              <a:buNone/>
            </a:pPr>
            <a:r>
              <a:rPr lang="en-US" sz="900" dirty="0">
                <a:solidFill>
                  <a:srgbClr val="8899AA"/>
                </a:solidFill>
                <a:latin typeface="Calibri" pitchFamily="34" charset="0"/>
                <a:ea typeface="Calibri" pitchFamily="34" charset="-122"/>
                <a:cs typeface="Calibri" pitchFamily="34" charset="-120"/>
              </a:rPr>
              <a:t>IST 736 — Text Mining  ·  Spring 2024  ·  Python, NLTK, TF-IDF, KMeans, PCA, VADER</a:t>
            </a:r>
            <a:endParaRPr lang="en-US" sz="900" dirty="0"/>
          </a:p>
        </p:txBody>
      </p:sp>
      <p:sp>
        <p:nvSpPr>
          <p:cNvPr id="6" name="Shape 4"/>
          <p:cNvSpPr/>
          <p:nvPr/>
        </p:nvSpPr>
        <p:spPr>
          <a:xfrm>
            <a:off x="274320" y="1325880"/>
            <a:ext cx="2011680" cy="1325880"/>
          </a:xfrm>
          <a:prstGeom prst="rect">
            <a:avLst/>
          </a:prstGeom>
          <a:solidFill>
            <a:srgbClr val="F5F3EF"/>
          </a:solidFill>
          <a:ln/>
        </p:spPr>
        <p:txBody>
          <a:bodyPr/>
          <a:lstStyle/>
          <a:p>
            <a:endParaRPr lang="en-US"/>
          </a:p>
        </p:txBody>
      </p:sp>
      <p:sp>
        <p:nvSpPr>
          <p:cNvPr id="7" name="Shape 5"/>
          <p:cNvSpPr/>
          <p:nvPr/>
        </p:nvSpPr>
        <p:spPr>
          <a:xfrm>
            <a:off x="274320" y="1325880"/>
            <a:ext cx="2011680" cy="64008"/>
          </a:xfrm>
          <a:prstGeom prst="rect">
            <a:avLst/>
          </a:prstGeom>
          <a:solidFill>
            <a:srgbClr val="C9933A"/>
          </a:solidFill>
          <a:ln/>
        </p:spPr>
        <p:txBody>
          <a:bodyPr/>
          <a:lstStyle/>
          <a:p>
            <a:endParaRPr lang="en-US"/>
          </a:p>
        </p:txBody>
      </p:sp>
      <p:sp>
        <p:nvSpPr>
          <p:cNvPr id="8" name="Text 6"/>
          <p:cNvSpPr/>
          <p:nvPr/>
        </p:nvSpPr>
        <p:spPr>
          <a:xfrm>
            <a:off x="274320" y="1444752"/>
            <a:ext cx="2011680" cy="566928"/>
          </a:xfrm>
          <a:prstGeom prst="rect">
            <a:avLst/>
          </a:prstGeom>
          <a:noFill/>
          <a:ln/>
        </p:spPr>
        <p:txBody>
          <a:bodyPr wrap="square" rtlCol="0" anchor="ctr"/>
          <a:lstStyle/>
          <a:p>
            <a:pPr marL="0" indent="0" algn="ctr">
              <a:buNone/>
            </a:pPr>
            <a:r>
              <a:rPr lang="en-US" sz="3200" dirty="0">
                <a:solidFill>
                  <a:srgbClr val="0F1F3D"/>
                </a:solidFill>
                <a:latin typeface="Georgia" pitchFamily="34" charset="0"/>
                <a:ea typeface="Georgia" pitchFamily="34" charset="-122"/>
                <a:cs typeface="Georgia" pitchFamily="34" charset="-120"/>
              </a:rPr>
              <a:t>26</a:t>
            </a:r>
            <a:endParaRPr lang="en-US" sz="3200" dirty="0"/>
          </a:p>
        </p:txBody>
      </p:sp>
      <p:sp>
        <p:nvSpPr>
          <p:cNvPr id="9" name="Text 7"/>
          <p:cNvSpPr/>
          <p:nvPr/>
        </p:nvSpPr>
        <p:spPr>
          <a:xfrm>
            <a:off x="274320" y="2011680"/>
            <a:ext cx="2011680" cy="256032"/>
          </a:xfrm>
          <a:prstGeom prst="rect">
            <a:avLst/>
          </a:prstGeom>
          <a:noFill/>
          <a:ln/>
        </p:spPr>
        <p:txBody>
          <a:bodyPr wrap="square" rtlCol="0" anchor="ctr"/>
          <a:lstStyle/>
          <a:p>
            <a:pPr marL="0" indent="0" algn="ctr">
              <a:buNone/>
            </a:pPr>
            <a:r>
              <a:rPr lang="en-US" sz="1100" b="1" dirty="0">
                <a:solidFill>
                  <a:srgbClr val="0F1F3D"/>
                </a:solidFill>
                <a:latin typeface="Calibri" pitchFamily="34" charset="0"/>
                <a:ea typeface="Calibri" pitchFamily="34" charset="-122"/>
                <a:cs typeface="Calibri" pitchFamily="34" charset="-120"/>
              </a:rPr>
              <a:t>Documents</a:t>
            </a:r>
            <a:endParaRPr lang="en-US" sz="1100" dirty="0"/>
          </a:p>
        </p:txBody>
      </p:sp>
      <p:sp>
        <p:nvSpPr>
          <p:cNvPr id="10" name="Text 8"/>
          <p:cNvSpPr/>
          <p:nvPr/>
        </p:nvSpPr>
        <p:spPr>
          <a:xfrm>
            <a:off x="274320" y="2286000"/>
            <a:ext cx="2011680" cy="292608"/>
          </a:xfrm>
          <a:prstGeom prst="rect">
            <a:avLst/>
          </a:prstGeom>
          <a:noFill/>
          <a:ln/>
        </p:spPr>
        <p:txBody>
          <a:bodyPr wrap="square" rtlCol="0" anchor="ctr"/>
          <a:lstStyle/>
          <a:p>
            <a:pPr marL="0" indent="0" algn="ctr">
              <a:buNone/>
            </a:pPr>
            <a:r>
              <a:rPr lang="en-US" sz="900" dirty="0">
                <a:solidFill>
                  <a:srgbClr val="6B6459"/>
                </a:solidFill>
                <a:latin typeface="Calibri" pitchFamily="34" charset="0"/>
                <a:ea typeface="Calibri" pitchFamily="34" charset="-122"/>
                <a:cs typeface="Calibri" pitchFamily="34" charset="-120"/>
              </a:rPr>
              <a:t>13 Pre · 13 Post workshop</a:t>
            </a:r>
            <a:endParaRPr lang="en-US" sz="900" dirty="0"/>
          </a:p>
        </p:txBody>
      </p:sp>
      <p:sp>
        <p:nvSpPr>
          <p:cNvPr id="11" name="Shape 9"/>
          <p:cNvSpPr/>
          <p:nvPr/>
        </p:nvSpPr>
        <p:spPr>
          <a:xfrm>
            <a:off x="2423160" y="1325880"/>
            <a:ext cx="2011680" cy="1325880"/>
          </a:xfrm>
          <a:prstGeom prst="rect">
            <a:avLst/>
          </a:prstGeom>
          <a:solidFill>
            <a:srgbClr val="F5F3EF"/>
          </a:solidFill>
          <a:ln/>
        </p:spPr>
        <p:txBody>
          <a:bodyPr/>
          <a:lstStyle/>
          <a:p>
            <a:endParaRPr lang="en-US"/>
          </a:p>
        </p:txBody>
      </p:sp>
      <p:sp>
        <p:nvSpPr>
          <p:cNvPr id="12" name="Shape 10"/>
          <p:cNvSpPr/>
          <p:nvPr/>
        </p:nvSpPr>
        <p:spPr>
          <a:xfrm>
            <a:off x="2423160" y="1325880"/>
            <a:ext cx="2011680" cy="64008"/>
          </a:xfrm>
          <a:prstGeom prst="rect">
            <a:avLst/>
          </a:prstGeom>
          <a:solidFill>
            <a:srgbClr val="C9933A"/>
          </a:solidFill>
          <a:ln/>
        </p:spPr>
        <p:txBody>
          <a:bodyPr/>
          <a:lstStyle/>
          <a:p>
            <a:endParaRPr lang="en-US"/>
          </a:p>
        </p:txBody>
      </p:sp>
      <p:sp>
        <p:nvSpPr>
          <p:cNvPr id="13" name="Text 11"/>
          <p:cNvSpPr/>
          <p:nvPr/>
        </p:nvSpPr>
        <p:spPr>
          <a:xfrm>
            <a:off x="2423160" y="1444752"/>
            <a:ext cx="2011680" cy="566928"/>
          </a:xfrm>
          <a:prstGeom prst="rect">
            <a:avLst/>
          </a:prstGeom>
          <a:noFill/>
          <a:ln/>
        </p:spPr>
        <p:txBody>
          <a:bodyPr wrap="square" rtlCol="0" anchor="ctr"/>
          <a:lstStyle/>
          <a:p>
            <a:pPr marL="0" indent="0" algn="ctr">
              <a:buNone/>
            </a:pPr>
            <a:r>
              <a:rPr lang="en-US" sz="3200" dirty="0">
                <a:solidFill>
                  <a:srgbClr val="0F1F3D"/>
                </a:solidFill>
                <a:latin typeface="Georgia" pitchFamily="34" charset="0"/>
                <a:ea typeface="Georgia" pitchFamily="34" charset="-122"/>
                <a:cs typeface="Georgia" pitchFamily="34" charset="-120"/>
              </a:rPr>
              <a:t>k=2</a:t>
            </a:r>
            <a:endParaRPr lang="en-US" sz="3200" dirty="0"/>
          </a:p>
        </p:txBody>
      </p:sp>
      <p:sp>
        <p:nvSpPr>
          <p:cNvPr id="14" name="Text 12"/>
          <p:cNvSpPr/>
          <p:nvPr/>
        </p:nvSpPr>
        <p:spPr>
          <a:xfrm>
            <a:off x="2423160" y="2011680"/>
            <a:ext cx="2011680" cy="256032"/>
          </a:xfrm>
          <a:prstGeom prst="rect">
            <a:avLst/>
          </a:prstGeom>
          <a:noFill/>
          <a:ln/>
        </p:spPr>
        <p:txBody>
          <a:bodyPr wrap="square" rtlCol="0" anchor="ctr"/>
          <a:lstStyle/>
          <a:p>
            <a:pPr marL="0" indent="0" algn="ctr">
              <a:buNone/>
            </a:pPr>
            <a:r>
              <a:rPr lang="en-US" sz="1100" b="1" dirty="0">
                <a:solidFill>
                  <a:srgbClr val="0F1F3D"/>
                </a:solidFill>
                <a:latin typeface="Calibri" pitchFamily="34" charset="0"/>
                <a:ea typeface="Calibri" pitchFamily="34" charset="-122"/>
                <a:cs typeface="Calibri" pitchFamily="34" charset="-120"/>
              </a:rPr>
              <a:t>KMeans Clusters</a:t>
            </a:r>
            <a:endParaRPr lang="en-US" sz="1100" dirty="0"/>
          </a:p>
        </p:txBody>
      </p:sp>
      <p:sp>
        <p:nvSpPr>
          <p:cNvPr id="15" name="Text 13"/>
          <p:cNvSpPr/>
          <p:nvPr/>
        </p:nvSpPr>
        <p:spPr>
          <a:xfrm>
            <a:off x="2423160" y="2286000"/>
            <a:ext cx="2011680" cy="292608"/>
          </a:xfrm>
          <a:prstGeom prst="rect">
            <a:avLst/>
          </a:prstGeom>
          <a:noFill/>
          <a:ln/>
        </p:spPr>
        <p:txBody>
          <a:bodyPr wrap="square" rtlCol="0" anchor="ctr"/>
          <a:lstStyle/>
          <a:p>
            <a:pPr marL="0" indent="0" algn="ctr">
              <a:buNone/>
            </a:pPr>
            <a:r>
              <a:rPr lang="en-US" sz="900" dirty="0">
                <a:solidFill>
                  <a:srgbClr val="6B6459"/>
                </a:solidFill>
                <a:latin typeface="Calibri" pitchFamily="34" charset="0"/>
                <a:ea typeface="Calibri" pitchFamily="34" charset="-122"/>
                <a:cs typeface="Calibri" pitchFamily="34" charset="-120"/>
              </a:rPr>
              <a:t>Separated without labels</a:t>
            </a:r>
            <a:endParaRPr lang="en-US" sz="900" dirty="0"/>
          </a:p>
        </p:txBody>
      </p:sp>
      <p:sp>
        <p:nvSpPr>
          <p:cNvPr id="16" name="Shape 14"/>
          <p:cNvSpPr/>
          <p:nvPr/>
        </p:nvSpPr>
        <p:spPr>
          <a:xfrm>
            <a:off x="4572000" y="1325880"/>
            <a:ext cx="2011680" cy="1325880"/>
          </a:xfrm>
          <a:prstGeom prst="rect">
            <a:avLst/>
          </a:prstGeom>
          <a:solidFill>
            <a:srgbClr val="F5F3EF"/>
          </a:solidFill>
          <a:ln/>
        </p:spPr>
        <p:txBody>
          <a:bodyPr/>
          <a:lstStyle/>
          <a:p>
            <a:endParaRPr lang="en-US"/>
          </a:p>
        </p:txBody>
      </p:sp>
      <p:sp>
        <p:nvSpPr>
          <p:cNvPr id="17" name="Shape 15"/>
          <p:cNvSpPr/>
          <p:nvPr/>
        </p:nvSpPr>
        <p:spPr>
          <a:xfrm>
            <a:off x="4572000" y="1325880"/>
            <a:ext cx="2011680" cy="64008"/>
          </a:xfrm>
          <a:prstGeom prst="rect">
            <a:avLst/>
          </a:prstGeom>
          <a:solidFill>
            <a:srgbClr val="C9933A"/>
          </a:solidFill>
          <a:ln/>
        </p:spPr>
        <p:txBody>
          <a:bodyPr/>
          <a:lstStyle/>
          <a:p>
            <a:endParaRPr lang="en-US"/>
          </a:p>
        </p:txBody>
      </p:sp>
      <p:sp>
        <p:nvSpPr>
          <p:cNvPr id="18" name="Text 16"/>
          <p:cNvSpPr/>
          <p:nvPr/>
        </p:nvSpPr>
        <p:spPr>
          <a:xfrm>
            <a:off x="4572000" y="1444752"/>
            <a:ext cx="2011680" cy="566928"/>
          </a:xfrm>
          <a:prstGeom prst="rect">
            <a:avLst/>
          </a:prstGeom>
          <a:noFill/>
          <a:ln/>
        </p:spPr>
        <p:txBody>
          <a:bodyPr wrap="square" rtlCol="0" anchor="ctr"/>
          <a:lstStyle/>
          <a:p>
            <a:pPr marL="0" indent="0" algn="ctr">
              <a:buNone/>
            </a:pPr>
            <a:r>
              <a:rPr lang="en-US" sz="3200" dirty="0">
                <a:solidFill>
                  <a:srgbClr val="0F1F3D"/>
                </a:solidFill>
                <a:latin typeface="Georgia" pitchFamily="34" charset="0"/>
                <a:ea typeface="Georgia" pitchFamily="34" charset="-122"/>
                <a:cs typeface="Georgia" pitchFamily="34" charset="-120"/>
              </a:rPr>
              <a:t>0.430</a:t>
            </a:r>
            <a:endParaRPr lang="en-US" sz="3200" dirty="0"/>
          </a:p>
        </p:txBody>
      </p:sp>
      <p:sp>
        <p:nvSpPr>
          <p:cNvPr id="19" name="Text 17"/>
          <p:cNvSpPr/>
          <p:nvPr/>
        </p:nvSpPr>
        <p:spPr>
          <a:xfrm>
            <a:off x="4572000" y="2011680"/>
            <a:ext cx="2011680" cy="256032"/>
          </a:xfrm>
          <a:prstGeom prst="rect">
            <a:avLst/>
          </a:prstGeom>
          <a:noFill/>
          <a:ln/>
        </p:spPr>
        <p:txBody>
          <a:bodyPr wrap="square" rtlCol="0" anchor="ctr"/>
          <a:lstStyle/>
          <a:p>
            <a:pPr marL="0" indent="0" algn="ctr">
              <a:buNone/>
            </a:pPr>
            <a:r>
              <a:rPr lang="en-US" sz="1100" b="1" dirty="0">
                <a:solidFill>
                  <a:srgbClr val="0F1F3D"/>
                </a:solidFill>
                <a:latin typeface="Calibri" pitchFamily="34" charset="0"/>
                <a:ea typeface="Calibri" pitchFamily="34" charset="-122"/>
                <a:cs typeface="Calibri" pitchFamily="34" charset="-120"/>
              </a:rPr>
              <a:t>Pre Sentiment</a:t>
            </a:r>
            <a:endParaRPr lang="en-US" sz="1100" dirty="0"/>
          </a:p>
        </p:txBody>
      </p:sp>
      <p:sp>
        <p:nvSpPr>
          <p:cNvPr id="20" name="Text 18"/>
          <p:cNvSpPr/>
          <p:nvPr/>
        </p:nvSpPr>
        <p:spPr>
          <a:xfrm>
            <a:off x="4572000" y="2286000"/>
            <a:ext cx="2011680" cy="292608"/>
          </a:xfrm>
          <a:prstGeom prst="rect">
            <a:avLst/>
          </a:prstGeom>
          <a:noFill/>
          <a:ln/>
        </p:spPr>
        <p:txBody>
          <a:bodyPr wrap="square" rtlCol="0" anchor="ctr"/>
          <a:lstStyle/>
          <a:p>
            <a:pPr marL="0" indent="0" algn="ctr">
              <a:buNone/>
            </a:pPr>
            <a:r>
              <a:rPr lang="en-US" sz="900" dirty="0">
                <a:solidFill>
                  <a:srgbClr val="6B6459"/>
                </a:solidFill>
                <a:latin typeface="Calibri" pitchFamily="34" charset="0"/>
                <a:ea typeface="Calibri" pitchFamily="34" charset="-122"/>
                <a:cs typeface="Calibri" pitchFamily="34" charset="-120"/>
              </a:rPr>
              <a:t>VADER compound score</a:t>
            </a:r>
            <a:endParaRPr lang="en-US" sz="900" dirty="0"/>
          </a:p>
        </p:txBody>
      </p:sp>
      <p:sp>
        <p:nvSpPr>
          <p:cNvPr id="21" name="Shape 19"/>
          <p:cNvSpPr/>
          <p:nvPr/>
        </p:nvSpPr>
        <p:spPr>
          <a:xfrm>
            <a:off x="6720840" y="1325880"/>
            <a:ext cx="2011680" cy="1325880"/>
          </a:xfrm>
          <a:prstGeom prst="rect">
            <a:avLst/>
          </a:prstGeom>
          <a:solidFill>
            <a:srgbClr val="F5F3EF"/>
          </a:solidFill>
          <a:ln/>
        </p:spPr>
        <p:txBody>
          <a:bodyPr/>
          <a:lstStyle/>
          <a:p>
            <a:endParaRPr lang="en-US"/>
          </a:p>
        </p:txBody>
      </p:sp>
      <p:sp>
        <p:nvSpPr>
          <p:cNvPr id="22" name="Shape 20"/>
          <p:cNvSpPr/>
          <p:nvPr/>
        </p:nvSpPr>
        <p:spPr>
          <a:xfrm>
            <a:off x="6720840" y="1325880"/>
            <a:ext cx="2011680" cy="64008"/>
          </a:xfrm>
          <a:prstGeom prst="rect">
            <a:avLst/>
          </a:prstGeom>
          <a:solidFill>
            <a:srgbClr val="C9933A"/>
          </a:solidFill>
          <a:ln/>
        </p:spPr>
        <p:txBody>
          <a:bodyPr/>
          <a:lstStyle/>
          <a:p>
            <a:endParaRPr lang="en-US"/>
          </a:p>
        </p:txBody>
      </p:sp>
      <p:sp>
        <p:nvSpPr>
          <p:cNvPr id="23" name="Text 21"/>
          <p:cNvSpPr/>
          <p:nvPr/>
        </p:nvSpPr>
        <p:spPr>
          <a:xfrm>
            <a:off x="6720840" y="1444752"/>
            <a:ext cx="2011680" cy="566928"/>
          </a:xfrm>
          <a:prstGeom prst="rect">
            <a:avLst/>
          </a:prstGeom>
          <a:noFill/>
          <a:ln/>
        </p:spPr>
        <p:txBody>
          <a:bodyPr wrap="square" rtlCol="0" anchor="ctr"/>
          <a:lstStyle/>
          <a:p>
            <a:pPr marL="0" indent="0" algn="ctr">
              <a:buNone/>
            </a:pPr>
            <a:r>
              <a:rPr lang="en-US" sz="3200" dirty="0">
                <a:solidFill>
                  <a:srgbClr val="0F1F3D"/>
                </a:solidFill>
                <a:latin typeface="Georgia" pitchFamily="34" charset="0"/>
                <a:ea typeface="Georgia" pitchFamily="34" charset="-122"/>
                <a:cs typeface="Georgia" pitchFamily="34" charset="-120"/>
              </a:rPr>
              <a:t>0.167</a:t>
            </a:r>
            <a:endParaRPr lang="en-US" sz="3200" dirty="0"/>
          </a:p>
        </p:txBody>
      </p:sp>
      <p:sp>
        <p:nvSpPr>
          <p:cNvPr id="24" name="Text 22"/>
          <p:cNvSpPr/>
          <p:nvPr/>
        </p:nvSpPr>
        <p:spPr>
          <a:xfrm>
            <a:off x="6720840" y="2011680"/>
            <a:ext cx="2011680" cy="256032"/>
          </a:xfrm>
          <a:prstGeom prst="rect">
            <a:avLst/>
          </a:prstGeom>
          <a:noFill/>
          <a:ln/>
        </p:spPr>
        <p:txBody>
          <a:bodyPr wrap="square" rtlCol="0" anchor="ctr"/>
          <a:lstStyle/>
          <a:p>
            <a:pPr marL="0" indent="0" algn="ctr">
              <a:buNone/>
            </a:pPr>
            <a:r>
              <a:rPr lang="en-US" sz="1100" b="1" dirty="0">
                <a:solidFill>
                  <a:srgbClr val="0F1F3D"/>
                </a:solidFill>
                <a:latin typeface="Calibri" pitchFamily="34" charset="0"/>
                <a:ea typeface="Calibri" pitchFamily="34" charset="-122"/>
                <a:cs typeface="Calibri" pitchFamily="34" charset="-120"/>
              </a:rPr>
              <a:t>Post Sentiment</a:t>
            </a:r>
            <a:endParaRPr lang="en-US" sz="1100" dirty="0"/>
          </a:p>
        </p:txBody>
      </p:sp>
      <p:sp>
        <p:nvSpPr>
          <p:cNvPr id="25" name="Text 23"/>
          <p:cNvSpPr/>
          <p:nvPr/>
        </p:nvSpPr>
        <p:spPr>
          <a:xfrm>
            <a:off x="6720840" y="2286000"/>
            <a:ext cx="2011680" cy="292608"/>
          </a:xfrm>
          <a:prstGeom prst="rect">
            <a:avLst/>
          </a:prstGeom>
          <a:noFill/>
          <a:ln/>
        </p:spPr>
        <p:txBody>
          <a:bodyPr wrap="square" rtlCol="0" anchor="ctr"/>
          <a:lstStyle/>
          <a:p>
            <a:pPr marL="0" indent="0" algn="ctr">
              <a:buNone/>
            </a:pPr>
            <a:r>
              <a:rPr lang="en-US" sz="900" dirty="0">
                <a:solidFill>
                  <a:srgbClr val="6B6459"/>
                </a:solidFill>
                <a:latin typeface="Calibri" pitchFamily="34" charset="0"/>
                <a:ea typeface="Calibri" pitchFamily="34" charset="-122"/>
                <a:cs typeface="Calibri" pitchFamily="34" charset="-120"/>
              </a:rPr>
              <a:t>Grounded, realistic shift</a:t>
            </a:r>
            <a:endParaRPr lang="en-US" sz="900" dirty="0"/>
          </a:p>
        </p:txBody>
      </p:sp>
      <p:sp>
        <p:nvSpPr>
          <p:cNvPr id="26" name="Text 24"/>
          <p:cNvSpPr/>
          <p:nvPr/>
        </p:nvSpPr>
        <p:spPr>
          <a:xfrm>
            <a:off x="365760" y="2834640"/>
            <a:ext cx="4114800" cy="256032"/>
          </a:xfrm>
          <a:prstGeom prst="rect">
            <a:avLst/>
          </a:prstGeom>
          <a:noFill/>
          <a:ln/>
        </p:spPr>
        <p:txBody>
          <a:bodyPr wrap="square" rtlCol="0" anchor="ctr"/>
          <a:lstStyle/>
          <a:p>
            <a:pPr marL="0" indent="0">
              <a:buNone/>
            </a:pPr>
            <a:r>
              <a:rPr lang="en-US" sz="1100" b="1" dirty="0">
                <a:solidFill>
                  <a:srgbClr val="C9933A"/>
                </a:solidFill>
                <a:latin typeface="Calibri" pitchFamily="34" charset="0"/>
                <a:ea typeface="Calibri" pitchFamily="34" charset="-122"/>
                <a:cs typeface="Calibri" pitchFamily="34" charset="-120"/>
              </a:rPr>
              <a:t>What I found</a:t>
            </a:r>
            <a:endParaRPr lang="en-US" sz="1100" dirty="0"/>
          </a:p>
        </p:txBody>
      </p:sp>
      <p:sp>
        <p:nvSpPr>
          <p:cNvPr id="27" name="Text 25"/>
          <p:cNvSpPr/>
          <p:nvPr/>
        </p:nvSpPr>
        <p:spPr>
          <a:xfrm>
            <a:off x="365760" y="3108960"/>
            <a:ext cx="4114800" cy="1371600"/>
          </a:xfrm>
          <a:prstGeom prst="rect">
            <a:avLst/>
          </a:prstGeom>
          <a:noFill/>
          <a:ln/>
        </p:spPr>
        <p:txBody>
          <a:bodyPr wrap="square" rtlCol="0" anchor="ctr"/>
          <a:lstStyle/>
          <a:p>
            <a:pPr marL="0" indent="0">
              <a:lnSpc>
                <a:spcPct val="135000"/>
              </a:lnSpc>
              <a:buNone/>
            </a:pPr>
            <a:r>
              <a:rPr lang="en-US" sz="1200" dirty="0">
                <a:solidFill>
                  <a:srgbClr val="1A1612"/>
                </a:solidFill>
                <a:latin typeface="Calibri" pitchFamily="34" charset="0"/>
                <a:ea typeface="Calibri" pitchFamily="34" charset="-122"/>
                <a:cs typeface="Calibri" pitchFamily="34" charset="-120"/>
              </a:rPr>
              <a:t>KMeans separated Pre and Post responses without ever using those labels — language shifted enough to be distinguishable purely by content.</a:t>
            </a:r>
            <a:endParaRPr lang="en-US" sz="1200" dirty="0"/>
          </a:p>
          <a:p>
            <a:pPr marL="0" indent="0">
              <a:lnSpc>
                <a:spcPct val="135000"/>
              </a:lnSpc>
              <a:buNone/>
            </a:pPr>
            <a:endParaRPr lang="en-US" sz="1200" dirty="0"/>
          </a:p>
          <a:p>
            <a:pPr marL="0" indent="0">
              <a:lnSpc>
                <a:spcPct val="135000"/>
              </a:lnSpc>
              <a:buNone/>
            </a:pPr>
            <a:r>
              <a:rPr lang="en-US" sz="1200" dirty="0">
                <a:solidFill>
                  <a:srgbClr val="1A1612"/>
                </a:solidFill>
                <a:latin typeface="Calibri" pitchFamily="34" charset="0"/>
                <a:ea typeface="Calibri" pitchFamily="34" charset="-122"/>
                <a:cs typeface="Calibri" pitchFamily="34" charset="-120"/>
              </a:rPr>
              <a:t>Pre: 'problem,' 'help,' 'plan'</a:t>
            </a:r>
            <a:endParaRPr lang="en-US" sz="1200" dirty="0"/>
          </a:p>
          <a:p>
            <a:pPr marL="0" indent="0">
              <a:lnSpc>
                <a:spcPct val="135000"/>
              </a:lnSpc>
              <a:buNone/>
            </a:pPr>
            <a:r>
              <a:rPr lang="en-US" sz="1200" dirty="0">
                <a:solidFill>
                  <a:srgbClr val="1A1612"/>
                </a:solidFill>
                <a:latin typeface="Calibri" pitchFamily="34" charset="0"/>
                <a:ea typeface="Calibri" pitchFamily="34" charset="-122"/>
                <a:cs typeface="Calibri" pitchFamily="34" charset="-120"/>
              </a:rPr>
              <a:t>Post: 'mind map,' 'enjoy,' 'connections'</a:t>
            </a:r>
            <a:endParaRPr lang="en-US" sz="1200" dirty="0"/>
          </a:p>
        </p:txBody>
      </p:sp>
      <p:sp>
        <p:nvSpPr>
          <p:cNvPr id="28" name="Text 26"/>
          <p:cNvSpPr/>
          <p:nvPr/>
        </p:nvSpPr>
        <p:spPr>
          <a:xfrm>
            <a:off x="4663440" y="2834640"/>
            <a:ext cx="4206240" cy="256032"/>
          </a:xfrm>
          <a:prstGeom prst="rect">
            <a:avLst/>
          </a:prstGeom>
          <a:noFill/>
          <a:ln/>
        </p:spPr>
        <p:txBody>
          <a:bodyPr wrap="square" rtlCol="0" anchor="ctr"/>
          <a:lstStyle/>
          <a:p>
            <a:pPr marL="0" indent="0">
              <a:buNone/>
            </a:pPr>
            <a:r>
              <a:rPr lang="en-US" sz="1100" b="1" dirty="0">
                <a:solidFill>
                  <a:srgbClr val="C9933A"/>
                </a:solidFill>
                <a:latin typeface="Calibri" pitchFamily="34" charset="0"/>
                <a:ea typeface="Calibri" pitchFamily="34" charset="-122"/>
                <a:cs typeface="Calibri" pitchFamily="34" charset="-120"/>
              </a:rPr>
              <a:t>Why it matters</a:t>
            </a:r>
            <a:endParaRPr lang="en-US" sz="1100" dirty="0"/>
          </a:p>
        </p:txBody>
      </p:sp>
      <p:sp>
        <p:nvSpPr>
          <p:cNvPr id="29" name="Text 27"/>
          <p:cNvSpPr/>
          <p:nvPr/>
        </p:nvSpPr>
        <p:spPr>
          <a:xfrm>
            <a:off x="4663440" y="3108960"/>
            <a:ext cx="4206240" cy="1371600"/>
          </a:xfrm>
          <a:prstGeom prst="rect">
            <a:avLst/>
          </a:prstGeom>
          <a:noFill/>
          <a:ln/>
        </p:spPr>
        <p:txBody>
          <a:bodyPr wrap="square" rtlCol="0" anchor="ctr"/>
          <a:lstStyle/>
          <a:p>
            <a:pPr marL="0" indent="0">
              <a:lnSpc>
                <a:spcPct val="135000"/>
              </a:lnSpc>
              <a:buNone/>
            </a:pPr>
            <a:r>
              <a:rPr lang="en-US" sz="1200" dirty="0">
                <a:solidFill>
                  <a:srgbClr val="1A1612"/>
                </a:solidFill>
                <a:latin typeface="Calibri" pitchFamily="34" charset="0"/>
                <a:ea typeface="Calibri" pitchFamily="34" charset="-122"/>
                <a:cs typeface="Calibri" pitchFamily="34" charset="-120"/>
              </a:rPr>
              <a:t>First quantitative analysis ever conducted on the Thriving in ECS workshop feedback. Provides data-grounded evidence that the program is shifting how students think — not just what they say.</a:t>
            </a:r>
            <a:endParaRPr lang="en-US" sz="1200" dirty="0"/>
          </a:p>
        </p:txBody>
      </p:sp>
      <p:sp>
        <p:nvSpPr>
          <p:cNvPr id="30" name="Text 28"/>
          <p:cNvSpPr/>
          <p:nvPr/>
        </p:nvSpPr>
        <p:spPr>
          <a:xfrm>
            <a:off x="365760" y="4754880"/>
            <a:ext cx="8412480" cy="256032"/>
          </a:xfrm>
          <a:prstGeom prst="rect">
            <a:avLst/>
          </a:prstGeom>
          <a:noFill/>
          <a:ln/>
        </p:spPr>
        <p:txBody>
          <a:bodyPr wrap="square" rtlCol="0" anchor="ctr"/>
          <a:lstStyle/>
          <a:p>
            <a:pPr marL="0" indent="0">
              <a:buNone/>
            </a:pPr>
            <a:r>
              <a:rPr lang="en-US" sz="900" i="1" dirty="0">
                <a:solidFill>
                  <a:srgbClr val="6B6459"/>
                </a:solidFill>
                <a:latin typeface="Calibri" pitchFamily="34" charset="0"/>
                <a:ea typeface="Calibri" pitchFamily="34" charset="-122"/>
                <a:cs typeface="Calibri" pitchFamily="34" charset="-120"/>
              </a:rPr>
              <a:t>Learning outcome: Analysis, Visualization, Communication  ·  Connects directly to the mission of using data to improve programs serving students in academic crisis.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F1F3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933A"/>
          </a:solidFill>
          <a:ln/>
        </p:spPr>
        <p:txBody>
          <a:bodyPr/>
          <a:lstStyle/>
          <a:p>
            <a:endParaRPr lang="en-US"/>
          </a:p>
        </p:txBody>
      </p:sp>
      <p:sp>
        <p:nvSpPr>
          <p:cNvPr id="3" name="Text 1"/>
          <p:cNvSpPr/>
          <p:nvPr/>
        </p:nvSpPr>
        <p:spPr>
          <a:xfrm>
            <a:off x="457200" y="274320"/>
            <a:ext cx="8229600" cy="228600"/>
          </a:xfrm>
          <a:prstGeom prst="rect">
            <a:avLst/>
          </a:prstGeom>
          <a:noFill/>
          <a:ln/>
        </p:spPr>
        <p:txBody>
          <a:bodyPr wrap="square" rtlCol="0" anchor="ctr"/>
          <a:lstStyle/>
          <a:p>
            <a:pPr marL="0" indent="0">
              <a:buNone/>
            </a:pPr>
            <a:r>
              <a:rPr lang="en-US" sz="900" b="1" kern="0" spc="400" dirty="0">
                <a:solidFill>
                  <a:srgbClr val="C9933A"/>
                </a:solidFill>
                <a:latin typeface="Calibri" pitchFamily="34" charset="0"/>
                <a:ea typeface="Calibri" pitchFamily="34" charset="-122"/>
                <a:cs typeface="Calibri" pitchFamily="34" charset="-120"/>
              </a:rPr>
              <a:t>PROJECT SPOTLIGHT  04  ·  BUSINESS NEED</a:t>
            </a:r>
            <a:endParaRPr lang="en-US" sz="900" dirty="0"/>
          </a:p>
        </p:txBody>
      </p:sp>
      <p:sp>
        <p:nvSpPr>
          <p:cNvPr id="4" name="Text 2"/>
          <p:cNvSpPr/>
          <p:nvPr/>
        </p:nvSpPr>
        <p:spPr>
          <a:xfrm>
            <a:off x="457200" y="530352"/>
            <a:ext cx="8229600" cy="685800"/>
          </a:xfrm>
          <a:prstGeom prst="rect">
            <a:avLst/>
          </a:prstGeom>
          <a:noFill/>
          <a:ln/>
        </p:spPr>
        <p:txBody>
          <a:bodyPr wrap="square" rtlCol="0" anchor="ctr"/>
          <a:lstStyle/>
          <a:p>
            <a:pPr marL="0" indent="0">
              <a:buNone/>
            </a:pPr>
            <a:r>
              <a:rPr lang="en-US" sz="2200" dirty="0">
                <a:solidFill>
                  <a:srgbClr val="FFFFFF"/>
                </a:solidFill>
                <a:latin typeface="Georgia" pitchFamily="34" charset="0"/>
                <a:ea typeface="Georgia" pitchFamily="34" charset="-122"/>
                <a:cs typeface="Georgia" pitchFamily="34" charset="-120"/>
              </a:rPr>
              <a:t>Predicting High School Student Academic Performance</a:t>
            </a:r>
            <a:endParaRPr lang="en-US" sz="2200" dirty="0"/>
          </a:p>
        </p:txBody>
      </p:sp>
      <p:sp>
        <p:nvSpPr>
          <p:cNvPr id="5" name="Shape 3"/>
          <p:cNvSpPr/>
          <p:nvPr/>
        </p:nvSpPr>
        <p:spPr>
          <a:xfrm>
            <a:off x="457200" y="1261872"/>
            <a:ext cx="8229600" cy="18288"/>
          </a:xfrm>
          <a:prstGeom prst="rect">
            <a:avLst/>
          </a:prstGeom>
          <a:solidFill>
            <a:srgbClr val="C9933A">
              <a:alpha val="40000"/>
            </a:srgbClr>
          </a:solidFill>
          <a:ln/>
        </p:spPr>
        <p:txBody>
          <a:bodyPr/>
          <a:lstStyle/>
          <a:p>
            <a:endParaRPr lang="en-US"/>
          </a:p>
        </p:txBody>
      </p:sp>
      <p:sp>
        <p:nvSpPr>
          <p:cNvPr id="6" name="Text 4"/>
          <p:cNvSpPr/>
          <p:nvPr/>
        </p:nvSpPr>
        <p:spPr>
          <a:xfrm>
            <a:off x="457200" y="1417320"/>
            <a:ext cx="4023360" cy="228600"/>
          </a:xfrm>
          <a:prstGeom prst="rect">
            <a:avLst/>
          </a:prstGeom>
          <a:noFill/>
          <a:ln/>
        </p:spPr>
        <p:txBody>
          <a:bodyPr wrap="square" rtlCol="0" anchor="ctr"/>
          <a:lstStyle/>
          <a:p>
            <a:pPr marL="0" indent="0">
              <a:buNone/>
            </a:pPr>
            <a:r>
              <a:rPr lang="en-US" sz="1000" b="1" kern="0" spc="200" dirty="0">
                <a:solidFill>
                  <a:srgbClr val="C9933A"/>
                </a:solidFill>
                <a:latin typeface="Calibri" pitchFamily="34" charset="0"/>
                <a:ea typeface="Calibri" pitchFamily="34" charset="-122"/>
                <a:cs typeface="Calibri" pitchFamily="34" charset="-120"/>
              </a:rPr>
              <a:t>THE CONTEXT</a:t>
            </a:r>
            <a:endParaRPr lang="en-US" sz="1000" dirty="0"/>
          </a:p>
        </p:txBody>
      </p:sp>
      <p:sp>
        <p:nvSpPr>
          <p:cNvPr id="7" name="Text 5"/>
          <p:cNvSpPr/>
          <p:nvPr/>
        </p:nvSpPr>
        <p:spPr>
          <a:xfrm>
            <a:off x="457200" y="1691640"/>
            <a:ext cx="4023360" cy="1417320"/>
          </a:xfrm>
          <a:prstGeom prst="rect">
            <a:avLst/>
          </a:prstGeom>
          <a:noFill/>
          <a:ln/>
        </p:spPr>
        <p:txBody>
          <a:bodyPr wrap="square" rtlCol="0" anchor="ctr"/>
          <a:lstStyle/>
          <a:p>
            <a:pPr marL="0" indent="0">
              <a:lnSpc>
                <a:spcPct val="140000"/>
              </a:lnSpc>
              <a:buNone/>
            </a:pPr>
            <a:r>
              <a:rPr lang="en-US" sz="1200" dirty="0">
                <a:solidFill>
                  <a:srgbClr val="DDEEFF"/>
                </a:solidFill>
                <a:latin typeface="Calibri" pitchFamily="34" charset="0"/>
                <a:ea typeface="Calibri" pitchFamily="34" charset="-122"/>
                <a:cs typeface="Calibri" pitchFamily="34" charset="-120"/>
              </a:rPr>
              <a:t>Student success is shaped by far more than GPA and attendance. Extracurricular activities, parental involvement, and study habits play a significant role in academic outcomes — yet traditional metrics provide only a partial picture. As Schreiner (2012) argues, student success encompasses academic achievement, engagement, satisfaction, and personal development.</a:t>
            </a:r>
            <a:endParaRPr lang="en-US" sz="1200" dirty="0"/>
          </a:p>
        </p:txBody>
      </p:sp>
      <p:sp>
        <p:nvSpPr>
          <p:cNvPr id="8" name="Text 6"/>
          <p:cNvSpPr/>
          <p:nvPr/>
        </p:nvSpPr>
        <p:spPr>
          <a:xfrm>
            <a:off x="4754880" y="1417320"/>
            <a:ext cx="4114800" cy="228600"/>
          </a:xfrm>
          <a:prstGeom prst="rect">
            <a:avLst/>
          </a:prstGeom>
          <a:noFill/>
          <a:ln/>
        </p:spPr>
        <p:txBody>
          <a:bodyPr wrap="square" rtlCol="0" anchor="ctr"/>
          <a:lstStyle/>
          <a:p>
            <a:pPr marL="0" indent="0">
              <a:buNone/>
            </a:pPr>
            <a:r>
              <a:rPr lang="en-US" sz="1000" b="1" kern="0" spc="200" dirty="0">
                <a:solidFill>
                  <a:srgbClr val="C9933A"/>
                </a:solidFill>
                <a:latin typeface="Calibri" pitchFamily="34" charset="0"/>
                <a:ea typeface="Calibri" pitchFamily="34" charset="-122"/>
                <a:cs typeface="Calibri" pitchFamily="34" charset="-120"/>
              </a:rPr>
              <a:t>THE GAP</a:t>
            </a:r>
            <a:endParaRPr lang="en-US" sz="1000" dirty="0"/>
          </a:p>
        </p:txBody>
      </p:sp>
      <p:sp>
        <p:nvSpPr>
          <p:cNvPr id="9" name="Text 7"/>
          <p:cNvSpPr/>
          <p:nvPr/>
        </p:nvSpPr>
        <p:spPr>
          <a:xfrm>
            <a:off x="4754880" y="1691640"/>
            <a:ext cx="4114800" cy="1417320"/>
          </a:xfrm>
          <a:prstGeom prst="rect">
            <a:avLst/>
          </a:prstGeom>
          <a:noFill/>
          <a:ln/>
        </p:spPr>
        <p:txBody>
          <a:bodyPr wrap="square" rtlCol="0" anchor="ctr"/>
          <a:lstStyle/>
          <a:p>
            <a:pPr marL="0" indent="0">
              <a:lnSpc>
                <a:spcPct val="140000"/>
              </a:lnSpc>
              <a:buNone/>
            </a:pPr>
            <a:r>
              <a:rPr lang="en-US" sz="1200" dirty="0">
                <a:solidFill>
                  <a:srgbClr val="DDEEFF"/>
                </a:solidFill>
                <a:latin typeface="Calibri" pitchFamily="34" charset="0"/>
                <a:ea typeface="Calibri" pitchFamily="34" charset="-122"/>
                <a:cs typeface="Calibri" pitchFamily="34" charset="-120"/>
              </a:rPr>
              <a:t>Despite extensive research, there remains a need for deeper understanding of how different variables interact to impact academic outcomes. This study aims to go beyond traditional metrics — using classification, clustering, and association rule mining to identify patterns and associations that can predict student success.</a:t>
            </a:r>
            <a:endParaRPr lang="en-US" sz="1200" dirty="0"/>
          </a:p>
        </p:txBody>
      </p:sp>
      <p:sp>
        <p:nvSpPr>
          <p:cNvPr id="10" name="Shape 8"/>
          <p:cNvSpPr/>
          <p:nvPr/>
        </p:nvSpPr>
        <p:spPr>
          <a:xfrm>
            <a:off x="4572000" y="1417320"/>
            <a:ext cx="18288" cy="1645920"/>
          </a:xfrm>
          <a:prstGeom prst="rect">
            <a:avLst/>
          </a:prstGeom>
          <a:solidFill>
            <a:srgbClr val="C9933A">
              <a:alpha val="30000"/>
            </a:srgbClr>
          </a:solidFill>
          <a:ln/>
        </p:spPr>
        <p:txBody>
          <a:bodyPr/>
          <a:lstStyle/>
          <a:p>
            <a:endParaRPr lang="en-US"/>
          </a:p>
        </p:txBody>
      </p:sp>
      <p:sp>
        <p:nvSpPr>
          <p:cNvPr id="11" name="Shape 9"/>
          <p:cNvSpPr/>
          <p:nvPr/>
        </p:nvSpPr>
        <p:spPr>
          <a:xfrm>
            <a:off x="457200" y="3246120"/>
            <a:ext cx="8229600" cy="18288"/>
          </a:xfrm>
          <a:prstGeom prst="rect">
            <a:avLst/>
          </a:prstGeom>
          <a:solidFill>
            <a:srgbClr val="C9933A">
              <a:alpha val="40000"/>
            </a:srgbClr>
          </a:solidFill>
          <a:ln/>
        </p:spPr>
        <p:txBody>
          <a:bodyPr/>
          <a:lstStyle/>
          <a:p>
            <a:endParaRPr lang="en-US"/>
          </a:p>
        </p:txBody>
      </p:sp>
      <p:sp>
        <p:nvSpPr>
          <p:cNvPr id="12" name="Text 10"/>
          <p:cNvSpPr/>
          <p:nvPr/>
        </p:nvSpPr>
        <p:spPr>
          <a:xfrm>
            <a:off x="457200" y="3383280"/>
            <a:ext cx="8229600" cy="228600"/>
          </a:xfrm>
          <a:prstGeom prst="rect">
            <a:avLst/>
          </a:prstGeom>
          <a:noFill/>
          <a:ln/>
        </p:spPr>
        <p:txBody>
          <a:bodyPr wrap="square" rtlCol="0" anchor="ctr"/>
          <a:lstStyle/>
          <a:p>
            <a:pPr marL="0" indent="0">
              <a:buNone/>
            </a:pPr>
            <a:r>
              <a:rPr lang="en-US" sz="1000" b="1" kern="0" spc="200" dirty="0">
                <a:solidFill>
                  <a:srgbClr val="C9933A"/>
                </a:solidFill>
                <a:latin typeface="Calibri" pitchFamily="34" charset="0"/>
                <a:ea typeface="Calibri" pitchFamily="34" charset="-122"/>
                <a:cs typeface="Calibri" pitchFamily="34" charset="-120"/>
              </a:rPr>
              <a:t>PROBLEM STATEMENT</a:t>
            </a:r>
            <a:endParaRPr lang="en-US" sz="1000" dirty="0"/>
          </a:p>
        </p:txBody>
      </p:sp>
      <p:sp>
        <p:nvSpPr>
          <p:cNvPr id="13" name="Text 11"/>
          <p:cNvSpPr/>
          <p:nvPr/>
        </p:nvSpPr>
        <p:spPr>
          <a:xfrm>
            <a:off x="457200" y="3657600"/>
            <a:ext cx="8321040" cy="914400"/>
          </a:xfrm>
          <a:prstGeom prst="rect">
            <a:avLst/>
          </a:prstGeom>
          <a:noFill/>
          <a:ln/>
        </p:spPr>
        <p:txBody>
          <a:bodyPr wrap="square" rtlCol="0" anchor="ctr"/>
          <a:lstStyle/>
          <a:p>
            <a:pPr marL="0" indent="0">
              <a:lnSpc>
                <a:spcPct val="140000"/>
              </a:lnSpc>
              <a:buNone/>
            </a:pPr>
            <a:r>
              <a:rPr lang="en-US" sz="1300" dirty="0">
                <a:solidFill>
                  <a:srgbClr val="DDEEFF"/>
                </a:solidFill>
                <a:latin typeface="Calibri" pitchFamily="34" charset="0"/>
                <a:ea typeface="Calibri" pitchFamily="34" charset="-122"/>
                <a:cs typeface="Calibri" pitchFamily="34" charset="-120"/>
              </a:rPr>
              <a:t>Analyze a comprehensive dataset of 2,392 high school students to identify key predictors of academic success — and offer actionable insights that enhance student engagement, satisfaction, and overall well-being beyond just improving grades.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F3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933A"/>
          </a:solidFill>
          <a:ln/>
        </p:spPr>
        <p:txBody>
          <a:bodyPr/>
          <a:lstStyle/>
          <a:p>
            <a:endParaRPr lang="en-US"/>
          </a:p>
        </p:txBody>
      </p:sp>
      <p:sp>
        <p:nvSpPr>
          <p:cNvPr id="3" name="Text 1"/>
          <p:cNvSpPr/>
          <p:nvPr/>
        </p:nvSpPr>
        <p:spPr>
          <a:xfrm>
            <a:off x="457200" y="274320"/>
            <a:ext cx="8229600" cy="228600"/>
          </a:xfrm>
          <a:prstGeom prst="rect">
            <a:avLst/>
          </a:prstGeom>
          <a:noFill/>
          <a:ln/>
        </p:spPr>
        <p:txBody>
          <a:bodyPr wrap="square" rtlCol="0" anchor="ctr"/>
          <a:lstStyle/>
          <a:p>
            <a:pPr marL="0" indent="0">
              <a:buNone/>
            </a:pPr>
            <a:r>
              <a:rPr lang="en-US" sz="900" b="1" kern="0" spc="400" dirty="0">
                <a:solidFill>
                  <a:srgbClr val="C9933A"/>
                </a:solidFill>
                <a:latin typeface="Calibri" pitchFamily="34" charset="0"/>
              </a:rPr>
              <a:t>PROJECT SPOTLIGHT  04  ·  KEY FINDINGS</a:t>
            </a:r>
          </a:p>
        </p:txBody>
      </p:sp>
      <p:sp>
        <p:nvSpPr>
          <p:cNvPr id="4" name="Text 2"/>
          <p:cNvSpPr/>
          <p:nvPr/>
        </p:nvSpPr>
        <p:spPr>
          <a:xfrm>
            <a:off x="457200" y="530352"/>
            <a:ext cx="8229600" cy="548640"/>
          </a:xfrm>
          <a:prstGeom prst="rect">
            <a:avLst/>
          </a:prstGeom>
          <a:noFill/>
          <a:ln/>
        </p:spPr>
        <p:txBody>
          <a:bodyPr wrap="square" rtlCol="0" anchor="ctr"/>
          <a:lstStyle/>
          <a:p>
            <a:pPr marL="0" indent="0">
              <a:buNone/>
            </a:pPr>
            <a:r>
              <a:rPr lang="en-US" sz="2200" dirty="0">
                <a:solidFill>
                  <a:srgbClr val="FFFFFF"/>
                </a:solidFill>
                <a:latin typeface="Georgia" pitchFamily="34" charset="0"/>
              </a:rPr>
              <a:t>Predicting High School Student Academic Performance</a:t>
            </a:r>
          </a:p>
        </p:txBody>
      </p:sp>
      <p:sp>
        <p:nvSpPr>
          <p:cNvPr id="5" name="Shape 3"/>
          <p:cNvSpPr/>
          <p:nvPr/>
        </p:nvSpPr>
        <p:spPr>
          <a:xfrm>
            <a:off x="457200" y="1143000"/>
            <a:ext cx="8229600" cy="18288"/>
          </a:xfrm>
          <a:prstGeom prst="rect">
            <a:avLst/>
          </a:prstGeom>
          <a:solidFill>
            <a:srgbClr val="C9933A">
              <a:alpha val="40000"/>
            </a:srgbClr>
          </a:solidFill>
          <a:ln/>
        </p:spPr>
        <p:txBody>
          <a:bodyPr/>
          <a:lstStyle/>
          <a:p>
            <a:endParaRPr lang="en-US"/>
          </a:p>
        </p:txBody>
      </p:sp>
      <p:sp>
        <p:nvSpPr>
          <p:cNvPr id="6" name="Text 4"/>
          <p:cNvSpPr/>
          <p:nvPr/>
        </p:nvSpPr>
        <p:spPr>
          <a:xfrm>
            <a:off x="457200" y="1188720"/>
            <a:ext cx="3886200" cy="228600"/>
          </a:xfrm>
          <a:prstGeom prst="rect">
            <a:avLst/>
          </a:prstGeom>
          <a:noFill/>
          <a:ln/>
        </p:spPr>
        <p:txBody>
          <a:bodyPr wrap="square" rtlCol="0" anchor="ctr"/>
          <a:lstStyle/>
          <a:p>
            <a:pPr marL="0" indent="0">
              <a:buNone/>
            </a:pPr>
            <a:r>
              <a:rPr lang="en-US" sz="1000" b="1" kern="0" spc="200" dirty="0">
                <a:solidFill>
                  <a:srgbClr val="C9933A"/>
                </a:solidFill>
                <a:latin typeface="Calibri" pitchFamily="34" charset="0"/>
              </a:rPr>
              <a:t>CORRELATION MATRIX</a:t>
            </a:r>
          </a:p>
        </p:txBody>
      </p:sp>
      <p:sp>
        <p:nvSpPr>
          <p:cNvPr id="7" name="Text 5"/>
          <p:cNvSpPr/>
          <p:nvPr/>
        </p:nvSpPr>
        <p:spPr>
          <a:xfrm>
            <a:off x="4572000" y="1188720"/>
            <a:ext cx="4114800" cy="228600"/>
          </a:xfrm>
          <a:prstGeom prst="rect">
            <a:avLst/>
          </a:prstGeom>
          <a:noFill/>
          <a:ln/>
        </p:spPr>
        <p:txBody>
          <a:bodyPr wrap="square" rtlCol="0" anchor="ctr"/>
          <a:lstStyle/>
          <a:p>
            <a:pPr marL="0" indent="0">
              <a:buNone/>
            </a:pPr>
            <a:r>
              <a:rPr lang="en-US" sz="1000" b="1" kern="0" spc="200" dirty="0">
                <a:solidFill>
                  <a:srgbClr val="C9933A"/>
                </a:solidFill>
                <a:latin typeface="Calibri" pitchFamily="34" charset="0"/>
              </a:rPr>
              <a:t>MODEL ACCURACY COMPARISON</a:t>
            </a:r>
          </a:p>
        </p:txBody>
      </p:sp>
      <p:sp>
        <p:nvSpPr>
          <p:cNvPr id="8" name="Shape 6"/>
          <p:cNvSpPr/>
          <p:nvPr/>
        </p:nvSpPr>
        <p:spPr>
          <a:xfrm>
            <a:off x="4481640" y="1188720"/>
            <a:ext cx="18288" cy="3657600"/>
          </a:xfrm>
          <a:prstGeom prst="rect">
            <a:avLst/>
          </a:prstGeom>
          <a:solidFill>
            <a:srgbClr val="C9933A">
              <a:alpha val="30000"/>
            </a:srgbClr>
          </a:solidFill>
          <a:ln/>
        </p:spPr>
        <p:txBody>
          <a:bodyPr/>
          <a:lstStyle/>
          <a:p>
            <a:endParaRPr lang="en-US"/>
          </a:p>
        </p:txBody>
      </p:sp>
      <p:pic>
        <p:nvPicPr>
          <p:cNvPr id="9" name="Picture 7"/>
          <p:cNvPicPr>
            <a:picLocks noChangeAspect="1"/>
          </p:cNvPicPr>
          <p:nvPr/>
        </p:nvPicPr>
        <p:blipFill>
          <a:blip r:embed="rId2"/>
          <a:stretch>
            <a:fillRect/>
          </a:stretch>
        </p:blipFill>
        <p:spPr>
          <a:xfrm>
            <a:off x="457200" y="1462320"/>
            <a:ext cx="3886200" cy="2743200"/>
          </a:xfrm>
          <a:prstGeom prst="rect">
            <a:avLst/>
          </a:prstGeom>
        </p:spPr>
      </p:pic>
      <p:pic>
        <p:nvPicPr>
          <p:cNvPr id="10" name="Picture 8"/>
          <p:cNvPicPr>
            <a:picLocks noChangeAspect="1"/>
          </p:cNvPicPr>
          <p:nvPr/>
        </p:nvPicPr>
        <p:blipFill>
          <a:blip r:embed="rId3"/>
          <a:stretch>
            <a:fillRect/>
          </a:stretch>
        </p:blipFill>
        <p:spPr>
          <a:xfrm>
            <a:off x="4572000" y="1462320"/>
            <a:ext cx="4114800" cy="2286000"/>
          </a:xfrm>
          <a:prstGeom prst="rect">
            <a:avLst/>
          </a:prstGeom>
        </p:spPr>
      </p:pic>
      <p:sp>
        <p:nvSpPr>
          <p:cNvPr id="11" name="Text 9"/>
          <p:cNvSpPr/>
          <p:nvPr/>
        </p:nvSpPr>
        <p:spPr>
          <a:xfrm>
            <a:off x="4572000" y="3840480"/>
            <a:ext cx="4114800" cy="274320"/>
          </a:xfrm>
          <a:prstGeom prst="rect">
            <a:avLst/>
          </a:prstGeom>
          <a:noFill/>
          <a:ln/>
        </p:spPr>
        <p:txBody>
          <a:bodyPr wrap="square" rtlCol="0" anchor="ctr"/>
          <a:lstStyle/>
          <a:p>
            <a:pPr marL="0" indent="0">
              <a:buNone/>
            </a:pPr>
            <a:r>
              <a:rPr lang="en-US" sz="900" dirty="0">
                <a:solidFill>
                  <a:srgbClr val="AABBCC"/>
                </a:solidFill>
                <a:latin typeface="Calibri" pitchFamily="34" charset="0"/>
              </a:rPr>
              <a:t>Naive Bayes &amp; Random Forest achieved ~80% accuracy across 5 grade classes</a:t>
            </a:r>
          </a:p>
        </p:txBody>
      </p:sp>
      <p:sp>
        <p:nvSpPr>
          <p:cNvPr id="12" name="Shape 10"/>
          <p:cNvSpPr/>
          <p:nvPr/>
        </p:nvSpPr>
        <p:spPr>
          <a:xfrm>
            <a:off x="457200" y="4846440"/>
            <a:ext cx="8229600" cy="18288"/>
          </a:xfrm>
          <a:prstGeom prst="rect">
            <a:avLst/>
          </a:prstGeom>
          <a:solidFill>
            <a:srgbClr val="C9933A">
              <a:alpha val="40000"/>
            </a:srgbClr>
          </a:solidFill>
          <a:ln/>
        </p:spPr>
        <p:txBody>
          <a:bodyPr/>
          <a:lstStyle/>
          <a:p>
            <a:endParaRPr lang="en-US"/>
          </a:p>
        </p:txBody>
      </p:sp>
      <p:sp>
        <p:nvSpPr>
          <p:cNvPr id="13" name="Text 11"/>
          <p:cNvSpPr/>
          <p:nvPr/>
        </p:nvSpPr>
        <p:spPr>
          <a:xfrm>
            <a:off x="457200" y="4883040"/>
            <a:ext cx="8229600" cy="182880"/>
          </a:xfrm>
          <a:prstGeom prst="rect">
            <a:avLst/>
          </a:prstGeom>
          <a:noFill/>
          <a:ln/>
        </p:spPr>
        <p:txBody>
          <a:bodyPr wrap="square" rtlCol="0" anchor="ctr"/>
          <a:lstStyle/>
          <a:p>
            <a:pPr marL="0" indent="0">
              <a:buNone/>
            </a:pPr>
            <a:r>
              <a:rPr lang="en-US" sz="800" dirty="0">
                <a:solidFill>
                  <a:srgbClr val="7A8FA6"/>
                </a:solidFill>
                <a:latin typeface="Calibri" pitchFamily="34" charset="0"/>
              </a:rPr>
              <a:t>Learning Outcomes: Predictive Modeling  ·  Data Mining  ·  Translates directly into advising practice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0F1F3D"/>
          </a:solidFill>
          <a:ln/>
        </p:spPr>
        <p:txBody>
          <a:bodyPr/>
          <a:lstStyle/>
          <a:p>
            <a:endParaRPr lang="en-US"/>
          </a:p>
        </p:txBody>
      </p:sp>
      <p:sp>
        <p:nvSpPr>
          <p:cNvPr id="3" name="Text 1"/>
          <p:cNvSpPr/>
          <p:nvPr/>
        </p:nvSpPr>
        <p:spPr>
          <a:xfrm>
            <a:off x="457200" y="137160"/>
            <a:ext cx="6400800" cy="228600"/>
          </a:xfrm>
          <a:prstGeom prst="rect">
            <a:avLst/>
          </a:prstGeom>
          <a:noFill/>
          <a:ln/>
        </p:spPr>
        <p:txBody>
          <a:bodyPr wrap="square" rtlCol="0" anchor="ctr"/>
          <a:lstStyle/>
          <a:p>
            <a:pPr marL="0" indent="0">
              <a:buNone/>
            </a:pPr>
            <a:r>
              <a:rPr lang="en-US" sz="900" b="1" kern="0" spc="400" dirty="0">
                <a:solidFill>
                  <a:srgbClr val="C9933A"/>
                </a:solidFill>
                <a:latin typeface="Calibri" pitchFamily="34" charset="0"/>
                <a:ea typeface="Calibri" pitchFamily="34" charset="-122"/>
                <a:cs typeface="Calibri" pitchFamily="34" charset="-120"/>
              </a:rPr>
              <a:t>PROJECT SPOTLIGHT  04</a:t>
            </a:r>
            <a:endParaRPr lang="en-US" sz="900" dirty="0"/>
          </a:p>
        </p:txBody>
      </p:sp>
      <p:sp>
        <p:nvSpPr>
          <p:cNvPr id="4" name="Text 2"/>
          <p:cNvSpPr/>
          <p:nvPr/>
        </p:nvSpPr>
        <p:spPr>
          <a:xfrm>
            <a:off x="457200" y="384048"/>
            <a:ext cx="8229600" cy="594360"/>
          </a:xfrm>
          <a:prstGeom prst="rect">
            <a:avLst/>
          </a:prstGeom>
          <a:noFill/>
          <a:ln/>
        </p:spPr>
        <p:txBody>
          <a:bodyPr wrap="square" rtlCol="0" anchor="ctr"/>
          <a:lstStyle/>
          <a:p>
            <a:pPr marL="0" indent="0">
              <a:buNone/>
            </a:pPr>
            <a:r>
              <a:rPr lang="en-US" sz="2600" dirty="0">
                <a:solidFill>
                  <a:srgbClr val="FFFFFF"/>
                </a:solidFill>
                <a:latin typeface="Georgia" pitchFamily="34" charset="0"/>
                <a:ea typeface="Georgia" pitchFamily="34" charset="-122"/>
                <a:cs typeface="Georgia" pitchFamily="34" charset="-120"/>
              </a:rPr>
              <a:t>Predicting High School Student Academic Performance</a:t>
            </a:r>
            <a:endParaRPr lang="en-US" sz="2600" dirty="0"/>
          </a:p>
        </p:txBody>
      </p:sp>
      <p:sp>
        <p:nvSpPr>
          <p:cNvPr id="5" name="Text 3"/>
          <p:cNvSpPr/>
          <p:nvPr/>
        </p:nvSpPr>
        <p:spPr>
          <a:xfrm>
            <a:off x="457200" y="987552"/>
            <a:ext cx="8229600" cy="182880"/>
          </a:xfrm>
          <a:prstGeom prst="rect">
            <a:avLst/>
          </a:prstGeom>
          <a:noFill/>
          <a:ln/>
        </p:spPr>
        <p:txBody>
          <a:bodyPr wrap="square" rtlCol="0" anchor="ctr"/>
          <a:lstStyle/>
          <a:p>
            <a:pPr marL="0" indent="0">
              <a:buNone/>
            </a:pPr>
            <a:r>
              <a:rPr lang="en-US" sz="900" dirty="0">
                <a:solidFill>
                  <a:srgbClr val="8899AA"/>
                </a:solidFill>
                <a:latin typeface="Calibri" pitchFamily="34" charset="0"/>
                <a:ea typeface="Calibri" pitchFamily="34" charset="-122"/>
                <a:cs typeface="Calibri" pitchFamily="34" charset="-120"/>
              </a:rPr>
              <a:t>IST 707 — Data Analytics  ·  Fall 2024  ·  R, caret, ggplot2, arules, e1071, randomForest</a:t>
            </a:r>
            <a:endParaRPr lang="en-US" sz="900" dirty="0"/>
          </a:p>
        </p:txBody>
      </p:sp>
      <p:sp>
        <p:nvSpPr>
          <p:cNvPr id="6" name="Shape 4"/>
          <p:cNvSpPr/>
          <p:nvPr/>
        </p:nvSpPr>
        <p:spPr>
          <a:xfrm>
            <a:off x="274320" y="1325880"/>
            <a:ext cx="2011680" cy="1325880"/>
          </a:xfrm>
          <a:prstGeom prst="rect">
            <a:avLst/>
          </a:prstGeom>
          <a:solidFill>
            <a:srgbClr val="F5F3EF"/>
          </a:solidFill>
          <a:ln/>
        </p:spPr>
        <p:txBody>
          <a:bodyPr/>
          <a:lstStyle/>
          <a:p>
            <a:endParaRPr lang="en-US"/>
          </a:p>
        </p:txBody>
      </p:sp>
      <p:sp>
        <p:nvSpPr>
          <p:cNvPr id="7" name="Shape 5"/>
          <p:cNvSpPr/>
          <p:nvPr/>
        </p:nvSpPr>
        <p:spPr>
          <a:xfrm>
            <a:off x="274320" y="1325880"/>
            <a:ext cx="2011680" cy="64008"/>
          </a:xfrm>
          <a:prstGeom prst="rect">
            <a:avLst/>
          </a:prstGeom>
          <a:solidFill>
            <a:srgbClr val="C9933A"/>
          </a:solidFill>
          <a:ln/>
        </p:spPr>
        <p:txBody>
          <a:bodyPr/>
          <a:lstStyle/>
          <a:p>
            <a:endParaRPr lang="en-US"/>
          </a:p>
        </p:txBody>
      </p:sp>
      <p:sp>
        <p:nvSpPr>
          <p:cNvPr id="8" name="Text 6"/>
          <p:cNvSpPr/>
          <p:nvPr/>
        </p:nvSpPr>
        <p:spPr>
          <a:xfrm>
            <a:off x="274320" y="1444752"/>
            <a:ext cx="2011680" cy="566928"/>
          </a:xfrm>
          <a:prstGeom prst="rect">
            <a:avLst/>
          </a:prstGeom>
          <a:noFill/>
          <a:ln/>
        </p:spPr>
        <p:txBody>
          <a:bodyPr wrap="square" rtlCol="0" anchor="ctr"/>
          <a:lstStyle/>
          <a:p>
            <a:pPr marL="0" indent="0" algn="ctr">
              <a:buNone/>
            </a:pPr>
            <a:r>
              <a:rPr lang="en-US" sz="3200" dirty="0">
                <a:solidFill>
                  <a:srgbClr val="0F1F3D"/>
                </a:solidFill>
                <a:latin typeface="Georgia" pitchFamily="34" charset="0"/>
                <a:ea typeface="Georgia" pitchFamily="34" charset="-122"/>
                <a:cs typeface="Georgia" pitchFamily="34" charset="-120"/>
              </a:rPr>
              <a:t>2,392</a:t>
            </a:r>
            <a:endParaRPr lang="en-US" sz="3200" dirty="0"/>
          </a:p>
        </p:txBody>
      </p:sp>
      <p:sp>
        <p:nvSpPr>
          <p:cNvPr id="9" name="Text 7"/>
          <p:cNvSpPr/>
          <p:nvPr/>
        </p:nvSpPr>
        <p:spPr>
          <a:xfrm>
            <a:off x="274320" y="2011680"/>
            <a:ext cx="2011680" cy="256032"/>
          </a:xfrm>
          <a:prstGeom prst="rect">
            <a:avLst/>
          </a:prstGeom>
          <a:noFill/>
          <a:ln/>
        </p:spPr>
        <p:txBody>
          <a:bodyPr wrap="square" rtlCol="0" anchor="ctr"/>
          <a:lstStyle/>
          <a:p>
            <a:pPr marL="0" indent="0" algn="ctr">
              <a:buNone/>
            </a:pPr>
            <a:r>
              <a:rPr lang="en-US" sz="1100" b="1" dirty="0">
                <a:solidFill>
                  <a:srgbClr val="0F1F3D"/>
                </a:solidFill>
                <a:latin typeface="Calibri" pitchFamily="34" charset="0"/>
                <a:ea typeface="Calibri" pitchFamily="34" charset="-122"/>
                <a:cs typeface="Calibri" pitchFamily="34" charset="-120"/>
              </a:rPr>
              <a:t>Students</a:t>
            </a:r>
            <a:endParaRPr lang="en-US" sz="1100" dirty="0"/>
          </a:p>
        </p:txBody>
      </p:sp>
      <p:sp>
        <p:nvSpPr>
          <p:cNvPr id="10" name="Text 8"/>
          <p:cNvSpPr/>
          <p:nvPr/>
        </p:nvSpPr>
        <p:spPr>
          <a:xfrm>
            <a:off x="274320" y="2286000"/>
            <a:ext cx="2011680" cy="292608"/>
          </a:xfrm>
          <a:prstGeom prst="rect">
            <a:avLst/>
          </a:prstGeom>
          <a:noFill/>
          <a:ln/>
        </p:spPr>
        <p:txBody>
          <a:bodyPr wrap="square" rtlCol="0" anchor="ctr"/>
          <a:lstStyle/>
          <a:p>
            <a:pPr marL="0" indent="0" algn="ctr">
              <a:buNone/>
            </a:pPr>
            <a:r>
              <a:rPr lang="en-US" sz="900" dirty="0">
                <a:solidFill>
                  <a:srgbClr val="6B6459"/>
                </a:solidFill>
                <a:latin typeface="Calibri" pitchFamily="34" charset="0"/>
                <a:ea typeface="Calibri" pitchFamily="34" charset="-122"/>
                <a:cs typeface="Calibri" pitchFamily="34" charset="-120"/>
              </a:rPr>
              <a:t>With demographics &amp; habits</a:t>
            </a:r>
            <a:endParaRPr lang="en-US" sz="900" dirty="0"/>
          </a:p>
        </p:txBody>
      </p:sp>
      <p:sp>
        <p:nvSpPr>
          <p:cNvPr id="11" name="Shape 9"/>
          <p:cNvSpPr/>
          <p:nvPr/>
        </p:nvSpPr>
        <p:spPr>
          <a:xfrm>
            <a:off x="2423160" y="1325880"/>
            <a:ext cx="2011680" cy="1325880"/>
          </a:xfrm>
          <a:prstGeom prst="rect">
            <a:avLst/>
          </a:prstGeom>
          <a:solidFill>
            <a:srgbClr val="F5F3EF"/>
          </a:solidFill>
          <a:ln/>
        </p:spPr>
        <p:txBody>
          <a:bodyPr/>
          <a:lstStyle/>
          <a:p>
            <a:endParaRPr lang="en-US"/>
          </a:p>
        </p:txBody>
      </p:sp>
      <p:sp>
        <p:nvSpPr>
          <p:cNvPr id="12" name="Shape 10"/>
          <p:cNvSpPr/>
          <p:nvPr/>
        </p:nvSpPr>
        <p:spPr>
          <a:xfrm>
            <a:off x="2423160" y="1325880"/>
            <a:ext cx="2011680" cy="64008"/>
          </a:xfrm>
          <a:prstGeom prst="rect">
            <a:avLst/>
          </a:prstGeom>
          <a:solidFill>
            <a:srgbClr val="C9933A"/>
          </a:solidFill>
          <a:ln/>
        </p:spPr>
        <p:txBody>
          <a:bodyPr/>
          <a:lstStyle/>
          <a:p>
            <a:endParaRPr lang="en-US"/>
          </a:p>
        </p:txBody>
      </p:sp>
      <p:sp>
        <p:nvSpPr>
          <p:cNvPr id="13" name="Text 11"/>
          <p:cNvSpPr/>
          <p:nvPr/>
        </p:nvSpPr>
        <p:spPr>
          <a:xfrm>
            <a:off x="2423160" y="1444752"/>
            <a:ext cx="2011680" cy="566928"/>
          </a:xfrm>
          <a:prstGeom prst="rect">
            <a:avLst/>
          </a:prstGeom>
          <a:noFill/>
          <a:ln/>
        </p:spPr>
        <p:txBody>
          <a:bodyPr wrap="square" rtlCol="0" anchor="ctr"/>
          <a:lstStyle/>
          <a:p>
            <a:pPr marL="0" indent="0" algn="ctr">
              <a:buNone/>
            </a:pPr>
            <a:r>
              <a:rPr lang="en-US" sz="3200" dirty="0">
                <a:solidFill>
                  <a:srgbClr val="0F1F3D"/>
                </a:solidFill>
                <a:latin typeface="Georgia" pitchFamily="34" charset="0"/>
                <a:ea typeface="Georgia" pitchFamily="34" charset="-122"/>
                <a:cs typeface="Georgia" pitchFamily="34" charset="-120"/>
              </a:rPr>
              <a:t>9</a:t>
            </a:r>
            <a:endParaRPr lang="en-US" sz="3200" dirty="0"/>
          </a:p>
        </p:txBody>
      </p:sp>
      <p:sp>
        <p:nvSpPr>
          <p:cNvPr id="14" name="Text 12"/>
          <p:cNvSpPr/>
          <p:nvPr/>
        </p:nvSpPr>
        <p:spPr>
          <a:xfrm>
            <a:off x="2423160" y="2011680"/>
            <a:ext cx="2011680" cy="256032"/>
          </a:xfrm>
          <a:prstGeom prst="rect">
            <a:avLst/>
          </a:prstGeom>
          <a:noFill/>
          <a:ln/>
        </p:spPr>
        <p:txBody>
          <a:bodyPr wrap="square" rtlCol="0" anchor="ctr"/>
          <a:lstStyle/>
          <a:p>
            <a:pPr marL="0" indent="0" algn="ctr">
              <a:buNone/>
            </a:pPr>
            <a:r>
              <a:rPr lang="en-US" sz="1100" b="1" dirty="0">
                <a:solidFill>
                  <a:srgbClr val="0F1F3D"/>
                </a:solidFill>
                <a:latin typeface="Calibri" pitchFamily="34" charset="0"/>
                <a:ea typeface="Calibri" pitchFamily="34" charset="-122"/>
                <a:cs typeface="Calibri" pitchFamily="34" charset="-120"/>
              </a:rPr>
              <a:t>Methods Applied</a:t>
            </a:r>
            <a:endParaRPr lang="en-US" sz="1100" dirty="0"/>
          </a:p>
        </p:txBody>
      </p:sp>
      <p:sp>
        <p:nvSpPr>
          <p:cNvPr id="15" name="Text 13"/>
          <p:cNvSpPr/>
          <p:nvPr/>
        </p:nvSpPr>
        <p:spPr>
          <a:xfrm>
            <a:off x="2423160" y="2286000"/>
            <a:ext cx="2011680" cy="292608"/>
          </a:xfrm>
          <a:prstGeom prst="rect">
            <a:avLst/>
          </a:prstGeom>
          <a:noFill/>
          <a:ln/>
        </p:spPr>
        <p:txBody>
          <a:bodyPr wrap="square" rtlCol="0" anchor="ctr"/>
          <a:lstStyle/>
          <a:p>
            <a:pPr marL="0" indent="0" algn="ctr">
              <a:buNone/>
            </a:pPr>
            <a:r>
              <a:rPr lang="en-US" sz="900" dirty="0">
                <a:solidFill>
                  <a:srgbClr val="6B6459"/>
                </a:solidFill>
                <a:latin typeface="Calibri" pitchFamily="34" charset="0"/>
                <a:ea typeface="Calibri" pitchFamily="34" charset="-122"/>
                <a:cs typeface="Calibri" pitchFamily="34" charset="-120"/>
              </a:rPr>
              <a:t>From rules to Random Forest</a:t>
            </a:r>
            <a:endParaRPr lang="en-US" sz="900" dirty="0"/>
          </a:p>
        </p:txBody>
      </p:sp>
      <p:sp>
        <p:nvSpPr>
          <p:cNvPr id="16" name="Shape 14"/>
          <p:cNvSpPr/>
          <p:nvPr/>
        </p:nvSpPr>
        <p:spPr>
          <a:xfrm>
            <a:off x="4572000" y="1325880"/>
            <a:ext cx="2011680" cy="1325880"/>
          </a:xfrm>
          <a:prstGeom prst="rect">
            <a:avLst/>
          </a:prstGeom>
          <a:solidFill>
            <a:srgbClr val="F5F3EF"/>
          </a:solidFill>
          <a:ln/>
        </p:spPr>
        <p:txBody>
          <a:bodyPr/>
          <a:lstStyle/>
          <a:p>
            <a:endParaRPr lang="en-US"/>
          </a:p>
        </p:txBody>
      </p:sp>
      <p:sp>
        <p:nvSpPr>
          <p:cNvPr id="17" name="Shape 15"/>
          <p:cNvSpPr/>
          <p:nvPr/>
        </p:nvSpPr>
        <p:spPr>
          <a:xfrm>
            <a:off x="4572000" y="1325880"/>
            <a:ext cx="2011680" cy="64008"/>
          </a:xfrm>
          <a:prstGeom prst="rect">
            <a:avLst/>
          </a:prstGeom>
          <a:solidFill>
            <a:srgbClr val="C9933A"/>
          </a:solidFill>
          <a:ln/>
        </p:spPr>
        <p:txBody>
          <a:bodyPr/>
          <a:lstStyle/>
          <a:p>
            <a:endParaRPr lang="en-US"/>
          </a:p>
        </p:txBody>
      </p:sp>
      <p:sp>
        <p:nvSpPr>
          <p:cNvPr id="18" name="Text 16"/>
          <p:cNvSpPr/>
          <p:nvPr/>
        </p:nvSpPr>
        <p:spPr>
          <a:xfrm>
            <a:off x="4572000" y="1444752"/>
            <a:ext cx="2011680" cy="566928"/>
          </a:xfrm>
          <a:prstGeom prst="rect">
            <a:avLst/>
          </a:prstGeom>
          <a:noFill/>
          <a:ln/>
        </p:spPr>
        <p:txBody>
          <a:bodyPr wrap="square" rtlCol="0" anchor="ctr"/>
          <a:lstStyle/>
          <a:p>
            <a:pPr marL="0" indent="0" algn="ctr">
              <a:buNone/>
            </a:pPr>
            <a:r>
              <a:rPr lang="en-US" sz="3200" dirty="0">
                <a:solidFill>
                  <a:srgbClr val="0F1F3D"/>
                </a:solidFill>
                <a:latin typeface="Georgia" pitchFamily="34" charset="0"/>
                <a:ea typeface="Georgia" pitchFamily="34" charset="-122"/>
                <a:cs typeface="Georgia" pitchFamily="34" charset="-120"/>
              </a:rPr>
              <a:t>0.95</a:t>
            </a:r>
            <a:endParaRPr lang="en-US" sz="3200" dirty="0"/>
          </a:p>
        </p:txBody>
      </p:sp>
      <p:sp>
        <p:nvSpPr>
          <p:cNvPr id="19" name="Text 17"/>
          <p:cNvSpPr/>
          <p:nvPr/>
        </p:nvSpPr>
        <p:spPr>
          <a:xfrm>
            <a:off x="4572000" y="2011680"/>
            <a:ext cx="2011680" cy="256032"/>
          </a:xfrm>
          <a:prstGeom prst="rect">
            <a:avLst/>
          </a:prstGeom>
          <a:noFill/>
          <a:ln/>
        </p:spPr>
        <p:txBody>
          <a:bodyPr wrap="square" rtlCol="0" anchor="ctr"/>
          <a:lstStyle/>
          <a:p>
            <a:pPr marL="0" indent="0" algn="ctr">
              <a:buNone/>
            </a:pPr>
            <a:r>
              <a:rPr lang="en-US" sz="1100" b="1" dirty="0">
                <a:solidFill>
                  <a:srgbClr val="0F1F3D"/>
                </a:solidFill>
                <a:latin typeface="Calibri" pitchFamily="34" charset="0"/>
                <a:ea typeface="Calibri" pitchFamily="34" charset="-122"/>
                <a:cs typeface="Calibri" pitchFamily="34" charset="-120"/>
              </a:rPr>
              <a:t>R² Regression</a:t>
            </a:r>
            <a:endParaRPr lang="en-US" sz="1100" dirty="0"/>
          </a:p>
        </p:txBody>
      </p:sp>
      <p:sp>
        <p:nvSpPr>
          <p:cNvPr id="20" name="Text 18"/>
          <p:cNvSpPr/>
          <p:nvPr/>
        </p:nvSpPr>
        <p:spPr>
          <a:xfrm>
            <a:off x="4572000" y="2286000"/>
            <a:ext cx="2011680" cy="292608"/>
          </a:xfrm>
          <a:prstGeom prst="rect">
            <a:avLst/>
          </a:prstGeom>
          <a:noFill/>
          <a:ln/>
        </p:spPr>
        <p:txBody>
          <a:bodyPr wrap="square" rtlCol="0" anchor="ctr"/>
          <a:lstStyle/>
          <a:p>
            <a:pPr marL="0" indent="0" algn="ctr">
              <a:buNone/>
            </a:pPr>
            <a:r>
              <a:rPr lang="en-US" sz="900" dirty="0">
                <a:solidFill>
                  <a:srgbClr val="6B6459"/>
                </a:solidFill>
                <a:latin typeface="Calibri" pitchFamily="34" charset="0"/>
                <a:ea typeface="Calibri" pitchFamily="34" charset="-122"/>
                <a:cs typeface="Calibri" pitchFamily="34" charset="-120"/>
              </a:rPr>
              <a:t>95.42% variance explained</a:t>
            </a:r>
            <a:endParaRPr lang="en-US" sz="900" dirty="0"/>
          </a:p>
        </p:txBody>
      </p:sp>
      <p:sp>
        <p:nvSpPr>
          <p:cNvPr id="21" name="Shape 19"/>
          <p:cNvSpPr/>
          <p:nvPr/>
        </p:nvSpPr>
        <p:spPr>
          <a:xfrm>
            <a:off x="6720840" y="1325880"/>
            <a:ext cx="2011680" cy="1325880"/>
          </a:xfrm>
          <a:prstGeom prst="rect">
            <a:avLst/>
          </a:prstGeom>
          <a:solidFill>
            <a:srgbClr val="F5F3EF"/>
          </a:solidFill>
          <a:ln/>
        </p:spPr>
        <p:txBody>
          <a:bodyPr/>
          <a:lstStyle/>
          <a:p>
            <a:endParaRPr lang="en-US"/>
          </a:p>
        </p:txBody>
      </p:sp>
      <p:sp>
        <p:nvSpPr>
          <p:cNvPr id="22" name="Shape 20"/>
          <p:cNvSpPr/>
          <p:nvPr/>
        </p:nvSpPr>
        <p:spPr>
          <a:xfrm>
            <a:off x="6720840" y="1325880"/>
            <a:ext cx="2011680" cy="64008"/>
          </a:xfrm>
          <a:prstGeom prst="rect">
            <a:avLst/>
          </a:prstGeom>
          <a:solidFill>
            <a:srgbClr val="C9933A"/>
          </a:solidFill>
          <a:ln/>
        </p:spPr>
        <p:txBody>
          <a:bodyPr/>
          <a:lstStyle/>
          <a:p>
            <a:endParaRPr lang="en-US"/>
          </a:p>
        </p:txBody>
      </p:sp>
      <p:sp>
        <p:nvSpPr>
          <p:cNvPr id="23" name="Text 21"/>
          <p:cNvSpPr/>
          <p:nvPr/>
        </p:nvSpPr>
        <p:spPr>
          <a:xfrm>
            <a:off x="6720840" y="1444752"/>
            <a:ext cx="2011680" cy="566928"/>
          </a:xfrm>
          <a:prstGeom prst="rect">
            <a:avLst/>
          </a:prstGeom>
          <a:noFill/>
          <a:ln/>
        </p:spPr>
        <p:txBody>
          <a:bodyPr wrap="square" rtlCol="0" anchor="ctr"/>
          <a:lstStyle/>
          <a:p>
            <a:pPr marL="0" indent="0" algn="ctr">
              <a:buNone/>
            </a:pPr>
            <a:r>
              <a:rPr lang="en-US" sz="3200" dirty="0">
                <a:solidFill>
                  <a:srgbClr val="0F1F3D"/>
                </a:solidFill>
                <a:latin typeface="Georgia" pitchFamily="34" charset="0"/>
                <a:ea typeface="Georgia" pitchFamily="34" charset="-122"/>
                <a:cs typeface="Georgia" pitchFamily="34" charset="-120"/>
              </a:rPr>
              <a:t>6.73</a:t>
            </a:r>
            <a:endParaRPr lang="en-US" sz="3200" dirty="0"/>
          </a:p>
        </p:txBody>
      </p:sp>
      <p:sp>
        <p:nvSpPr>
          <p:cNvPr id="24" name="Text 22"/>
          <p:cNvSpPr/>
          <p:nvPr/>
        </p:nvSpPr>
        <p:spPr>
          <a:xfrm>
            <a:off x="6720840" y="2011680"/>
            <a:ext cx="2011680" cy="256032"/>
          </a:xfrm>
          <a:prstGeom prst="rect">
            <a:avLst/>
          </a:prstGeom>
          <a:noFill/>
          <a:ln/>
        </p:spPr>
        <p:txBody>
          <a:bodyPr wrap="square" rtlCol="0" anchor="ctr"/>
          <a:lstStyle/>
          <a:p>
            <a:pPr marL="0" indent="0" algn="ctr">
              <a:buNone/>
            </a:pPr>
            <a:r>
              <a:rPr lang="en-US" sz="1100" b="1" dirty="0">
                <a:solidFill>
                  <a:srgbClr val="0F1F3D"/>
                </a:solidFill>
                <a:latin typeface="Calibri" pitchFamily="34" charset="0"/>
                <a:ea typeface="Calibri" pitchFamily="34" charset="-122"/>
                <a:cs typeface="Calibri" pitchFamily="34" charset="-120"/>
              </a:rPr>
              <a:t>Top Rule Lift</a:t>
            </a:r>
            <a:endParaRPr lang="en-US" sz="1100" dirty="0"/>
          </a:p>
        </p:txBody>
      </p:sp>
      <p:sp>
        <p:nvSpPr>
          <p:cNvPr id="25" name="Text 23"/>
          <p:cNvSpPr/>
          <p:nvPr/>
        </p:nvSpPr>
        <p:spPr>
          <a:xfrm>
            <a:off x="6720840" y="2286000"/>
            <a:ext cx="2011680" cy="292608"/>
          </a:xfrm>
          <a:prstGeom prst="rect">
            <a:avLst/>
          </a:prstGeom>
          <a:noFill/>
          <a:ln/>
        </p:spPr>
        <p:txBody>
          <a:bodyPr wrap="square" rtlCol="0" anchor="ctr"/>
          <a:lstStyle/>
          <a:p>
            <a:pPr marL="0" indent="0" algn="ctr">
              <a:buNone/>
            </a:pPr>
            <a:r>
              <a:rPr lang="en-US" sz="900" dirty="0">
                <a:solidFill>
                  <a:srgbClr val="6B6459"/>
                </a:solidFill>
                <a:latin typeface="Calibri" pitchFamily="34" charset="0"/>
                <a:ea typeface="Calibri" pitchFamily="34" charset="-122"/>
                <a:cs typeface="Calibri" pitchFamily="34" charset="-120"/>
              </a:rPr>
              <a:t>Directly actionable in advising</a:t>
            </a:r>
            <a:endParaRPr lang="en-US" sz="900" dirty="0"/>
          </a:p>
        </p:txBody>
      </p:sp>
      <p:sp>
        <p:nvSpPr>
          <p:cNvPr id="26" name="Text 24"/>
          <p:cNvSpPr/>
          <p:nvPr/>
        </p:nvSpPr>
        <p:spPr>
          <a:xfrm>
            <a:off x="365760" y="2834640"/>
            <a:ext cx="4114800" cy="256032"/>
          </a:xfrm>
          <a:prstGeom prst="rect">
            <a:avLst/>
          </a:prstGeom>
          <a:noFill/>
          <a:ln/>
        </p:spPr>
        <p:txBody>
          <a:bodyPr wrap="square" rtlCol="0" anchor="ctr"/>
          <a:lstStyle/>
          <a:p>
            <a:pPr marL="0" indent="0">
              <a:buNone/>
            </a:pPr>
            <a:r>
              <a:rPr lang="en-US" sz="1100" b="1" dirty="0">
                <a:solidFill>
                  <a:srgbClr val="C9933A"/>
                </a:solidFill>
                <a:latin typeface="Calibri" pitchFamily="34" charset="0"/>
                <a:ea typeface="Calibri" pitchFamily="34" charset="-122"/>
                <a:cs typeface="Calibri" pitchFamily="34" charset="-120"/>
              </a:rPr>
              <a:t>Key findings</a:t>
            </a:r>
            <a:endParaRPr lang="en-US" sz="1100" dirty="0"/>
          </a:p>
        </p:txBody>
      </p:sp>
      <p:sp>
        <p:nvSpPr>
          <p:cNvPr id="27" name="Text 25"/>
          <p:cNvSpPr/>
          <p:nvPr/>
        </p:nvSpPr>
        <p:spPr>
          <a:xfrm>
            <a:off x="365760" y="3108960"/>
            <a:ext cx="4114800" cy="1371600"/>
          </a:xfrm>
          <a:prstGeom prst="rect">
            <a:avLst/>
          </a:prstGeom>
          <a:noFill/>
          <a:ln/>
        </p:spPr>
        <p:txBody>
          <a:bodyPr wrap="square" rtlCol="0" anchor="ctr"/>
          <a:lstStyle/>
          <a:p>
            <a:pPr marL="0" indent="0">
              <a:lnSpc>
                <a:spcPct val="135000"/>
              </a:lnSpc>
              <a:buNone/>
            </a:pPr>
            <a:r>
              <a:rPr lang="en-US" sz="1200" dirty="0">
                <a:solidFill>
                  <a:srgbClr val="1A1612"/>
                </a:solidFill>
                <a:latin typeface="Calibri" pitchFamily="34" charset="0"/>
                <a:ea typeface="Calibri" pitchFamily="34" charset="-122"/>
                <a:cs typeface="Calibri" pitchFamily="34" charset="-120"/>
              </a:rPr>
              <a:t>Absence–GPA correlation: 0.92 — each additional absence = 0.92-point GPA drop. SVM and Random Forest achieved ~78–80% accuracy.</a:t>
            </a:r>
            <a:endParaRPr lang="en-US" sz="1200" dirty="0"/>
          </a:p>
          <a:p>
            <a:pPr marL="0" indent="0">
              <a:lnSpc>
                <a:spcPct val="135000"/>
              </a:lnSpc>
              <a:buNone/>
            </a:pPr>
            <a:endParaRPr lang="en-US" sz="1200" dirty="0"/>
          </a:p>
          <a:p>
            <a:pPr marL="0" indent="0">
              <a:lnSpc>
                <a:spcPct val="135000"/>
              </a:lnSpc>
              <a:buNone/>
            </a:pPr>
            <a:r>
              <a:rPr lang="en-US" sz="1200" dirty="0">
                <a:solidFill>
                  <a:srgbClr val="1A1612"/>
                </a:solidFill>
                <a:latin typeface="Calibri" pitchFamily="34" charset="0"/>
                <a:ea typeface="Calibri" pitchFamily="34" charset="-122"/>
                <a:cs typeface="Calibri" pitchFamily="34" charset="-120"/>
              </a:rPr>
              <a:t>Highest-lift rule (6.73): high GPA + very low absences + tutoring → B outcome. Translates directly into advising practice.</a:t>
            </a:r>
            <a:endParaRPr lang="en-US" sz="1200" dirty="0"/>
          </a:p>
        </p:txBody>
      </p:sp>
      <p:sp>
        <p:nvSpPr>
          <p:cNvPr id="28" name="Text 26"/>
          <p:cNvSpPr/>
          <p:nvPr/>
        </p:nvSpPr>
        <p:spPr>
          <a:xfrm>
            <a:off x="4663440" y="2834640"/>
            <a:ext cx="4206240" cy="256032"/>
          </a:xfrm>
          <a:prstGeom prst="rect">
            <a:avLst/>
          </a:prstGeom>
          <a:noFill/>
          <a:ln/>
        </p:spPr>
        <p:txBody>
          <a:bodyPr wrap="square" rtlCol="0" anchor="ctr"/>
          <a:lstStyle/>
          <a:p>
            <a:pPr marL="0" indent="0">
              <a:buNone/>
            </a:pPr>
            <a:r>
              <a:rPr lang="en-US" sz="1100" b="1" dirty="0">
                <a:solidFill>
                  <a:srgbClr val="C9933A"/>
                </a:solidFill>
                <a:latin typeface="Calibri" pitchFamily="34" charset="0"/>
                <a:ea typeface="Calibri" pitchFamily="34" charset="-122"/>
                <a:cs typeface="Calibri" pitchFamily="34" charset="-120"/>
              </a:rPr>
              <a:t>What this means</a:t>
            </a:r>
            <a:endParaRPr lang="en-US" sz="1100" dirty="0"/>
          </a:p>
        </p:txBody>
      </p:sp>
      <p:sp>
        <p:nvSpPr>
          <p:cNvPr id="29" name="Text 27"/>
          <p:cNvSpPr/>
          <p:nvPr/>
        </p:nvSpPr>
        <p:spPr>
          <a:xfrm>
            <a:off x="4663440" y="3108960"/>
            <a:ext cx="4206240" cy="1371600"/>
          </a:xfrm>
          <a:prstGeom prst="rect">
            <a:avLst/>
          </a:prstGeom>
          <a:noFill/>
          <a:ln/>
        </p:spPr>
        <p:txBody>
          <a:bodyPr wrap="square" rtlCol="0" anchor="ctr"/>
          <a:lstStyle/>
          <a:p>
            <a:pPr marL="0" indent="0">
              <a:lnSpc>
                <a:spcPct val="135000"/>
              </a:lnSpc>
              <a:buNone/>
            </a:pPr>
            <a:r>
              <a:rPr lang="en-US" sz="1200" dirty="0">
                <a:solidFill>
                  <a:srgbClr val="1A1612"/>
                </a:solidFill>
                <a:latin typeface="Calibri" pitchFamily="34" charset="0"/>
                <a:ea typeface="Calibri" pitchFamily="34" charset="-122"/>
                <a:cs typeface="Calibri" pitchFamily="34" charset="-120"/>
              </a:rPr>
              <a:t>The students most at risk are not hard to identify — if you have the right data. The challenge is not knowing what to do. It is having the systems to identify who needs help and the capacity to act before it's too late.</a:t>
            </a:r>
            <a:endParaRPr lang="en-US" sz="1200" dirty="0"/>
          </a:p>
        </p:txBody>
      </p:sp>
      <p:sp>
        <p:nvSpPr>
          <p:cNvPr id="30" name="Text 28"/>
          <p:cNvSpPr/>
          <p:nvPr/>
        </p:nvSpPr>
        <p:spPr>
          <a:xfrm>
            <a:off x="365760" y="4754880"/>
            <a:ext cx="8412480" cy="256032"/>
          </a:xfrm>
          <a:prstGeom prst="rect">
            <a:avLst/>
          </a:prstGeom>
          <a:noFill/>
          <a:ln/>
        </p:spPr>
        <p:txBody>
          <a:bodyPr wrap="square" rtlCol="0" anchor="ctr"/>
          <a:lstStyle/>
          <a:p>
            <a:pPr marL="0" indent="0">
              <a:buNone/>
            </a:pPr>
            <a:r>
              <a:rPr lang="en-US" sz="900" i="1" dirty="0">
                <a:solidFill>
                  <a:srgbClr val="6B6459"/>
                </a:solidFill>
                <a:latin typeface="Calibri" pitchFamily="34" charset="0"/>
                <a:ea typeface="Calibri" pitchFamily="34" charset="-122"/>
                <a:cs typeface="Calibri" pitchFamily="34" charset="-120"/>
              </a:rPr>
              <a:t>Learning outcome: Predictive Modeling, Analysis  ·  Bridges statistical evidence with direct student-facing advising practice.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0F1F3D"/>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162844"/>
          </a:solidFill>
          <a:ln w="12700">
            <a:solidFill>
              <a:srgbClr val="162844"/>
            </a:solidFill>
            <a:prstDash val="solid"/>
          </a:ln>
        </p:spPr>
        <p:txBody>
          <a:bodyPr/>
          <a:lstStyle/>
          <a:p>
            <a:endParaRPr lang="en-US"/>
          </a:p>
        </p:txBody>
      </p:sp>
      <p:sp>
        <p:nvSpPr>
          <p:cNvPr id="3" name="Shape 1"/>
          <p:cNvSpPr/>
          <p:nvPr/>
        </p:nvSpPr>
        <p:spPr>
          <a:xfrm>
            <a:off x="6400800" y="2743200"/>
            <a:ext cx="4572000" cy="4572000"/>
          </a:xfrm>
          <a:prstGeom prst="ellipse">
            <a:avLst/>
          </a:prstGeom>
          <a:solidFill>
            <a:srgbClr val="162844"/>
          </a:solidFill>
          <a:ln w="12700">
            <a:solidFill>
              <a:srgbClr val="162844"/>
            </a:solidFill>
            <a:prstDash val="solid"/>
          </a:ln>
        </p:spPr>
        <p:txBody>
          <a:bodyPr/>
          <a:lstStyle/>
          <a:p>
            <a:endParaRPr lang="en-US"/>
          </a:p>
        </p:txBody>
      </p:sp>
      <p:sp>
        <p:nvSpPr>
          <p:cNvPr id="4" name="Shape 2"/>
          <p:cNvSpPr/>
          <p:nvPr/>
        </p:nvSpPr>
        <p:spPr>
          <a:xfrm>
            <a:off x="6583680" y="2926080"/>
            <a:ext cx="4114800" cy="4114800"/>
          </a:xfrm>
          <a:prstGeom prst="ellipse">
            <a:avLst/>
          </a:prstGeom>
          <a:solidFill>
            <a:srgbClr val="C9933A">
              <a:alpha val="10000"/>
            </a:srgbClr>
          </a:solidFill>
          <a:ln w="12700">
            <a:solidFill>
              <a:srgbClr val="C9933A">
                <a:alpha val="20000"/>
              </a:srgbClr>
            </a:solidFill>
            <a:prstDash val="solid"/>
          </a:ln>
        </p:spPr>
        <p:txBody>
          <a:bodyPr/>
          <a:lstStyle/>
          <a:p>
            <a:endParaRPr lang="en-US"/>
          </a:p>
        </p:txBody>
      </p:sp>
      <p:sp>
        <p:nvSpPr>
          <p:cNvPr id="5" name="Text 3"/>
          <p:cNvSpPr/>
          <p:nvPr/>
        </p:nvSpPr>
        <p:spPr>
          <a:xfrm>
            <a:off x="457200" y="914400"/>
            <a:ext cx="8229600" cy="1005840"/>
          </a:xfrm>
          <a:prstGeom prst="rect">
            <a:avLst/>
          </a:prstGeom>
          <a:noFill/>
          <a:ln/>
        </p:spPr>
        <p:txBody>
          <a:bodyPr wrap="square" rtlCol="0" anchor="ctr"/>
          <a:lstStyle/>
          <a:p>
            <a:pPr marL="0" indent="0" algn="ctr">
              <a:buNone/>
            </a:pPr>
            <a:r>
              <a:rPr lang="en-US" sz="5400" dirty="0">
                <a:solidFill>
                  <a:srgbClr val="FFFFFF"/>
                </a:solidFill>
                <a:latin typeface="Georgia" pitchFamily="34" charset="0"/>
                <a:ea typeface="Georgia" pitchFamily="34" charset="-122"/>
                <a:cs typeface="Georgia" pitchFamily="34" charset="-120"/>
              </a:rPr>
              <a:t>Thank You</a:t>
            </a:r>
            <a:endParaRPr lang="en-US" sz="5400" dirty="0"/>
          </a:p>
        </p:txBody>
      </p:sp>
      <p:sp>
        <p:nvSpPr>
          <p:cNvPr id="6" name="Shape 4"/>
          <p:cNvSpPr/>
          <p:nvPr/>
        </p:nvSpPr>
        <p:spPr>
          <a:xfrm>
            <a:off x="3200400" y="2011680"/>
            <a:ext cx="2743200" cy="27432"/>
          </a:xfrm>
          <a:prstGeom prst="rect">
            <a:avLst/>
          </a:prstGeom>
          <a:solidFill>
            <a:srgbClr val="C9933A"/>
          </a:solidFill>
          <a:ln/>
        </p:spPr>
        <p:txBody>
          <a:bodyPr/>
          <a:lstStyle/>
          <a:p>
            <a:endParaRPr lang="en-US"/>
          </a:p>
        </p:txBody>
      </p:sp>
      <p:sp>
        <p:nvSpPr>
          <p:cNvPr id="7" name="Text 5"/>
          <p:cNvSpPr/>
          <p:nvPr/>
        </p:nvSpPr>
        <p:spPr>
          <a:xfrm>
            <a:off x="457200" y="2148840"/>
            <a:ext cx="8229600" cy="320040"/>
          </a:xfrm>
          <a:prstGeom prst="rect">
            <a:avLst/>
          </a:prstGeom>
          <a:noFill/>
          <a:ln/>
        </p:spPr>
        <p:txBody>
          <a:bodyPr wrap="square" rtlCol="0" anchor="ctr"/>
          <a:lstStyle/>
          <a:p>
            <a:pPr marL="0" indent="0" algn="ctr">
              <a:buNone/>
            </a:pPr>
            <a:r>
              <a:rPr lang="en-US" sz="1300" i="1" dirty="0">
                <a:solidFill>
                  <a:srgbClr val="F0D9B0"/>
                </a:solidFill>
                <a:latin typeface="Georgia" pitchFamily="34" charset="0"/>
                <a:ea typeface="Georgia" pitchFamily="34" charset="-122"/>
                <a:cs typeface="Georgia" pitchFamily="34" charset="-120"/>
              </a:rPr>
              <a:t>Gabriela Bermudez  ·  M.S. Applied Data Science  ·  Syracuse University, May 2026</a:t>
            </a:r>
            <a:endParaRPr lang="en-US" sz="1300" dirty="0"/>
          </a:p>
        </p:txBody>
      </p:sp>
      <p:sp>
        <p:nvSpPr>
          <p:cNvPr id="8" name="Text 6"/>
          <p:cNvSpPr/>
          <p:nvPr/>
        </p:nvSpPr>
        <p:spPr>
          <a:xfrm>
            <a:off x="1371600" y="2743200"/>
            <a:ext cx="6400800" cy="1005840"/>
          </a:xfrm>
          <a:prstGeom prst="rect">
            <a:avLst/>
          </a:prstGeom>
          <a:noFill/>
          <a:ln/>
        </p:spPr>
        <p:txBody>
          <a:bodyPr wrap="square" rtlCol="0" anchor="ctr"/>
          <a:lstStyle/>
          <a:p>
            <a:pPr marL="0" indent="0" algn="ctr">
              <a:lnSpc>
                <a:spcPct val="150000"/>
              </a:lnSpc>
              <a:buNone/>
            </a:pPr>
            <a:r>
              <a:rPr lang="en-US" sz="1800" i="1" dirty="0">
                <a:solidFill>
                  <a:srgbClr val="C9933A"/>
                </a:solidFill>
                <a:latin typeface="Georgia" pitchFamily="34" charset="0"/>
                <a:ea typeface="Georgia" pitchFamily="34" charset="-122"/>
                <a:cs typeface="Georgia" pitchFamily="34" charset="-120"/>
              </a:rPr>
              <a:t>“The data shows the pattern.</a:t>
            </a:r>
            <a:endParaRPr lang="en-US" sz="1800" dirty="0"/>
          </a:p>
          <a:p>
            <a:pPr marL="0" indent="0" algn="ctr">
              <a:lnSpc>
                <a:spcPct val="150000"/>
              </a:lnSpc>
              <a:buNone/>
            </a:pPr>
            <a:r>
              <a:rPr lang="en-US" sz="1800" i="1" dirty="0">
                <a:solidFill>
                  <a:srgbClr val="C9933A"/>
                </a:solidFill>
                <a:latin typeface="Georgia" pitchFamily="34" charset="0"/>
                <a:ea typeface="Georgia" pitchFamily="34" charset="-122"/>
                <a:cs typeface="Georgia" pitchFamily="34" charset="-120"/>
              </a:rPr>
              <a:t>The story shows the person.”</a:t>
            </a:r>
            <a:endParaRPr lang="en-US" sz="1800" dirty="0"/>
          </a:p>
        </p:txBody>
      </p:sp>
      <p:sp>
        <p:nvSpPr>
          <p:cNvPr id="9" name="Shape 7"/>
          <p:cNvSpPr/>
          <p:nvPr/>
        </p:nvSpPr>
        <p:spPr>
          <a:xfrm>
            <a:off x="2971800" y="3931920"/>
            <a:ext cx="3200400" cy="594360"/>
          </a:xfrm>
          <a:prstGeom prst="rect">
            <a:avLst/>
          </a:prstGeom>
          <a:solidFill>
            <a:srgbClr val="C9933A"/>
          </a:solidFill>
          <a:ln w="12700">
            <a:solidFill>
              <a:srgbClr val="C9933A"/>
            </a:solidFill>
            <a:prstDash val="solid"/>
          </a:ln>
        </p:spPr>
        <p:txBody>
          <a:bodyPr/>
          <a:lstStyle/>
          <a:p>
            <a:endParaRPr lang="en-US"/>
          </a:p>
        </p:txBody>
      </p:sp>
      <p:sp>
        <p:nvSpPr>
          <p:cNvPr id="10" name="Text 8">
            <a:hlinkClick r:id="rId3" tooltip="Visit Gabriela's Portfolio Site"/>
          </p:cNvPr>
          <p:cNvSpPr/>
          <p:nvPr/>
        </p:nvSpPr>
        <p:spPr>
          <a:xfrm>
            <a:off x="2971800" y="3931920"/>
            <a:ext cx="3200400" cy="594360"/>
          </a:xfrm>
          <a:prstGeom prst="rect">
            <a:avLst/>
          </a:prstGeom>
          <a:noFill/>
          <a:ln/>
        </p:spPr>
        <p:txBody>
          <a:bodyPr wrap="square" rtlCol="0" anchor="ctr"/>
          <a:lstStyle/>
          <a:p>
            <a:pPr marL="0" indent="0" algn="ctr">
              <a:buNone/>
            </a:pPr>
            <a:r>
              <a:rPr lang="en-US" sz="1400" b="1" u="sng" dirty="0">
                <a:solidFill>
                  <a:srgbClr val="0F1F3D"/>
                </a:solidFill>
                <a:latin typeface="Calibri" pitchFamily="34" charset="0"/>
                <a:ea typeface="Calibri" pitchFamily="34" charset="-122"/>
                <a:cs typeface="Calibri" pitchFamily="34" charset="-120"/>
                <a:hlinkClick r:id="rId3" tooltip="Visit Gabriela's Portfolio Site">
                  <a:extLst>
                    <a:ext uri="{A12FA001-AC4F-418D-AE19-62706E023703}">
                      <ahyp:hlinkClr xmlns:ahyp="http://schemas.microsoft.com/office/drawing/2018/hyperlinkcolor" val="tx"/>
                    </a:ext>
                  </a:extLst>
                </a:hlinkClick>
              </a:rPr>
              <a:t>▶  Learn More About Me</a:t>
            </a:r>
            <a:endParaRPr lang="en-US" sz="1400" dirty="0"/>
          </a:p>
        </p:txBody>
      </p:sp>
      <p:sp>
        <p:nvSpPr>
          <p:cNvPr id="11" name="Text 9"/>
          <p:cNvSpPr/>
          <p:nvPr/>
        </p:nvSpPr>
        <p:spPr>
          <a:xfrm>
            <a:off x="2286000" y="4590288"/>
            <a:ext cx="4572000" cy="201168"/>
          </a:xfrm>
          <a:prstGeom prst="rect">
            <a:avLst/>
          </a:prstGeom>
          <a:noFill/>
          <a:ln/>
        </p:spPr>
        <p:txBody>
          <a:bodyPr wrap="square" rtlCol="0" anchor="ctr"/>
          <a:lstStyle/>
          <a:p>
            <a:pPr marL="0" indent="0" algn="ctr">
              <a:buNone/>
            </a:pPr>
            <a:r>
              <a:rPr lang="en-US" sz="900" i="1" dirty="0">
                <a:solidFill>
                  <a:srgbClr val="445566"/>
                </a:solidFill>
                <a:latin typeface="Calibri" pitchFamily="34" charset="0"/>
                <a:ea typeface="Calibri" pitchFamily="34" charset="-122"/>
                <a:cs typeface="Calibri" pitchFamily="34" charset="-120"/>
              </a:rPr>
              <a:t>[ Link coming soon — portfolio site in progress ]</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F3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933A"/>
          </a:solidFill>
          <a:ln/>
        </p:spPr>
        <p:txBody>
          <a:bodyPr/>
          <a:lstStyle/>
          <a:p>
            <a:endParaRPr lang="en-US"/>
          </a:p>
        </p:txBody>
      </p:sp>
      <p:sp>
        <p:nvSpPr>
          <p:cNvPr id="3" name="Text 1"/>
          <p:cNvSpPr/>
          <p:nvPr/>
        </p:nvSpPr>
        <p:spPr>
          <a:xfrm>
            <a:off x="457200" y="274320"/>
            <a:ext cx="8229600" cy="228600"/>
          </a:xfrm>
          <a:prstGeom prst="rect">
            <a:avLst/>
          </a:prstGeom>
          <a:noFill/>
          <a:ln/>
        </p:spPr>
        <p:txBody>
          <a:bodyPr wrap="square" rtlCol="0" anchor="ctr"/>
          <a:lstStyle/>
          <a:p>
            <a:pPr marL="0" indent="0">
              <a:buNone/>
            </a:pPr>
            <a:r>
              <a:rPr lang="en-US" sz="900" b="1" kern="0" spc="400" dirty="0">
                <a:solidFill>
                  <a:srgbClr val="C9933A"/>
                </a:solidFill>
                <a:latin typeface="Calibri" pitchFamily="34" charset="0"/>
              </a:rPr>
              <a:t>PROJECT SPOTLIGHT  07  ·  BUSINESS NEED</a:t>
            </a:r>
          </a:p>
        </p:txBody>
      </p:sp>
      <p:sp>
        <p:nvSpPr>
          <p:cNvPr id="4" name="Text 2"/>
          <p:cNvSpPr/>
          <p:nvPr/>
        </p:nvSpPr>
        <p:spPr>
          <a:xfrm>
            <a:off x="457200" y="530352"/>
            <a:ext cx="8229600" cy="548640"/>
          </a:xfrm>
          <a:prstGeom prst="rect">
            <a:avLst/>
          </a:prstGeom>
          <a:noFill/>
          <a:ln/>
        </p:spPr>
        <p:txBody>
          <a:bodyPr wrap="square" rtlCol="0" anchor="ctr"/>
          <a:lstStyle/>
          <a:p>
            <a:pPr marL="0" indent="0">
              <a:buNone/>
            </a:pPr>
            <a:r>
              <a:rPr lang="en-US" sz="2200" dirty="0">
                <a:solidFill>
                  <a:srgbClr val="FFFFFF"/>
                </a:solidFill>
                <a:latin typeface="Georgia" pitchFamily="34" charset="0"/>
              </a:rPr>
              <a:t>ECS Retention Model</a:t>
            </a:r>
          </a:p>
        </p:txBody>
      </p:sp>
      <p:sp>
        <p:nvSpPr>
          <p:cNvPr id="5" name="Shape 3"/>
          <p:cNvSpPr/>
          <p:nvPr/>
        </p:nvSpPr>
        <p:spPr>
          <a:xfrm>
            <a:off x="457200" y="1143000"/>
            <a:ext cx="8229600" cy="18288"/>
          </a:xfrm>
          <a:prstGeom prst="rect">
            <a:avLst/>
          </a:prstGeom>
          <a:solidFill>
            <a:srgbClr val="C9933A">
              <a:alpha val="40000"/>
            </a:srgbClr>
          </a:solidFill>
          <a:ln/>
        </p:spPr>
        <p:txBody>
          <a:bodyPr/>
          <a:lstStyle/>
          <a:p>
            <a:endParaRPr lang="en-US"/>
          </a:p>
        </p:txBody>
      </p:sp>
      <p:sp>
        <p:nvSpPr>
          <p:cNvPr id="6" name="Text 4"/>
          <p:cNvSpPr/>
          <p:nvPr/>
        </p:nvSpPr>
        <p:spPr>
          <a:xfrm>
            <a:off x="457200" y="1234440"/>
            <a:ext cx="4023360" cy="228600"/>
          </a:xfrm>
          <a:prstGeom prst="rect">
            <a:avLst/>
          </a:prstGeom>
          <a:noFill/>
          <a:ln/>
        </p:spPr>
        <p:txBody>
          <a:bodyPr wrap="square" rtlCol="0" anchor="ctr"/>
          <a:lstStyle/>
          <a:p>
            <a:pPr marL="0" indent="0">
              <a:buNone/>
            </a:pPr>
            <a:r>
              <a:rPr lang="en-US" sz="1000" b="1" kern="0" spc="200" dirty="0">
                <a:solidFill>
                  <a:srgbClr val="C9933A"/>
                </a:solidFill>
                <a:latin typeface="Calibri" pitchFamily="34" charset="0"/>
              </a:rPr>
              <a:t>THE PROBLEM</a:t>
            </a:r>
          </a:p>
        </p:txBody>
      </p:sp>
      <p:sp>
        <p:nvSpPr>
          <p:cNvPr id="7" name="Text 5"/>
          <p:cNvSpPr/>
          <p:nvPr/>
        </p:nvSpPr>
        <p:spPr>
          <a:xfrm>
            <a:off x="457200" y="1417320"/>
            <a:ext cx="4023360" cy="1280160"/>
          </a:xfrm>
          <a:prstGeom prst="rect">
            <a:avLst/>
          </a:prstGeom>
          <a:noFill/>
          <a:ln/>
        </p:spPr>
        <p:txBody>
          <a:bodyPr wrap="square" rtlCol="0" anchor="t"/>
          <a:lstStyle/>
          <a:p>
            <a:pPr marL="0" indent="0">
              <a:lnSpc>
                <a:spcPct val="140000"/>
              </a:lnSpc>
              <a:buNone/>
            </a:pPr>
            <a:r>
              <a:rPr lang="en-US" sz="1200" dirty="0">
                <a:solidFill>
                  <a:srgbClr val="DDEEFF"/>
                </a:solidFill>
                <a:latin typeface="Calibri" pitchFamily="34" charset="0"/>
              </a:rPr>
              <a:t>Advisors in ECS currently rely on reactive outreach — reaching students after they appear in crisis rather than before. By the time a student lands on probation, the semester is often already lost.</a:t>
            </a:r>
          </a:p>
          <a:p>
            <a:pPr marL="0" indent="0">
              <a:lnSpc>
                <a:spcPct val="140000"/>
              </a:lnSpc>
              <a:spcBef>
                <a:spcPts val="1200"/>
              </a:spcBef>
              <a:buNone/>
            </a:pPr>
            <a:r>
              <a:rPr lang="en-US" sz="1200" dirty="0">
                <a:solidFill>
                  <a:srgbClr val="DDEEFF"/>
                </a:solidFill>
                <a:latin typeface="Calibri" pitchFamily="34" charset="0"/>
              </a:rPr>
              <a:t>Five years of probation data sit in the database built in IST 659 — but no model yet exists to make it predictive.</a:t>
            </a:r>
          </a:p>
        </p:txBody>
      </p:sp>
      <p:sp>
        <p:nvSpPr>
          <p:cNvPr id="8" name="Shape 6"/>
          <p:cNvSpPr/>
          <p:nvPr/>
        </p:nvSpPr>
        <p:spPr>
          <a:xfrm>
            <a:off x="4572000" y="1234440"/>
            <a:ext cx="18288" cy="2743200"/>
          </a:xfrm>
          <a:prstGeom prst="rect">
            <a:avLst/>
          </a:prstGeom>
          <a:solidFill>
            <a:srgbClr val="C9933A">
              <a:alpha val="30000"/>
            </a:srgbClr>
          </a:solidFill>
          <a:ln/>
        </p:spPr>
        <p:txBody>
          <a:bodyPr/>
          <a:lstStyle/>
          <a:p>
            <a:endParaRPr lang="en-US"/>
          </a:p>
        </p:txBody>
      </p:sp>
      <p:sp>
        <p:nvSpPr>
          <p:cNvPr id="9" name="Text 7"/>
          <p:cNvSpPr/>
          <p:nvPr/>
        </p:nvSpPr>
        <p:spPr>
          <a:xfrm>
            <a:off x="4754880" y="1234440"/>
            <a:ext cx="3931920" cy="228600"/>
          </a:xfrm>
          <a:prstGeom prst="rect">
            <a:avLst/>
          </a:prstGeom>
          <a:noFill/>
          <a:ln/>
        </p:spPr>
        <p:txBody>
          <a:bodyPr wrap="square" rtlCol="0" anchor="ctr"/>
          <a:lstStyle/>
          <a:p>
            <a:pPr marL="0" indent="0">
              <a:buNone/>
            </a:pPr>
            <a:r>
              <a:rPr lang="en-US" sz="1000" b="1" kern="0" spc="200" dirty="0">
                <a:solidFill>
                  <a:srgbClr val="C9933A"/>
                </a:solidFill>
                <a:latin typeface="Calibri" pitchFamily="34" charset="0"/>
              </a:rPr>
              <a:t>THE GAP</a:t>
            </a:r>
          </a:p>
        </p:txBody>
      </p:sp>
      <p:sp>
        <p:nvSpPr>
          <p:cNvPr id="10" name="Text 8"/>
          <p:cNvSpPr/>
          <p:nvPr/>
        </p:nvSpPr>
        <p:spPr>
          <a:xfrm>
            <a:off x="4754880" y="1417320"/>
            <a:ext cx="3931920" cy="1280160"/>
          </a:xfrm>
          <a:prstGeom prst="rect">
            <a:avLst/>
          </a:prstGeom>
          <a:noFill/>
          <a:ln/>
        </p:spPr>
        <p:txBody>
          <a:bodyPr wrap="square" rtlCol="0" anchor="t"/>
          <a:lstStyle/>
          <a:p>
            <a:pPr marL="0" indent="0">
              <a:lnSpc>
                <a:spcPct val="140000"/>
              </a:lnSpc>
              <a:buNone/>
            </a:pPr>
            <a:r>
              <a:rPr lang="en-US" sz="1200" dirty="0">
                <a:solidFill>
                  <a:srgbClr val="DDEEFF"/>
                </a:solidFill>
                <a:latin typeface="Calibri" pitchFamily="34" charset="0"/>
              </a:rPr>
              <a:t>Institutional data on probation patterns, course-level risk, advising touchpoints, and recovery outcomes exists — but has never been used to build a forward-looking model.</a:t>
            </a:r>
          </a:p>
          <a:p>
            <a:pPr marL="0" indent="0">
              <a:lnSpc>
                <a:spcPct val="140000"/>
              </a:lnSpc>
              <a:spcBef>
                <a:spcPts val="1200"/>
              </a:spcBef>
              <a:buNone/>
            </a:pPr>
            <a:r>
              <a:rPr lang="en-US" sz="1200" dirty="0">
                <a:solidFill>
                  <a:srgbClr val="DDEEFF"/>
                </a:solidFill>
                <a:latin typeface="Calibri" pitchFamily="34" charset="0"/>
              </a:rPr>
              <a:t>This project is the bridge: using the probation database I built in IST 659 as the foundation for a predictive retention model designed for direct use by ECS advisors.</a:t>
            </a:r>
          </a:p>
        </p:txBody>
      </p:sp>
      <p:sp>
        <p:nvSpPr>
          <p:cNvPr id="11" name="Shape 9"/>
          <p:cNvSpPr/>
          <p:nvPr/>
        </p:nvSpPr>
        <p:spPr>
          <a:xfrm>
            <a:off x="457200" y="3291840"/>
            <a:ext cx="8229600" cy="18288"/>
          </a:xfrm>
          <a:prstGeom prst="rect">
            <a:avLst/>
          </a:prstGeom>
          <a:solidFill>
            <a:srgbClr val="C9933A">
              <a:alpha val="40000"/>
            </a:srgbClr>
          </a:solidFill>
          <a:ln/>
        </p:spPr>
        <p:txBody>
          <a:bodyPr/>
          <a:lstStyle/>
          <a:p>
            <a:endParaRPr lang="en-US"/>
          </a:p>
        </p:txBody>
      </p:sp>
      <p:sp>
        <p:nvSpPr>
          <p:cNvPr id="12" name="Text 10"/>
          <p:cNvSpPr/>
          <p:nvPr/>
        </p:nvSpPr>
        <p:spPr>
          <a:xfrm>
            <a:off x="457200" y="3429000"/>
            <a:ext cx="8229600" cy="228600"/>
          </a:xfrm>
          <a:prstGeom prst="rect">
            <a:avLst/>
          </a:prstGeom>
          <a:noFill/>
          <a:ln/>
        </p:spPr>
        <p:txBody>
          <a:bodyPr wrap="square" rtlCol="0" anchor="ctr"/>
          <a:lstStyle/>
          <a:p>
            <a:pPr marL="0" indent="0">
              <a:buNone/>
            </a:pPr>
            <a:r>
              <a:rPr lang="en-US" sz="1000" b="1" kern="0" spc="200" dirty="0">
                <a:solidFill>
                  <a:srgbClr val="C9933A"/>
                </a:solidFill>
                <a:latin typeface="Calibri" pitchFamily="34" charset="0"/>
              </a:rPr>
              <a:t>PROJECT GOAL</a:t>
            </a:r>
          </a:p>
        </p:txBody>
      </p:sp>
      <p:sp>
        <p:nvSpPr>
          <p:cNvPr id="13" name="Text 11"/>
          <p:cNvSpPr/>
          <p:nvPr/>
        </p:nvSpPr>
        <p:spPr>
          <a:xfrm>
            <a:off x="457200" y="3703320"/>
            <a:ext cx="8229600" cy="731520"/>
          </a:xfrm>
          <a:prstGeom prst="rect">
            <a:avLst/>
          </a:prstGeom>
          <a:noFill/>
          <a:ln/>
        </p:spPr>
        <p:txBody>
          <a:bodyPr wrap="square" rtlCol="0" anchor="ctr"/>
          <a:lstStyle/>
          <a:p>
            <a:pPr marL="0" indent="0">
              <a:lnSpc>
                <a:spcPct val="140000"/>
              </a:lnSpc>
              <a:buNone/>
            </a:pPr>
            <a:r>
              <a:rPr lang="en-US" sz="1300" dirty="0">
                <a:solidFill>
                  <a:srgbClr val="DDEEFF"/>
                </a:solidFill>
                <a:latin typeface="Calibri" pitchFamily="34" charset="0"/>
              </a:rPr>
              <a:t xml:space="preserve">Use five years of ECS probation history to build a predictive model that flags students at risk of academic probation </a:t>
            </a:r>
            <a:r>
              <a:rPr lang="en-US" sz="1300" b="1" dirty="0">
                <a:solidFill>
                  <a:srgbClr val="C9933A"/>
                </a:solidFill>
                <a:latin typeface="Calibri" pitchFamily="34" charset="0"/>
              </a:rPr>
              <a:t>before the semester ends</a:t>
            </a:r>
            <a:r>
              <a:rPr lang="en-US" sz="1300" dirty="0">
                <a:solidFill>
                  <a:srgbClr val="DDEEFF"/>
                </a:solidFill>
                <a:latin typeface="Calibri" pitchFamily="34" charset="0"/>
              </a:rPr>
              <a:t xml:space="preserve"> — giving advisors a window to act.</a:t>
            </a:r>
          </a:p>
        </p:txBody>
      </p:sp>
      <p:sp>
        <p:nvSpPr>
          <p:cNvPr id="14" name="Shape 12"/>
          <p:cNvSpPr/>
          <p:nvPr/>
        </p:nvSpPr>
        <p:spPr>
          <a:xfrm>
            <a:off x="457200" y="4846440"/>
            <a:ext cx="8229600" cy="18288"/>
          </a:xfrm>
          <a:prstGeom prst="rect">
            <a:avLst/>
          </a:prstGeom>
          <a:solidFill>
            <a:srgbClr val="C9933A">
              <a:alpha val="40000"/>
            </a:srgbClr>
          </a:solidFill>
          <a:ln/>
        </p:spPr>
        <p:txBody>
          <a:bodyPr/>
          <a:lstStyle/>
          <a:p>
            <a:endParaRPr lang="en-US"/>
          </a:p>
        </p:txBody>
      </p:sp>
      <p:sp>
        <p:nvSpPr>
          <p:cNvPr id="15" name="Text 13"/>
          <p:cNvSpPr/>
          <p:nvPr/>
        </p:nvSpPr>
        <p:spPr>
          <a:xfrm>
            <a:off x="457200" y="4883040"/>
            <a:ext cx="8229600" cy="182880"/>
          </a:xfrm>
          <a:prstGeom prst="rect">
            <a:avLst/>
          </a:prstGeom>
          <a:noFill/>
          <a:ln/>
        </p:spPr>
        <p:txBody>
          <a:bodyPr wrap="square" rtlCol="0" anchor="ctr"/>
          <a:lstStyle/>
          <a:p>
            <a:pPr marL="0" indent="0">
              <a:buNone/>
            </a:pPr>
            <a:r>
              <a:rPr lang="en-US" sz="800" dirty="0">
                <a:solidFill>
                  <a:srgbClr val="7A8FA6"/>
                </a:solidFill>
                <a:latin typeface="Calibri" pitchFamily="34" charset="0"/>
              </a:rPr>
              <a:t>Learning Outcomes: Predictive Modeling  ·  Retention Analytics  ·  Independent Project  ·  In Progress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F3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933A"/>
          </a:solidFill>
          <a:ln/>
        </p:spPr>
        <p:txBody>
          <a:bodyPr/>
          <a:lstStyle/>
          <a:p>
            <a:endParaRPr lang="en-US"/>
          </a:p>
        </p:txBody>
      </p:sp>
      <p:sp>
        <p:nvSpPr>
          <p:cNvPr id="3" name="Text 1"/>
          <p:cNvSpPr/>
          <p:nvPr/>
        </p:nvSpPr>
        <p:spPr>
          <a:xfrm>
            <a:off x="457200" y="274320"/>
            <a:ext cx="8229600" cy="228600"/>
          </a:xfrm>
          <a:prstGeom prst="rect">
            <a:avLst/>
          </a:prstGeom>
          <a:noFill/>
          <a:ln/>
        </p:spPr>
        <p:txBody>
          <a:bodyPr wrap="square" rtlCol="0" anchor="ctr"/>
          <a:lstStyle/>
          <a:p>
            <a:pPr marL="0" indent="0">
              <a:buNone/>
            </a:pPr>
            <a:r>
              <a:rPr lang="en-US" sz="900" b="1" kern="0" spc="400" dirty="0">
                <a:solidFill>
                  <a:srgbClr val="C9933A"/>
                </a:solidFill>
                <a:latin typeface="Calibri" pitchFamily="34" charset="0"/>
              </a:rPr>
              <a:t>PROJECT SPOTLIGHT  07  ·  METHODOLOGY &amp; APPROACH</a:t>
            </a:r>
          </a:p>
        </p:txBody>
      </p:sp>
      <p:sp>
        <p:nvSpPr>
          <p:cNvPr id="4" name="Text 2"/>
          <p:cNvSpPr/>
          <p:nvPr/>
        </p:nvSpPr>
        <p:spPr>
          <a:xfrm>
            <a:off x="457200" y="530352"/>
            <a:ext cx="8229600" cy="548640"/>
          </a:xfrm>
          <a:prstGeom prst="rect">
            <a:avLst/>
          </a:prstGeom>
          <a:noFill/>
          <a:ln/>
        </p:spPr>
        <p:txBody>
          <a:bodyPr wrap="square" rtlCol="0" anchor="ctr"/>
          <a:lstStyle/>
          <a:p>
            <a:pPr marL="0" indent="0">
              <a:buNone/>
            </a:pPr>
            <a:r>
              <a:rPr lang="en-US" sz="2200" dirty="0">
                <a:solidFill>
                  <a:srgbClr val="FFFFFF"/>
                </a:solidFill>
                <a:latin typeface="Georgia" pitchFamily="34" charset="0"/>
              </a:rPr>
              <a:t>ECS Retention Model</a:t>
            </a:r>
          </a:p>
        </p:txBody>
      </p:sp>
      <p:sp>
        <p:nvSpPr>
          <p:cNvPr id="5" name="Text 3"/>
          <p:cNvSpPr/>
          <p:nvPr/>
        </p:nvSpPr>
        <p:spPr>
          <a:xfrm>
            <a:off x="457200" y="1005840"/>
            <a:ext cx="8229600" cy="182880"/>
          </a:xfrm>
          <a:prstGeom prst="rect">
            <a:avLst/>
          </a:prstGeom>
          <a:noFill/>
          <a:ln/>
        </p:spPr>
        <p:txBody>
          <a:bodyPr wrap="square" rtlCol="0" anchor="ctr"/>
          <a:lstStyle/>
          <a:p>
            <a:pPr marL="0" indent="0">
              <a:buNone/>
            </a:pPr>
            <a:r>
              <a:rPr lang="en-US" sz="1000" dirty="0">
                <a:solidFill>
                  <a:srgbClr val="7A8FA6"/>
                </a:solidFill>
                <a:latin typeface="Calibri" pitchFamily="34" charset="0"/>
              </a:rPr>
              <a:t>Independent Project  ·  In Progress  ·  Python, R, Oracle DBMS, SHAP, scikit-learn</a:t>
            </a:r>
          </a:p>
        </p:txBody>
      </p:sp>
      <p:sp>
        <p:nvSpPr>
          <p:cNvPr id="6" name="Shape 4"/>
          <p:cNvSpPr/>
          <p:nvPr/>
        </p:nvSpPr>
        <p:spPr>
          <a:xfrm>
            <a:off x="457200" y="1234440"/>
            <a:ext cx="8229600" cy="18288"/>
          </a:xfrm>
          <a:prstGeom prst="rect">
            <a:avLst/>
          </a:prstGeom>
          <a:solidFill>
            <a:srgbClr val="C9933A">
              <a:alpha val="40000"/>
            </a:srgbClr>
          </a:solidFill>
          <a:ln/>
        </p:spPr>
        <p:txBody>
          <a:bodyPr/>
          <a:lstStyle/>
          <a:p>
            <a:endParaRPr lang="en-US"/>
          </a:p>
        </p:txBody>
      </p:sp>
      <p:sp>
        <p:nvSpPr>
          <p:cNvPr id="7" name="Text 5"/>
          <p:cNvSpPr/>
          <p:nvPr/>
        </p:nvSpPr>
        <p:spPr>
          <a:xfrm>
            <a:off x="457200" y="1325880"/>
            <a:ext cx="2560320" cy="200000"/>
          </a:xfrm>
          <a:prstGeom prst="rect">
            <a:avLst/>
          </a:prstGeom>
          <a:noFill/>
          <a:ln/>
        </p:spPr>
        <p:txBody>
          <a:bodyPr wrap="square" rtlCol="0" anchor="ctr"/>
          <a:lstStyle/>
          <a:p>
            <a:pPr marL="0" indent="0">
              <a:buNone/>
            </a:pPr>
            <a:r>
              <a:rPr lang="en-US" sz="1000" b="1" kern="0" spc="200" dirty="0">
                <a:solidFill>
                  <a:srgbClr val="C9933A"/>
                </a:solidFill>
                <a:latin typeface="Calibri" pitchFamily="34" charset="0"/>
              </a:rPr>
              <a:t>DATA FOUNDATION</a:t>
            </a:r>
          </a:p>
        </p:txBody>
      </p:sp>
      <p:sp>
        <p:nvSpPr>
          <p:cNvPr id="8" name="Text 6"/>
          <p:cNvSpPr/>
          <p:nvPr/>
        </p:nvSpPr>
        <p:spPr>
          <a:xfrm>
            <a:off x="457200" y="1554480"/>
            <a:ext cx="2560320" cy="1097280"/>
          </a:xfrm>
          <a:prstGeom prst="rect">
            <a:avLst/>
          </a:prstGeom>
          <a:noFill/>
          <a:ln/>
        </p:spPr>
        <p:txBody>
          <a:bodyPr wrap="square" rtlCol="0" anchor="t"/>
          <a:lstStyle/>
          <a:p>
            <a:pPr marL="0" indent="0">
              <a:lnSpc>
                <a:spcPct val="140000"/>
              </a:lnSpc>
              <a:buNone/>
            </a:pPr>
            <a:r>
              <a:rPr lang="en-US" sz="1100" dirty="0">
                <a:solidFill>
                  <a:srgbClr val="DDEEFF"/>
                </a:solidFill>
                <a:latin typeface="Calibri" pitchFamily="34" charset="0"/>
              </a:rPr>
              <a:t>Five years of ECS probation records drawn from the Oracle DBMS built in IST 659 — including probation history, GPA trajectories, course-level risk, advising interactions, and recovery outcomes.</a:t>
            </a:r>
          </a:p>
        </p:txBody>
      </p:sp>
      <p:sp>
        <p:nvSpPr>
          <p:cNvPr id="9" name="Text 7"/>
          <p:cNvSpPr/>
          <p:nvPr/>
        </p:nvSpPr>
        <p:spPr>
          <a:xfrm>
            <a:off x="3200400" y="1325880"/>
            <a:ext cx="2560320" cy="200000"/>
          </a:xfrm>
          <a:prstGeom prst="rect">
            <a:avLst/>
          </a:prstGeom>
          <a:noFill/>
          <a:ln/>
        </p:spPr>
        <p:txBody>
          <a:bodyPr wrap="square" rtlCol="0" anchor="ctr"/>
          <a:lstStyle/>
          <a:p>
            <a:pPr marL="0" indent="0">
              <a:buNone/>
            </a:pPr>
            <a:r>
              <a:rPr lang="en-US" sz="1000" b="1" kern="0" spc="200" dirty="0">
                <a:solidFill>
                  <a:srgbClr val="C9933A"/>
                </a:solidFill>
                <a:latin typeface="Calibri" pitchFamily="34" charset="0"/>
              </a:rPr>
              <a:t>KEY FEATURES</a:t>
            </a:r>
          </a:p>
        </p:txBody>
      </p:sp>
      <p:sp>
        <p:nvSpPr>
          <p:cNvPr id="10" name="Text 8"/>
          <p:cNvSpPr/>
          <p:nvPr/>
        </p:nvSpPr>
        <p:spPr>
          <a:xfrm>
            <a:off x="3200400" y="1554480"/>
            <a:ext cx="2560320" cy="1097280"/>
          </a:xfrm>
          <a:prstGeom prst="rect">
            <a:avLst/>
          </a:prstGeom>
          <a:noFill/>
          <a:ln/>
        </p:spPr>
        <p:txBody>
          <a:bodyPr wrap="square" rtlCol="0" anchor="t"/>
          <a:lstStyle/>
          <a:p>
            <a:pPr marL="0" indent="0">
              <a:lnSpc>
                <a:spcPct val="140000"/>
              </a:lnSpc>
              <a:buNone/>
            </a:pPr>
            <a:r>
              <a:rPr lang="en-US" sz="1100" dirty="0">
                <a:solidFill>
                  <a:srgbClr val="DDEEFF"/>
                </a:solidFill>
                <a:latin typeface="Calibri" pitchFamily="34" charset="0"/>
              </a:rPr>
              <a:t>Cumulative GPA, semester GPA drop, prior probation count, high-risk course enrollment, absences, advising frequency, parental education, FAFSA status, and time-to-intervention.</a:t>
            </a:r>
          </a:p>
        </p:txBody>
      </p:sp>
      <p:sp>
        <p:nvSpPr>
          <p:cNvPr id="11" name="Text 9"/>
          <p:cNvSpPr/>
          <p:nvPr/>
        </p:nvSpPr>
        <p:spPr>
          <a:xfrm>
            <a:off x="5943600" y="1325880"/>
            <a:ext cx="2743200" cy="200000"/>
          </a:xfrm>
          <a:prstGeom prst="rect">
            <a:avLst/>
          </a:prstGeom>
          <a:noFill/>
          <a:ln/>
        </p:spPr>
        <p:txBody>
          <a:bodyPr wrap="square" rtlCol="0" anchor="ctr"/>
          <a:lstStyle/>
          <a:p>
            <a:pPr marL="0" indent="0">
              <a:buNone/>
            </a:pPr>
            <a:r>
              <a:rPr lang="en-US" sz="1000" b="1" kern="0" spc="200" dirty="0">
                <a:solidFill>
                  <a:srgbClr val="C9933A"/>
                </a:solidFill>
                <a:latin typeface="Calibri" pitchFamily="34" charset="0"/>
              </a:rPr>
              <a:t>MODELS UNDER EVALUATION</a:t>
            </a:r>
          </a:p>
        </p:txBody>
      </p:sp>
      <p:sp>
        <p:nvSpPr>
          <p:cNvPr id="12" name="Text 10"/>
          <p:cNvSpPr/>
          <p:nvPr/>
        </p:nvSpPr>
        <p:spPr>
          <a:xfrm>
            <a:off x="5943600" y="1554480"/>
            <a:ext cx="2743200" cy="1097280"/>
          </a:xfrm>
          <a:prstGeom prst="rect">
            <a:avLst/>
          </a:prstGeom>
          <a:noFill/>
          <a:ln/>
        </p:spPr>
        <p:txBody>
          <a:bodyPr wrap="square" rtlCol="0" anchor="t"/>
          <a:lstStyle/>
          <a:p>
            <a:pPr marL="0" indent="0">
              <a:lnSpc>
                <a:spcPct val="140000"/>
              </a:lnSpc>
              <a:buNone/>
            </a:pPr>
            <a:r>
              <a:rPr lang="en-US" sz="1100" dirty="0">
                <a:solidFill>
                  <a:srgbClr val="DDEEFF"/>
                </a:solidFill>
                <a:latin typeface="Calibri" pitchFamily="34" charset="0"/>
              </a:rPr>
              <a:t>Logistic Regression (baseline), Random Forest, Gradient Boosting (XGBoost), and SVM — evaluated on precision, recall, and F1 with a focus on minimizing false negatives.</a:t>
            </a:r>
          </a:p>
        </p:txBody>
      </p:sp>
      <p:sp>
        <p:nvSpPr>
          <p:cNvPr id="13" name="Div1"/>
          <p:cNvSpPr/>
          <p:nvPr/>
        </p:nvSpPr>
        <p:spPr>
          <a:xfrm>
            <a:off x="3108960" y="1325880"/>
            <a:ext cx="18288" cy="1325880"/>
          </a:xfrm>
          <a:prstGeom prst="rect">
            <a:avLst/>
          </a:prstGeom>
          <a:solidFill>
            <a:srgbClr val="C9933A">
              <a:alpha val="25000"/>
            </a:srgbClr>
          </a:solidFill>
          <a:ln/>
        </p:spPr>
        <p:txBody>
          <a:bodyPr/>
          <a:lstStyle/>
          <a:p>
            <a:endParaRPr lang="en-US"/>
          </a:p>
        </p:txBody>
      </p:sp>
      <p:sp>
        <p:nvSpPr>
          <p:cNvPr id="14" name="Div2"/>
          <p:cNvSpPr/>
          <p:nvPr/>
        </p:nvSpPr>
        <p:spPr>
          <a:xfrm>
            <a:off x="5852160" y="1325880"/>
            <a:ext cx="18288" cy="1325880"/>
          </a:xfrm>
          <a:prstGeom prst="rect">
            <a:avLst/>
          </a:prstGeom>
          <a:solidFill>
            <a:srgbClr val="C9933A">
              <a:alpha val="25000"/>
            </a:srgbClr>
          </a:solidFill>
          <a:ln/>
        </p:spPr>
        <p:txBody>
          <a:bodyPr/>
          <a:lstStyle/>
          <a:p>
            <a:endParaRPr lang="en-US"/>
          </a:p>
        </p:txBody>
      </p:sp>
      <p:sp>
        <p:nvSpPr>
          <p:cNvPr id="15" name="Shape 13"/>
          <p:cNvSpPr/>
          <p:nvPr/>
        </p:nvSpPr>
        <p:spPr>
          <a:xfrm>
            <a:off x="457200" y="2743200"/>
            <a:ext cx="8229600" cy="18288"/>
          </a:xfrm>
          <a:prstGeom prst="rect">
            <a:avLst/>
          </a:prstGeom>
          <a:solidFill>
            <a:srgbClr val="C9933A">
              <a:alpha val="40000"/>
            </a:srgbClr>
          </a:solidFill>
          <a:ln/>
        </p:spPr>
        <p:txBody>
          <a:bodyPr/>
          <a:lstStyle/>
          <a:p>
            <a:endParaRPr lang="en-US"/>
          </a:p>
        </p:txBody>
      </p:sp>
      <p:sp>
        <p:nvSpPr>
          <p:cNvPr id="16" name="Text 14"/>
          <p:cNvSpPr/>
          <p:nvPr/>
        </p:nvSpPr>
        <p:spPr>
          <a:xfrm>
            <a:off x="457200" y="2834640"/>
            <a:ext cx="8229600" cy="200000"/>
          </a:xfrm>
          <a:prstGeom prst="rect">
            <a:avLst/>
          </a:prstGeom>
          <a:noFill/>
          <a:ln/>
        </p:spPr>
        <p:txBody>
          <a:bodyPr wrap="square" rtlCol="0" anchor="ctr"/>
          <a:lstStyle/>
          <a:p>
            <a:pPr marL="0" indent="0">
              <a:buNone/>
            </a:pPr>
            <a:r>
              <a:rPr lang="en-US" sz="1000" b="1" kern="0" spc="200" dirty="0">
                <a:solidFill>
                  <a:srgbClr val="C9933A"/>
                </a:solidFill>
                <a:latin typeface="Calibri" pitchFamily="34" charset="0"/>
              </a:rPr>
              <a:t>WHAT MAKES THIS DIFFERENT</a:t>
            </a:r>
          </a:p>
        </p:txBody>
      </p:sp>
      <p:sp>
        <p:nvSpPr>
          <p:cNvPr id="17" name="Text 15"/>
          <p:cNvSpPr/>
          <p:nvPr/>
        </p:nvSpPr>
        <p:spPr>
          <a:xfrm>
            <a:off x="457200" y="3063480"/>
            <a:ext cx="3931920" cy="914400"/>
          </a:xfrm>
          <a:prstGeom prst="rect">
            <a:avLst/>
          </a:prstGeom>
          <a:solidFill>
            <a:srgbClr val="C9933A">
              <a:alpha val="10000"/>
            </a:srgbClr>
          </a:solidFill>
          <a:ln w="9525">
            <a:solidFill>
              <a:srgbClr val="C9933A">
                <a:alpha val="50000"/>
              </a:srgbClr>
            </a:solidFill>
          </a:ln>
        </p:spPr>
        <p:txBody>
          <a:bodyPr wrap="square" rtlCol="0" anchor="ctr" lIns="114300" rIns="114300" tIns="91440" bIns="91440"/>
          <a:lstStyle/>
          <a:p>
            <a:pPr marL="0" indent="0">
              <a:lnSpc>
                <a:spcPct val="130000"/>
              </a:lnSpc>
              <a:buNone/>
            </a:pPr>
            <a:r>
              <a:rPr lang="en-US" sz="1000" b="1" dirty="0">
                <a:solidFill>
                  <a:srgbClr val="FFFFFF"/>
                </a:solidFill>
                <a:latin typeface="Calibri" pitchFamily="34" charset="0"/>
              </a:rPr>
              <a:t>Built for advisors, not researchers.</a:t>
            </a:r>
            <a:r>
              <a:rPr lang="en-US" sz="1000" dirty="0">
                <a:solidFill>
                  <a:srgbClr val="DDEEFF"/>
                </a:solidFill>
                <a:latin typeface="Calibri" pitchFamily="34" charset="0"/>
              </a:rPr>
              <a:t xml:space="preserve"> SHAP values will surface the top drivers for each flagged student — so advisors know not just who is at risk, but why, and what to address first.</a:t>
            </a:r>
          </a:p>
        </p:txBody>
      </p:sp>
      <p:sp>
        <p:nvSpPr>
          <p:cNvPr id="18" name="Text 16"/>
          <p:cNvSpPr/>
          <p:nvPr/>
        </p:nvSpPr>
        <p:spPr>
          <a:xfrm>
            <a:off x="4754880" y="3063480"/>
            <a:ext cx="3931920" cy="914400"/>
          </a:xfrm>
          <a:prstGeom prst="rect">
            <a:avLst/>
          </a:prstGeom>
          <a:solidFill>
            <a:srgbClr val="C9933A">
              <a:alpha val="10000"/>
            </a:srgbClr>
          </a:solidFill>
          <a:ln w="9525">
            <a:solidFill>
              <a:srgbClr val="C9933A">
                <a:alpha val="50000"/>
              </a:srgbClr>
            </a:solidFill>
          </a:ln>
        </p:spPr>
        <p:txBody>
          <a:bodyPr wrap="square" rtlCol="0" anchor="ctr" lIns="114300" rIns="114300" tIns="91440" bIns="91440"/>
          <a:lstStyle/>
          <a:p>
            <a:pPr marL="0" indent="0">
              <a:lnSpc>
                <a:spcPct val="130000"/>
              </a:lnSpc>
              <a:buNone/>
            </a:pPr>
            <a:r>
              <a:rPr lang="en-US" sz="1000" b="1" dirty="0">
                <a:solidFill>
                  <a:srgbClr val="FFFFFF"/>
                </a:solidFill>
                <a:latin typeface="Calibri" pitchFamily="34" charset="0"/>
              </a:rPr>
              <a:t>Equity-centered from the start.</a:t>
            </a:r>
            <a:r>
              <a:rPr lang="en-US" sz="1000" dirty="0">
                <a:solidFill>
                  <a:srgbClr val="DDEEFF"/>
                </a:solidFill>
                <a:latin typeface="Calibri" pitchFamily="34" charset="0"/>
              </a:rPr>
              <a:t xml:space="preserve"> Model performance will be evaluated across demographic subgroups to ensure it doesn’t systematically underserve first-gen, Pell-eligible, or underrepresented students.</a:t>
            </a:r>
          </a:p>
        </p:txBody>
      </p:sp>
      <p:sp>
        <p:nvSpPr>
          <p:cNvPr id="19" name="Shape 17"/>
          <p:cNvSpPr/>
          <p:nvPr/>
        </p:nvSpPr>
        <p:spPr>
          <a:xfrm>
            <a:off x="457200" y="4846440"/>
            <a:ext cx="8229600" cy="18288"/>
          </a:xfrm>
          <a:prstGeom prst="rect">
            <a:avLst/>
          </a:prstGeom>
          <a:solidFill>
            <a:srgbClr val="C9933A">
              <a:alpha val="40000"/>
            </a:srgbClr>
          </a:solidFill>
          <a:ln/>
        </p:spPr>
        <p:txBody>
          <a:bodyPr/>
          <a:lstStyle/>
          <a:p>
            <a:endParaRPr lang="en-US"/>
          </a:p>
        </p:txBody>
      </p:sp>
      <p:sp>
        <p:nvSpPr>
          <p:cNvPr id="20" name="Text 18"/>
          <p:cNvSpPr/>
          <p:nvPr/>
        </p:nvSpPr>
        <p:spPr>
          <a:xfrm>
            <a:off x="457200" y="4883040"/>
            <a:ext cx="8229600" cy="182880"/>
          </a:xfrm>
          <a:prstGeom prst="rect">
            <a:avLst/>
          </a:prstGeom>
          <a:noFill/>
          <a:ln/>
        </p:spPr>
        <p:txBody>
          <a:bodyPr wrap="square" rtlCol="0" anchor="ctr"/>
          <a:lstStyle/>
          <a:p>
            <a:pPr marL="0" indent="0">
              <a:buNone/>
            </a:pPr>
            <a:r>
              <a:rPr lang="en-US" sz="800" italic="1" dirty="0">
                <a:solidFill>
                  <a:srgbClr val="7A8FA6"/>
                </a:solidFill>
                <a:latin typeface="Calibri" pitchFamily="34" charset="0"/>
              </a:rPr>
              <a:t>Results pending  ·  Model outputs, SHAP visualizations, and advising use-case documentation to be added upon completion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3A1A6B2-3A7B-4D11-8A8E-49666AEF3CFF}">
  <we:reference id="f5f369e5-aa35-49d7-ad7b-638152ddb008" version="1.0.0.1" store="EXCatalog" storeType="EXCatalog"/>
  <we:alternateReferences>
    <we:reference id="WA200010001" version="1.0.0.1" store="en-US" storeType="OMEX"/>
  </we:alternateReferences>
  <we:properties>
    <we:property name="claude.fileId" value="&quot;fe1f6b1e-54f6-4ad1-8ba5-5d2c750f5a4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1027</TotalTime>
  <Words>1440</Words>
  <Application>Microsoft Office PowerPoint</Application>
  <PresentationFormat>On-screen Show (16:9)</PresentationFormat>
  <Paragraphs>175</Paragraphs>
  <Slides>14</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 Applied Data Science Portfolio</dc:title>
  <dc:subject>PptxGenJS Presentation</dc:subject>
  <dc:creator>Gabriela Bermudez</dc:creator>
  <cp:lastModifiedBy>Gabriela Bermudez</cp:lastModifiedBy>
  <cp:revision>2</cp:revision>
  <dcterms:created xsi:type="dcterms:W3CDTF">2026-06-02T22:28:34Z</dcterms:created>
  <dcterms:modified xsi:type="dcterms:W3CDTF">2026-06-03T15:52:06Z</dcterms:modified>
</cp:coreProperties>
</file>